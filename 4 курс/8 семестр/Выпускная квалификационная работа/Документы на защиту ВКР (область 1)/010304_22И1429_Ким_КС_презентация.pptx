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73" r:id="rId1"/>
  </p:sldMasterIdLst>
  <p:notesMasterIdLst>
    <p:notesMasterId r:id="rId22"/>
  </p:notesMasterIdLst>
  <p:sldIdLst>
    <p:sldId id="256" r:id="rId2"/>
    <p:sldId id="278" r:id="rId3"/>
    <p:sldId id="277" r:id="rId4"/>
    <p:sldId id="279" r:id="rId5"/>
    <p:sldId id="273" r:id="rId6"/>
    <p:sldId id="284" r:id="rId7"/>
    <p:sldId id="264" r:id="rId8"/>
    <p:sldId id="271" r:id="rId9"/>
    <p:sldId id="263" r:id="rId10"/>
    <p:sldId id="262" r:id="rId11"/>
    <p:sldId id="280" r:id="rId12"/>
    <p:sldId id="283" r:id="rId13"/>
    <p:sldId id="267" r:id="rId14"/>
    <p:sldId id="285" r:id="rId15"/>
    <p:sldId id="274" r:id="rId16"/>
    <p:sldId id="275" r:id="rId17"/>
    <p:sldId id="270" r:id="rId18"/>
    <p:sldId id="286" r:id="rId19"/>
    <p:sldId id="269" r:id="rId20"/>
    <p:sldId id="281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4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89689" autoAdjust="0"/>
  </p:normalViewPr>
  <p:slideViewPr>
    <p:cSldViewPr snapToGrid="0">
      <p:cViewPr varScale="1">
        <p:scale>
          <a:sx n="105" d="100"/>
          <a:sy n="105" d="100"/>
        </p:scale>
        <p:origin x="256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8F736-CFBC-DB42-8902-918977A31BB8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EE31B-A035-6343-984B-37A45EFB56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8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EE31B-A035-6343-984B-37A45EFB56E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727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D87D1-45A2-E472-75FC-17B3DED4D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A7ED59-FEAB-8D18-D3FD-973D6CBE8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020EB6-B746-9736-AF04-5DFEFA78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50DB-F8F9-A345-8ACF-B172BB4CC835}" type="datetime1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7CD2FD-9AC7-9169-F246-1AAC503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60944-5595-F8F3-A6BE-F455E511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97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5CD39-9F1F-2CF7-CB40-0AF5A5D9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D7D4CB-BECB-42B0-4B1D-7F3D1B90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87B4CF-0E63-B6AA-3CFC-34DD8F43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D4C3-C482-8D47-AEDA-F24D432152B4}" type="datetime1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E7A236-002F-A08C-D8F6-75B6B2FF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9DA284-FF34-38B3-F8AB-6EEA20D6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02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37AA7-7424-EB50-2B17-CC7D5190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86DB8-15B5-1B12-8054-1FE9791B8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9E6355-09BB-E0E8-FDFD-0C14AA80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693C7-0C3C-3D4E-827B-EA584AF6C465}" type="datetime1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BC4DA0-BCEC-7C8F-41F0-5DADC57F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5E3040-8906-C4D7-3E9D-0FFA6940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04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B6DD3-4EE5-E5F2-14C8-120B3ED4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724664-5A05-7E57-5834-98EE65930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21F78E-89E7-548F-9167-5B57BE323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AC6C9D-C997-9131-440D-63B6AC75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63EE-D3F0-B14D-A1DF-4D0885D56E4A}" type="datetime1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472E2C-26A5-DD5D-311D-9773C867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EF8388-1B91-E422-008A-B7F01C65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44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EDC0A-A965-8143-7A65-5B17E4CD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FB9DEB-BFC3-7B10-B356-F4401CF1E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10852B-F25A-963E-06B9-CA188FCE7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584783-B214-F762-4137-ED15FC44F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F4881A-07F5-A186-C5E4-584AA707A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7FE964E-E77D-E7BD-9C76-D870F11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F580-4A02-7749-8695-6F7A14F168A5}" type="datetime1">
              <a:rPr lang="ru-RU" smtClean="0"/>
              <a:t>02.06.2026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E073EA-AE1E-C763-02FC-D84C5EAD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4C26086-B817-78C0-503F-3818C3281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54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C6F76-BC38-9937-6149-C1737DFA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D5437A-5DA7-F805-0B45-E6BD9E62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2E72-AE73-9645-9180-4139BDD17A06}" type="datetime1">
              <a:rPr lang="ru-RU" smtClean="0"/>
              <a:t>02.06.2026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824D91-FD26-1B64-1314-74F12CD4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945FEC-E1B3-704D-DDAB-3521CBBA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47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999DD46-7CFC-CAEF-D4DF-17BB2007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39E5-2434-9D49-A354-72490D6D8D81}" type="datetime1">
              <a:rPr lang="ru-RU" smtClean="0"/>
              <a:t>02.06.2026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094F6F-4AEA-72AE-C522-0F82FBE1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A290D3-5FFF-FCB2-0067-ECA0CF0C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30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AC7F0-9F7D-1BDC-4B8A-8A364A5A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24ABA4-213B-D855-D2B4-36A61B7FA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944B12-13C4-E945-1C73-5C5675916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0200AB-A6A8-651D-40B7-0640B061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8D45-2A78-F24B-B5AB-66E869CA231F}" type="datetime1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833DDA-5DC2-EC03-605D-3E8C7366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A67AC7-80A3-D4B3-00D7-775C170C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61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3B929-9876-B81F-B656-8E55DB59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DA0D822-7B8D-A067-5D64-6B619CFAD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A22C61-CB15-B2E0-16A9-9DDEB557F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0A6E6B-B224-F526-562E-61CB3CE2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DE2A-573E-8A49-A1E4-A11F8F365BD0}" type="datetime1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6DA3C7-CE51-1720-B6D4-4CA425CD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4734B9-57B2-7BB6-2EEA-EE18FA06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85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1C338-06FB-A315-6DD7-5CE4280E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9BA173-43C9-AD4A-B2E9-EA658B0F5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08D203-CBC4-E814-F68E-DC7EB326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D7D5F-75DD-7D4C-8231-B51C8FBAD87E}" type="datetime1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69E40B-FF8E-0915-4814-5E3018C6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5D1A4B-F7EB-B7D1-77C7-79DB62BF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61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99A3BB9-CFDA-4148-B357-1361B4A38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D2B49A-DE42-3AA9-2C27-9638D6DA9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76DA71-DEEC-4228-69DA-E910D6C8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CD92-8BC8-7F42-A4AC-74BE4FBDEFBF}" type="datetime1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9FB91D-AC96-723D-7F93-34E41391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71A548-DF9F-E7E7-8B30-F2AE015F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00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019AC-7C31-E1B2-D56A-BBF8EF7C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5C7B3C-4823-64B5-86CE-7E35DE081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2D23D5-FB3B-77DE-57E9-FB9393515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49629-F3D2-184C-BCB4-85078938F85A}" type="datetime1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E880AA-BA04-961F-D85F-A0D2A1318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C25524-B76D-59CA-35B8-F027B7DB9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08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BA261FDF-E3AF-1AC3-19E8-5D102B66E0A5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2C137BD7-BB77-20B9-3AD9-434E83E8453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2026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C676B-11C3-BD9B-4BA9-407035E6BACB}"/>
              </a:ext>
            </a:extLst>
          </p:cNvPr>
          <p:cNvSpPr txBox="1"/>
          <p:nvPr/>
        </p:nvSpPr>
        <p:spPr bwMode="auto">
          <a:xfrm>
            <a:off x="117137" y="4713219"/>
            <a:ext cx="1207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Ким Кирилл Сергеевич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к.ф.-м.н., доцент кафедры прикладной математики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Даева Софья Георгиевна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42DA167A-1632-EF08-9C0E-CEDB24E7813A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724CED75-7997-E826-6F89-33419C6B924C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4C2956-87BC-C554-5ECE-CFBC3E8BC252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C274D-BC20-CFA3-D15B-2969718AAAFA}"/>
              </a:ext>
            </a:extLst>
          </p:cNvPr>
          <p:cNvSpPr txBox="1"/>
          <p:nvPr/>
        </p:nvSpPr>
        <p:spPr>
          <a:xfrm>
            <a:off x="5" y="3381744"/>
            <a:ext cx="12191995" cy="665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Выпускная квалификационная работа бакалавра на тему:</a:t>
            </a:r>
          </a:p>
          <a:p>
            <a:pPr marR="853439" lvl="0" indent="942975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«Разработка модели оценки стоимости футбольных трансферов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6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F20A-65A8-5AE7-016A-D64D5261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>
            <a:extLst>
              <a:ext uri="{FF2B5EF4-FFF2-40B4-BE49-F238E27FC236}">
                <a16:creationId xmlns:a16="http://schemas.microsoft.com/office/drawing/2014/main" id="{24DC52F3-992D-594E-7C89-C76CD3021FFC}"/>
              </a:ext>
            </a:extLst>
          </p:cNvPr>
          <p:cNvSpPr/>
          <p:nvPr/>
        </p:nvSpPr>
        <p:spPr>
          <a:xfrm>
            <a:off x="6183860" y="3964796"/>
            <a:ext cx="5608090" cy="195700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Блок-схема: альтернативный процесс 2">
            <a:extLst>
              <a:ext uri="{FF2B5EF4-FFF2-40B4-BE49-F238E27FC236}">
                <a16:creationId xmlns:a16="http://schemas.microsoft.com/office/drawing/2014/main" id="{F97013F7-07A7-CF3D-5B30-A55343AB8427}"/>
              </a:ext>
            </a:extLst>
          </p:cNvPr>
          <p:cNvSpPr/>
          <p:nvPr/>
        </p:nvSpPr>
        <p:spPr>
          <a:xfrm>
            <a:off x="487910" y="2519402"/>
            <a:ext cx="11304040" cy="1337776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Блок-схема: альтернативный процесс 27">
            <a:extLst>
              <a:ext uri="{FF2B5EF4-FFF2-40B4-BE49-F238E27FC236}">
                <a16:creationId xmlns:a16="http://schemas.microsoft.com/office/drawing/2014/main" id="{66F42F8D-E8C6-3221-737D-C5E79E083C98}"/>
              </a:ext>
            </a:extLst>
          </p:cNvPr>
          <p:cNvSpPr/>
          <p:nvPr/>
        </p:nvSpPr>
        <p:spPr>
          <a:xfrm>
            <a:off x="487910" y="3964796"/>
            <a:ext cx="5608090" cy="195700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Блок-схема: альтернативный процесс 26">
            <a:extLst>
              <a:ext uri="{FF2B5EF4-FFF2-40B4-BE49-F238E27FC236}">
                <a16:creationId xmlns:a16="http://schemas.microsoft.com/office/drawing/2014/main" id="{2DD73E5E-38A5-7448-9248-43476272A526}"/>
              </a:ext>
            </a:extLst>
          </p:cNvPr>
          <p:cNvSpPr/>
          <p:nvPr/>
        </p:nvSpPr>
        <p:spPr>
          <a:xfrm>
            <a:off x="487910" y="1095992"/>
            <a:ext cx="11304040" cy="1315227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49E23-CF5F-379B-D2A3-1298306B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Цель, объект и предмет исследования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E8C78-78F2-2678-2B6F-E413D4C9D836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2FD24F-842B-5E09-5D20-E5A8205A02CF}"/>
              </a:ext>
            </a:extLst>
          </p:cNvPr>
          <p:cNvSpPr txBox="1"/>
          <p:nvPr/>
        </p:nvSpPr>
        <p:spPr>
          <a:xfrm>
            <a:off x="870661" y="4319565"/>
            <a:ext cx="4842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 — процесс формирования стоимости игроков на рынке трансферов.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7934D7-907E-AC55-5D10-287FE58BA664}"/>
              </a:ext>
            </a:extLst>
          </p:cNvPr>
          <p:cNvSpPr txBox="1"/>
          <p:nvPr/>
        </p:nvSpPr>
        <p:spPr>
          <a:xfrm>
            <a:off x="838200" y="1153440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Объём трансферного рынка превышает 9 млрд евро в год. Решения о стоимости игроков принимаются на интуиции, что создаёт финансовые риски для клубов.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60ACC6-0E92-9EBF-30C0-9F8EA4843A56}"/>
              </a:ext>
            </a:extLst>
          </p:cNvPr>
          <p:cNvSpPr txBox="1"/>
          <p:nvPr/>
        </p:nvSpPr>
        <p:spPr>
          <a:xfrm>
            <a:off x="838200" y="2586348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 Разработать модель машинного обучения для прогнозирования стоимости футбольных трансферов на основе игровой активности и физических характеристик игроков.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3C8D3A-2350-A0CD-0220-CE301682097E}"/>
              </a:ext>
            </a:extLst>
          </p:cNvPr>
          <p:cNvSpPr txBox="1"/>
          <p:nvPr/>
        </p:nvSpPr>
        <p:spPr>
          <a:xfrm>
            <a:off x="6478751" y="4134900"/>
            <a:ext cx="5045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 — математическая модель прогнозирования трансферной стоимости.</a:t>
            </a:r>
          </a:p>
        </p:txBody>
      </p:sp>
    </p:spTree>
    <p:extLst>
      <p:ext uri="{BB962C8B-B14F-4D97-AF65-F5344CB8AC3E}">
        <p14:creationId xmlns:p14="http://schemas.microsoft.com/office/powerpoint/2010/main" val="126743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AA84-272F-67E0-EA31-D2623F5F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Блок-схема: альтернативный процесс 12">
            <a:extLst>
              <a:ext uri="{FF2B5EF4-FFF2-40B4-BE49-F238E27FC236}">
                <a16:creationId xmlns:a16="http://schemas.microsoft.com/office/drawing/2014/main" id="{6F312DBE-9357-D62A-1B70-B366A35247B8}"/>
              </a:ext>
            </a:extLst>
          </p:cNvPr>
          <p:cNvSpPr/>
          <p:nvPr/>
        </p:nvSpPr>
        <p:spPr>
          <a:xfrm>
            <a:off x="624903" y="1384837"/>
            <a:ext cx="10657798" cy="3607041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1521D-2C07-D7D6-AF6F-23ECC7A75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01" y="383693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91702FF-75D0-58AE-1B99-00222F4364D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054E7-2FD2-065D-CD71-B60D8E968C44}"/>
              </a:ext>
            </a:extLst>
          </p:cNvPr>
          <p:cNvSpPr txBox="1"/>
          <p:nvPr/>
        </p:nvSpPr>
        <p:spPr>
          <a:xfrm>
            <a:off x="11353800" y="5992297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66979-2EC7-2C1B-96FB-E0A3FAA57916}"/>
              </a:ext>
            </a:extLst>
          </p:cNvPr>
          <p:cNvSpPr txBox="1"/>
          <p:nvPr/>
        </p:nvSpPr>
        <p:spPr>
          <a:xfrm>
            <a:off x="909299" y="1598613"/>
            <a:ext cx="95656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предметную область и ключевые факторы стоимости.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обзор существующих решений.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задачу, критерии, ограничения.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сбор, очистку и предобработку данных.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новые признаки.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Обучить модели с подбором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гиперпараметров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на реальных трансферах.</a:t>
            </a:r>
          </a:p>
        </p:txBody>
      </p:sp>
    </p:spTree>
    <p:extLst>
      <p:ext uri="{BB962C8B-B14F-4D97-AF65-F5344CB8AC3E}">
        <p14:creationId xmlns:p14="http://schemas.microsoft.com/office/powerpoint/2010/main" val="72892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1204-21BD-6404-200F-4FB03617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69067-63B9-6C9C-BFE6-DC87577B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предметной области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A4AEE11-1D50-611E-ED49-313FB1F508D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4351D-5202-7407-0E1A-C353A7E93AAD}"/>
              </a:ext>
            </a:extLst>
          </p:cNvPr>
          <p:cNvSpPr txBox="1"/>
          <p:nvPr/>
        </p:nvSpPr>
        <p:spPr>
          <a:xfrm>
            <a:off x="11353800" y="5992297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80F4B24-FACD-3002-C2B0-496ABE8FD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259" y="4887253"/>
            <a:ext cx="34826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1 — Средняя стоимость по возрастным группам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786B90-29F2-AA38-0C8A-78BE8A242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6258" y="4887253"/>
            <a:ext cx="34826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2 — Динамика стоимости трансферов по сезонам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73A89E-C55F-5FB8-8346-B189F88DFB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03935"/>
            <a:ext cx="6095999" cy="363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69DE6C-749F-9D6C-7A0B-C5170210D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86379"/>
            <a:ext cx="6126928" cy="3653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A0F1F8-9F20-A4E5-FB08-EE99A5479E0A}"/>
              </a:ext>
            </a:extLst>
          </p:cNvPr>
          <p:cNvSpPr txBox="1"/>
          <p:nvPr/>
        </p:nvSpPr>
        <p:spPr>
          <a:xfrm>
            <a:off x="459581" y="5669131"/>
            <a:ext cx="7303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Цена растет к 24-27 годам, затем снижается.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 стоимости: игровая статистика (голы, передачи), контракт, травмы, рыночные тренды, субъективные факторы.</a:t>
            </a:r>
          </a:p>
        </p:txBody>
      </p:sp>
    </p:spTree>
    <p:extLst>
      <p:ext uri="{BB962C8B-B14F-4D97-AF65-F5344CB8AC3E}">
        <p14:creationId xmlns:p14="http://schemas.microsoft.com/office/powerpoint/2010/main" val="1075271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5568-AFF1-E6F0-58AC-2BAEF075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07D786-C804-94C9-4E75-BA3D2129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0797438-2C90-EDEB-9F4E-CD42468F36E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AC492-2F2F-F90A-7FE3-173011989143}"/>
              </a:ext>
            </a:extLst>
          </p:cNvPr>
          <p:cNvSpPr txBox="1"/>
          <p:nvPr/>
        </p:nvSpPr>
        <p:spPr>
          <a:xfrm>
            <a:off x="11420670" y="5992297"/>
            <a:ext cx="77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3E1AAE5-C259-C4F1-314A-EDBE28553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300296"/>
              </p:ext>
            </p:extLst>
          </p:nvPr>
        </p:nvGraphicFramePr>
        <p:xfrm>
          <a:off x="838200" y="1780649"/>
          <a:ext cx="10515600" cy="3296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6390">
                  <a:extLst>
                    <a:ext uri="{9D8B030D-6E8A-4147-A177-3AD203B41FA5}">
                      <a16:colId xmlns:a16="http://schemas.microsoft.com/office/drawing/2014/main" val="2678173329"/>
                    </a:ext>
                  </a:extLst>
                </a:gridCol>
                <a:gridCol w="3854010">
                  <a:extLst>
                    <a:ext uri="{9D8B030D-6E8A-4147-A177-3AD203B41FA5}">
                      <a16:colId xmlns:a16="http://schemas.microsoft.com/office/drawing/2014/main" val="17866387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4734518"/>
                    </a:ext>
                  </a:extLst>
                </a:gridCol>
              </a:tblGrid>
              <a:tr h="53510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Недостатки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744184"/>
                  </a:ext>
                </a:extLst>
              </a:tr>
              <a:tr h="535102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Transfermarkt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Коллективная экспертная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Субъективность, редкие обновления, ошибки из‑за симпатий к клубам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379066"/>
                  </a:ext>
                </a:extLst>
              </a:tr>
              <a:tr h="92360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Модели на основе статистики (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CIES)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Регрессионый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анализ (Используют коэффициенты прошлого опыта)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учитывает нелинейности, завышает топ-лиги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451260"/>
                  </a:ext>
                </a:extLst>
              </a:tr>
              <a:tr h="92360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Машинное обучение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Gradient Boosting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Нужны большие данные, риск переобучения, настройки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гиперпараметров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793954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F9403799-0D6F-1A64-21FE-D16064A4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32837"/>
            <a:ext cx="44590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lang="en-US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Существующие решения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BE654-2A0D-14CD-1995-55AC8339171F}"/>
              </a:ext>
            </a:extLst>
          </p:cNvPr>
          <p:cNvSpPr txBox="1"/>
          <p:nvPr/>
        </p:nvSpPr>
        <p:spPr>
          <a:xfrm>
            <a:off x="838200" y="5669131"/>
            <a:ext cx="10582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Целесообразно использовать ML-методы.</a:t>
            </a:r>
          </a:p>
        </p:txBody>
      </p:sp>
    </p:spTree>
    <p:extLst>
      <p:ext uri="{BB962C8B-B14F-4D97-AF65-F5344CB8AC3E}">
        <p14:creationId xmlns:p14="http://schemas.microsoft.com/office/powerpoint/2010/main" val="100976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8904-743B-F360-75DB-E836A33C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Блок-схема: альтернативный процесс 9">
            <a:extLst>
              <a:ext uri="{FF2B5EF4-FFF2-40B4-BE49-F238E27FC236}">
                <a16:creationId xmlns:a16="http://schemas.microsoft.com/office/drawing/2014/main" id="{3E8A0CC1-6505-A66C-7EC4-7AF021547173}"/>
              </a:ext>
            </a:extLst>
          </p:cNvPr>
          <p:cNvSpPr/>
          <p:nvPr/>
        </p:nvSpPr>
        <p:spPr>
          <a:xfrm>
            <a:off x="696001" y="4989924"/>
            <a:ext cx="10657798" cy="1414346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98973623-E4A8-B862-9E71-3DE226FCD7B4}"/>
              </a:ext>
            </a:extLst>
          </p:cNvPr>
          <p:cNvSpPr/>
          <p:nvPr/>
        </p:nvSpPr>
        <p:spPr>
          <a:xfrm>
            <a:off x="660453" y="3097513"/>
            <a:ext cx="10657798" cy="172706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лок-схема: альтернативный процесс 4">
            <a:extLst>
              <a:ext uri="{FF2B5EF4-FFF2-40B4-BE49-F238E27FC236}">
                <a16:creationId xmlns:a16="http://schemas.microsoft.com/office/drawing/2014/main" id="{2ACED72E-CD9C-1EDF-AB98-CDDD40EF510C}"/>
              </a:ext>
            </a:extLst>
          </p:cNvPr>
          <p:cNvSpPr/>
          <p:nvPr/>
        </p:nvSpPr>
        <p:spPr>
          <a:xfrm>
            <a:off x="696002" y="1160903"/>
            <a:ext cx="10657798" cy="1739618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354AA-8E7C-59C6-7DF7-C7277F991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исследовательской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0FA61-4A60-6683-E2AC-504C031FF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50" y="5187153"/>
            <a:ext cx="10515600" cy="1019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Допущения: только открытые данные, только платные трансферы.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Ограничения: модель не учитывает ход переговоров и субъективные факторы.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1374C44-3CD2-5CA4-A62B-25F408B4BC4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661B2-5CCC-90D3-BC9A-C65B860009B2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F44311-C714-43B3-B435-2C61361A9F67}"/>
                  </a:ext>
                </a:extLst>
              </p:cNvPr>
              <p:cNvSpPr txBox="1"/>
              <p:nvPr/>
            </p:nvSpPr>
            <p:spPr>
              <a:xfrm>
                <a:off x="838200" y="1205093"/>
                <a:ext cx="10444500" cy="1570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Постановка задачи:</a:t>
                </a: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Дана выборка: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{(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)}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признаки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игрока,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стоимость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трансфера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Требуется построить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ru-RU" sz="24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с минимальной ошибкой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F44311-C714-43B3-B435-2C61361A9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5093"/>
                <a:ext cx="10444500" cy="1570943"/>
              </a:xfrm>
              <a:prstGeom prst="rect">
                <a:avLst/>
              </a:prstGeom>
              <a:blipFill>
                <a:blip r:embed="rId2"/>
                <a:stretch>
                  <a:fillRect l="-934" t="-3113" b="-8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90BD2-A288-7380-3D00-09A0C7D22D55}"/>
                  </a:ext>
                </a:extLst>
              </p:cNvPr>
              <p:cNvSpPr txBox="1"/>
              <p:nvPr/>
            </p:nvSpPr>
            <p:spPr>
              <a:xfrm>
                <a:off x="873750" y="3148770"/>
                <a:ext cx="104445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Разделение метрик:</a:t>
                </a: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Функция потерь при обучении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на логарифмированной стоимости;</a:t>
                </a: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Метрика отбора модели и </a:t>
                </a:r>
                <a:r>
                  <a:rPr lang="ru-RU" sz="2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гиперпараметров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Итоговые метрики качества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𝑀𝐴𝐸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(€),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𝑀𝐴𝑃𝐸</m:t>
                    </m:r>
                    <m:r>
                      <a:rPr lang="ru-RU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90BD2-A288-7380-3D00-09A0C7D22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50" y="3148770"/>
                <a:ext cx="10444500" cy="1569660"/>
              </a:xfrm>
              <a:prstGeom prst="rect">
                <a:avLst/>
              </a:prstGeom>
              <a:blipFill>
                <a:blip r:embed="rId3"/>
                <a:stretch>
                  <a:fillRect l="-875" t="-3113" b="-8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15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118F-58C6-C9CA-8096-93F48BA9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135AA-0F16-A552-5B60-E05B6197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характеристика входных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F3CCF9-0FB3-EEDC-3795-018CAC2EC88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89C9F-A3B3-4D1A-7EB9-5EE06DE227DB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408A075-E1DC-B6E8-6F9E-CB6D52301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7590"/>
              </p:ext>
            </p:extLst>
          </p:nvPr>
        </p:nvGraphicFramePr>
        <p:xfrm>
          <a:off x="838200" y="2364172"/>
          <a:ext cx="10515600" cy="266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055007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14347609"/>
                    </a:ext>
                  </a:extLst>
                </a:gridCol>
              </a:tblGrid>
              <a:tr h="32675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файла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26085"/>
                  </a:ext>
                </a:extLst>
              </a:tr>
              <a:tr h="44618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transfer_history.csv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История трансферов игроков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772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player_profiles.csv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Профили игроков (дата рождения, позиция и др.)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4142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player_market_value.csv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Динамика рыночной стоимости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958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player_performances.csv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Детальная игровая статистика по сезонам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52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player_injuries.csv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Данные о травмах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086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player_national_performances.csv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Статистика выступлений за сборную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0485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FB8DE7-6A14-9A09-CD77-800C460C77A3}"/>
              </a:ext>
            </a:extLst>
          </p:cNvPr>
          <p:cNvSpPr txBox="1"/>
          <p:nvPr/>
        </p:nvSpPr>
        <p:spPr>
          <a:xfrm>
            <a:off x="838200" y="1219327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данных —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Football Datasets»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Transfermarkt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6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таблиц, объём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&gt;4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млн. записей.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B27166C-2625-2227-9053-6A25A7FCC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56395"/>
            <a:ext cx="44590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lang="ru-RU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</a:t>
            </a:r>
            <a:r>
              <a:rPr lang="ru-RU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Характеристики исходных таблиц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32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41883-0670-15F9-9AAF-185F0F0D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51950-E205-D294-2028-1519D953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1425F51-3D52-740A-6CFE-7A330F513B6C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B1B61-E34A-7B78-FCC0-8E619391E165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ADB52DD-DA7F-EA6A-8C5F-4C3001267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289" y="6470646"/>
            <a:ext cx="470852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</a:t>
            </a:r>
            <a:r>
              <a:rPr lang="ru-RU" altLang="ru-RU" sz="1400" b="1" dirty="0" bmk="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kumimoji="0" lang="ru-RU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 </a:t>
            </a:r>
            <a:r>
              <a:rPr kumimoji="0" lang="en-US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ER-</a:t>
            </a:r>
            <a:r>
              <a:rPr kumimoji="0" lang="ru-RU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диаграмма исходных таблиц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5AB337D-C000-35F0-F76E-CCE19F198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6575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193321-205E-F9A2-6656-1F611AA6FB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0" y="40569"/>
            <a:ext cx="4538670" cy="6452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80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3CBB-CF12-1504-9B5C-874A57CD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CE8DC-9FA5-BECD-A892-CC098A30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этапов разработки модели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488EE80-2AF6-DAC9-FB37-8D40C3DAAE2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B85C5-A698-B1DF-688B-C90ACB0C99E9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" name="Выноска: стрелка вниз 4">
            <a:extLst>
              <a:ext uri="{FF2B5EF4-FFF2-40B4-BE49-F238E27FC236}">
                <a16:creationId xmlns:a16="http://schemas.microsoft.com/office/drawing/2014/main" id="{777C7D84-BB91-F630-E45A-A0DBC2ED060F}"/>
              </a:ext>
            </a:extLst>
          </p:cNvPr>
          <p:cNvSpPr/>
          <p:nvPr/>
        </p:nvSpPr>
        <p:spPr>
          <a:xfrm>
            <a:off x="838200" y="1045452"/>
            <a:ext cx="10515600" cy="693227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33201-5DB3-F97F-834D-3D32CF0442A6}"/>
              </a:ext>
            </a:extLst>
          </p:cNvPr>
          <p:cNvSpPr txBox="1"/>
          <p:nvPr/>
        </p:nvSpPr>
        <p:spPr>
          <a:xfrm>
            <a:off x="3047432" y="1044439"/>
            <a:ext cx="609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Проектирование архитектуры решения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Выноска: стрелка вниз 8">
            <a:extLst>
              <a:ext uri="{FF2B5EF4-FFF2-40B4-BE49-F238E27FC236}">
                <a16:creationId xmlns:a16="http://schemas.microsoft.com/office/drawing/2014/main" id="{6AC33718-28CB-FE41-AD4D-65FD2DB3D7B1}"/>
              </a:ext>
            </a:extLst>
          </p:cNvPr>
          <p:cNvSpPr/>
          <p:nvPr/>
        </p:nvSpPr>
        <p:spPr>
          <a:xfrm>
            <a:off x="838211" y="4276923"/>
            <a:ext cx="10515578" cy="722331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B9496-35E7-CB43-9DB6-ED832BCBE5CF}"/>
              </a:ext>
            </a:extLst>
          </p:cNvPr>
          <p:cNvSpPr txBox="1"/>
          <p:nvPr/>
        </p:nvSpPr>
        <p:spPr>
          <a:xfrm>
            <a:off x="4661944" y="4266175"/>
            <a:ext cx="2867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Реализация моделей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Выноска: стрелка вниз 10">
            <a:extLst>
              <a:ext uri="{FF2B5EF4-FFF2-40B4-BE49-F238E27FC236}">
                <a16:creationId xmlns:a16="http://schemas.microsoft.com/office/drawing/2014/main" id="{EAB87037-BA68-348B-AA68-F06A3D1B0C8B}"/>
              </a:ext>
            </a:extLst>
          </p:cNvPr>
          <p:cNvSpPr/>
          <p:nvPr/>
        </p:nvSpPr>
        <p:spPr>
          <a:xfrm>
            <a:off x="838104" y="3474829"/>
            <a:ext cx="10515578" cy="774576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Выноска: стрелка вниз 12">
            <a:extLst>
              <a:ext uri="{FF2B5EF4-FFF2-40B4-BE49-F238E27FC236}">
                <a16:creationId xmlns:a16="http://schemas.microsoft.com/office/drawing/2014/main" id="{543FBCF8-E3F2-C1BB-3F8D-9DAF4BE58ADE}"/>
              </a:ext>
            </a:extLst>
          </p:cNvPr>
          <p:cNvSpPr/>
          <p:nvPr/>
        </p:nvSpPr>
        <p:spPr>
          <a:xfrm>
            <a:off x="838094" y="5016024"/>
            <a:ext cx="10515588" cy="723846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0B9FD2-DABD-F8DD-48F1-CDC0EB4F5B42}"/>
              </a:ext>
            </a:extLst>
          </p:cNvPr>
          <p:cNvSpPr txBox="1"/>
          <p:nvPr/>
        </p:nvSpPr>
        <p:spPr>
          <a:xfrm>
            <a:off x="5072347" y="4999254"/>
            <a:ext cx="204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Расчёт метрик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FF79CE5-57A9-479B-2DD0-D41A7A2B5316}"/>
              </a:ext>
            </a:extLst>
          </p:cNvPr>
          <p:cNvSpPr/>
          <p:nvPr/>
        </p:nvSpPr>
        <p:spPr>
          <a:xfrm>
            <a:off x="838094" y="5754511"/>
            <a:ext cx="10515588" cy="47934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A89AF-DD65-F496-F3B0-F4CF76E20218}"/>
              </a:ext>
            </a:extLst>
          </p:cNvPr>
          <p:cNvSpPr txBox="1"/>
          <p:nvPr/>
        </p:nvSpPr>
        <p:spPr>
          <a:xfrm>
            <a:off x="4143432" y="5736388"/>
            <a:ext cx="39049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Анализ важности признаков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Выноска: стрелка вниз 2">
            <a:extLst>
              <a:ext uri="{FF2B5EF4-FFF2-40B4-BE49-F238E27FC236}">
                <a16:creationId xmlns:a16="http://schemas.microsoft.com/office/drawing/2014/main" id="{A4D89E93-6B28-CB0B-ACA8-35E7DF535DC8}"/>
              </a:ext>
            </a:extLst>
          </p:cNvPr>
          <p:cNvSpPr/>
          <p:nvPr/>
        </p:nvSpPr>
        <p:spPr>
          <a:xfrm>
            <a:off x="838135" y="2522864"/>
            <a:ext cx="10515569" cy="906136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189FC-2681-5142-5A2F-D30E26B7F3C8}"/>
              </a:ext>
            </a:extLst>
          </p:cNvPr>
          <p:cNvSpPr txBox="1"/>
          <p:nvPr/>
        </p:nvSpPr>
        <p:spPr>
          <a:xfrm>
            <a:off x="838125" y="2587393"/>
            <a:ext cx="105155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Временная валидация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B18D17-CA70-73BC-F954-269D1763A363}"/>
              </a:ext>
            </a:extLst>
          </p:cNvPr>
          <p:cNvSpPr txBox="1"/>
          <p:nvPr/>
        </p:nvSpPr>
        <p:spPr>
          <a:xfrm>
            <a:off x="838094" y="3470433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Подбор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гиперпараметров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Выноска: стрелка вниз 11">
            <a:extLst>
              <a:ext uri="{FF2B5EF4-FFF2-40B4-BE49-F238E27FC236}">
                <a16:creationId xmlns:a16="http://schemas.microsoft.com/office/drawing/2014/main" id="{8DC2911D-2067-A7F4-9976-24A0AEAF0906}"/>
              </a:ext>
            </a:extLst>
          </p:cNvPr>
          <p:cNvSpPr/>
          <p:nvPr/>
        </p:nvSpPr>
        <p:spPr>
          <a:xfrm>
            <a:off x="838135" y="1767303"/>
            <a:ext cx="10515579" cy="731844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03D532-C8B9-9FAC-0474-B695478989A1}"/>
              </a:ext>
            </a:extLst>
          </p:cNvPr>
          <p:cNvSpPr txBox="1"/>
          <p:nvPr/>
        </p:nvSpPr>
        <p:spPr>
          <a:xfrm>
            <a:off x="838135" y="1752662"/>
            <a:ext cx="105155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Генерация признаков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76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33D3-81F9-228B-C0E4-18D04F44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42BA-80A4-3347-4947-B229F426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инструментов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55870-5D36-A044-B9AA-47164280DDF8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AEB2463B-58FA-9D0A-88D8-0E2494234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1" t="11253" r="16414" b="10001"/>
          <a:stretch/>
        </p:blipFill>
        <p:spPr bwMode="auto">
          <a:xfrm>
            <a:off x="4636922" y="1827572"/>
            <a:ext cx="1033106" cy="161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FEC3AE-6ADD-8A7B-3356-D152558953B3}"/>
              </a:ext>
            </a:extLst>
          </p:cNvPr>
          <p:cNvSpPr txBox="1"/>
          <p:nvPr/>
        </p:nvSpPr>
        <p:spPr>
          <a:xfrm>
            <a:off x="1869073" y="1467400"/>
            <a:ext cx="953956" cy="39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Python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E6813-8F1D-DF57-3449-B66BAD1BDBDD}"/>
              </a:ext>
            </a:extLst>
          </p:cNvPr>
          <p:cNvSpPr txBox="1"/>
          <p:nvPr/>
        </p:nvSpPr>
        <p:spPr>
          <a:xfrm>
            <a:off x="4692582" y="1430341"/>
            <a:ext cx="1033106" cy="39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Pandas</a:t>
            </a:r>
            <a:endParaRPr lang="ru-RU" sz="20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7BEE4C8-0FF7-3EBD-C104-7DB5CE3D7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993" y="1846915"/>
            <a:ext cx="1512115" cy="151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C29BB7-845D-BE32-F164-C89AB2EAB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065" y="1864631"/>
            <a:ext cx="1427367" cy="14273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B308C4-0E3D-BC1B-9798-92B94806C6EE}"/>
              </a:ext>
            </a:extLst>
          </p:cNvPr>
          <p:cNvSpPr txBox="1"/>
          <p:nvPr/>
        </p:nvSpPr>
        <p:spPr>
          <a:xfrm>
            <a:off x="7516093" y="1468050"/>
            <a:ext cx="1033106" cy="396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</a:rPr>
              <a:t>Numpy</a:t>
            </a:r>
            <a:endParaRPr lang="ru-RU" sz="2000" dirty="0"/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DE416B1F-2E8B-3AEE-77C4-207514D6F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32" y="4704237"/>
            <a:ext cx="2351988" cy="144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7339E9B-9C0A-117E-D0CB-2EE37D3FB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7926" y="4788279"/>
            <a:ext cx="2351988" cy="12697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873E895-C9A3-B37B-63B5-B6B6843A6F86}"/>
              </a:ext>
            </a:extLst>
          </p:cNvPr>
          <p:cNvSpPr txBox="1"/>
          <p:nvPr/>
        </p:nvSpPr>
        <p:spPr>
          <a:xfrm>
            <a:off x="6001777" y="4353670"/>
            <a:ext cx="1514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Scikit-learn</a:t>
            </a:r>
            <a:endParaRPr lang="ru-RU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1CE39-C2D7-4985-0134-750DBB621832}"/>
              </a:ext>
            </a:extLst>
          </p:cNvPr>
          <p:cNvSpPr txBox="1"/>
          <p:nvPr/>
        </p:nvSpPr>
        <p:spPr>
          <a:xfrm>
            <a:off x="8734431" y="4353670"/>
            <a:ext cx="23519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Google </a:t>
            </a:r>
            <a:r>
              <a:rPr lang="en-US" sz="2000" dirty="0" err="1">
                <a:latin typeface="Times New Roman" panose="02020603050405020304" pitchFamily="18" charset="0"/>
              </a:rPr>
              <a:t>Colaboratory</a:t>
            </a:r>
            <a:endParaRPr lang="ru-RU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F08434-1630-88A1-263E-615BB353FE6A}"/>
              </a:ext>
            </a:extLst>
          </p:cNvPr>
          <p:cNvSpPr txBox="1"/>
          <p:nvPr/>
        </p:nvSpPr>
        <p:spPr>
          <a:xfrm>
            <a:off x="2413286" y="4452350"/>
            <a:ext cx="1309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Matplotlib</a:t>
            </a:r>
            <a:endParaRPr lang="ru-RU" sz="2000" dirty="0"/>
          </a:p>
        </p:txBody>
      </p:sp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E75F591F-44D2-A887-6014-C21610903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340" y="4798339"/>
            <a:ext cx="2654068" cy="1259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98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FD52-06F0-390D-67F9-ADF5292E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38F05-915A-9210-6D4D-8B38B939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трансферных сумм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108CEA8-4673-EA76-0D80-184690B72B0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2D683-BF63-2941-121A-156D964D861A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CC7CAA-12FD-62F1-D27C-F2E1805A1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5936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5" name="Рисунок 3">
            <a:extLst>
              <a:ext uri="{FF2B5EF4-FFF2-40B4-BE49-F238E27FC236}">
                <a16:creationId xmlns:a16="http://schemas.microsoft.com/office/drawing/2014/main" id="{D23CF6BA-8D66-03C9-EFF5-A94B90720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35" y="1114742"/>
            <a:ext cx="5529465" cy="413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F574BD0-4866-EB5A-C621-5369F1560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147" y="5220038"/>
            <a:ext cx="36220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4</a:t>
            </a:r>
            <a:r>
              <a:rPr kumimoji="0" lang="ru-RU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Распределение трансферных сумм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39E837B-36A5-F873-3B3E-9EE46B63B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6575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8" name="Рисунок 2">
            <a:extLst>
              <a:ext uri="{FF2B5EF4-FFF2-40B4-BE49-F238E27FC236}">
                <a16:creationId xmlns:a16="http://schemas.microsoft.com/office/drawing/2014/main" id="{55EA6BE4-136C-82FE-BD96-795F12006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889" y="1186260"/>
            <a:ext cx="6481394" cy="386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6770A801-0DE1-2AEC-36F4-9488E4B5E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778" y="5050971"/>
            <a:ext cx="37296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5</a:t>
            </a:r>
            <a:r>
              <a:rPr kumimoji="0" lang="ru-RU" altLang="ru-RU" sz="1400" b="1" i="0" u="none" strike="noStrike" cap="none" normalizeH="0" baseline="0" dirty="0" bmk="_Ref226977505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Распределение трансферных сумм после логарифмирования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3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699D-2780-01C5-6164-9C7B0CA8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1BD518A-77EA-F1E0-96DD-35BE46985616}"/>
              </a:ext>
            </a:extLst>
          </p:cNvPr>
          <p:cNvSpPr txBox="1">
            <a:spLocks/>
          </p:cNvSpPr>
          <p:nvPr/>
        </p:nvSpPr>
        <p:spPr>
          <a:xfrm>
            <a:off x="838200" y="365127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необходимости регуляризации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3D536AC-B69B-E1AA-D613-2F58E059CF8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867B9F-CDB0-2EF1-3AAD-E7B7A4C5D81F}"/>
              </a:ext>
            </a:extLst>
          </p:cNvPr>
          <p:cNvSpPr txBox="1"/>
          <p:nvPr/>
        </p:nvSpPr>
        <p:spPr>
          <a:xfrm>
            <a:off x="11353780" y="5992297"/>
            <a:ext cx="83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DA3963-C344-29F8-8DAA-54C2D36BA6C7}"/>
              </a:ext>
            </a:extLst>
          </p:cNvPr>
          <p:cNvSpPr txBox="1"/>
          <p:nvPr/>
        </p:nvSpPr>
        <p:spPr>
          <a:xfrm>
            <a:off x="641479" y="960885"/>
            <a:ext cx="109090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мультиколлинеарность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(корреляция голов и передач ≈ 0,58).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обычной линейной регрессии это вызывает нестабильность коэффициентов.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(L2) — сжимает коэффициенты,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(L1) — может обнулять незначимые.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D1F88CA-E67E-9C69-77F3-34466CE6C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848" y="6463033"/>
            <a:ext cx="33443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6 — Матрица корреляции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1DBFE20-AF00-C8A6-04C1-431E86494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234" y="1940727"/>
            <a:ext cx="5311530" cy="442457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858294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965-FEB1-4BD6-1031-C132034D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79D9B-208D-6E25-22E8-C69E9792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валидация и подбор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гиперпараметров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590082B-0991-3885-E4E0-72D7D6C2614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DCE76-0CC6-85AF-BDA9-A295166D6565}"/>
              </a:ext>
            </a:extLst>
          </p:cNvPr>
          <p:cNvSpPr txBox="1"/>
          <p:nvPr/>
        </p:nvSpPr>
        <p:spPr>
          <a:xfrm>
            <a:off x="11353780" y="5992297"/>
            <a:ext cx="83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2A546-C6E3-D4B0-3B05-F6CD28644636}"/>
                  </a:ext>
                </a:extLst>
              </p:cNvPr>
              <p:cNvSpPr txBox="1"/>
              <p:nvPr/>
            </p:nvSpPr>
            <p:spPr>
              <a:xfrm>
                <a:off x="838181" y="1263675"/>
                <a:ext cx="10515599" cy="4893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Схема разделения данных: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Обучение: трансферы до 2021 г. (1973-2021,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&gt;30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тыс. записей)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Тест: трансферы 2022-2026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гг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 тыс. записей).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Кросс‑валидация: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TimeSeriesSplit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обучающая выборка всегда предшествует тестовой, исключая утечку будущей информации.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Подбор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гиперпараметров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GridSearchCV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Ridge: </a:t>
                </a:r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ϵ {1;10;50};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Lasso: </a:t>
                </a:r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ϵ {0,001;0,01;0,1};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Forest: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деревьев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{100;200},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глубина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{15;20},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минимальное число объектов в листе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{5;10};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Gradient Boosting: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деревьев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{100;200},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learning_rate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деревьев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{0,01;0,05},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глубина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{3;5};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2A546-C6E3-D4B0-3B05-F6CD28644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81" y="1263675"/>
                <a:ext cx="10515599" cy="4893647"/>
              </a:xfrm>
              <a:prstGeom prst="rect">
                <a:avLst/>
              </a:prstGeom>
              <a:blipFill>
                <a:blip r:embed="rId2"/>
                <a:stretch>
                  <a:fillRect l="-870" t="-996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540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876B-FC3B-5A70-2C4B-B4F80E37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E7684-67B2-080B-99F0-3044C3DE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модели и анализ результатов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7A21849-2AAC-95F9-88BD-FC8DA585498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A5F11-85FA-1E08-8F69-26D957EDEA46}"/>
              </a:ext>
            </a:extLst>
          </p:cNvPr>
          <p:cNvSpPr txBox="1"/>
          <p:nvPr/>
        </p:nvSpPr>
        <p:spPr>
          <a:xfrm>
            <a:off x="11353780" y="5992297"/>
            <a:ext cx="83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CBB7BB6-1B34-E39A-925A-33DEAD2D9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80" y="1146485"/>
            <a:ext cx="10515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lang="ru-RU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Оптимальные </a:t>
            </a:r>
            <a:r>
              <a:rPr kumimoji="0" lang="ru-RU" altLang="ru-RU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гиперпараметры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для всех моделей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0665CA-CF3C-C771-34A0-375DF685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016" y="6492873"/>
            <a:ext cx="277587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6 — Сравнение метрик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B96FBBD8-B6C5-71E6-E401-F173812B9C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5347950"/>
                  </p:ext>
                </p:extLst>
              </p:nvPr>
            </p:nvGraphicFramePr>
            <p:xfrm>
              <a:off x="838180" y="1422494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00191474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3987968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Модель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Описание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79326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Ridge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(L2-регуляризация)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26505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Lasso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(L1-регуляризация)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=0,01</m:t>
                                </m:r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66334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 деревьев, максимальная глубина 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31249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Boosting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деревьев, скорость обучения 0,05, глубина 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60712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B96FBBD8-B6C5-71E6-E401-F173812B9C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5347950"/>
                  </p:ext>
                </p:extLst>
              </p:nvPr>
            </p:nvGraphicFramePr>
            <p:xfrm>
              <a:off x="838180" y="1422494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00191474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3987968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Модель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Описание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79326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Ridge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(L2-регуляризация)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0116" t="-101639" r="-463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6505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Lasso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(L1-регуляризация)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0116" t="-201639" r="-463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334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 деревьев, максимальная глубина 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31249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Boosting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деревьев, скорость обучения 0,05, глубина 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607129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03F49E-38C0-66BC-6187-0643F48C5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724" y="3440120"/>
            <a:ext cx="4442460" cy="30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8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C178-0CE9-146B-C088-5C561916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56A45-1AF0-7B9E-3E87-CA68F5A3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 признаков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057F304-03F2-59C6-F147-EDACD357E7B7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4F1F8-1055-B07B-3747-4021F7E162BA}"/>
              </a:ext>
            </a:extLst>
          </p:cNvPr>
          <p:cNvSpPr txBox="1"/>
          <p:nvPr/>
        </p:nvSpPr>
        <p:spPr>
          <a:xfrm>
            <a:off x="11353796" y="5992297"/>
            <a:ext cx="83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2686E-6DD9-BF3A-68C4-6C882F0698DA}"/>
                  </a:ext>
                </a:extLst>
              </p:cNvPr>
              <p:cNvSpPr txBox="1"/>
              <p:nvPr/>
            </p:nvSpPr>
            <p:spPr>
              <a:xfrm>
                <a:off x="838198" y="5667910"/>
                <a:ext cx="105155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Логарифм рыночной стоимости — главный фактор (32,1%).</a:t>
                </a:r>
              </a:p>
              <a:p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Permutation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importance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подтверждает значимость возраста 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возраст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а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2686E-6DD9-BF3A-68C4-6C882F069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5667910"/>
                <a:ext cx="10515598" cy="646331"/>
              </a:xfrm>
              <a:prstGeom prst="rect">
                <a:avLst/>
              </a:prstGeom>
              <a:blipFill>
                <a:blip r:embed="rId2"/>
                <a:stretch>
                  <a:fillRect l="-464" t="-5660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">
            <a:extLst>
              <a:ext uri="{FF2B5EF4-FFF2-40B4-BE49-F238E27FC236}">
                <a16:creationId xmlns:a16="http://schemas.microsoft.com/office/drawing/2014/main" id="{3B6CCA66-E2D1-411D-5601-1D3FF873A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527" y="4830674"/>
            <a:ext cx="48154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</a:t>
            </a: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Важность признаков (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feature importance)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537B3A6-0D5A-5D4F-6402-19A431F8A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159" y="4830674"/>
            <a:ext cx="557784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8 — </a:t>
            </a: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Ва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жность признаков (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permutation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importance)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98C689-464C-55F3-8DA3-8A098F1E62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2" y="1059365"/>
            <a:ext cx="5577841" cy="3705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D799439-A33E-0A9F-C749-2A6C00CE14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058" y="1059367"/>
            <a:ext cx="5577840" cy="3705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1577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40578-7592-8FF6-8952-7E1C6154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75EF0-E539-B3F7-7B1E-27E07BAF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на реальных трансферах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F469A04-B3F2-F521-81FE-EA239A84CCB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11990-466E-DFFD-E480-415FE043E092}"/>
              </a:ext>
            </a:extLst>
          </p:cNvPr>
          <p:cNvSpPr txBox="1"/>
          <p:nvPr/>
        </p:nvSpPr>
        <p:spPr>
          <a:xfrm>
            <a:off x="11353795" y="5992297"/>
            <a:ext cx="83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6D103-2D5F-2737-F88C-948665BA9C60}"/>
              </a:ext>
            </a:extLst>
          </p:cNvPr>
          <p:cNvSpPr txBox="1"/>
          <p:nvPr/>
        </p:nvSpPr>
        <p:spPr>
          <a:xfrm>
            <a:off x="838197" y="4822745"/>
            <a:ext cx="10515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Относительная ошибка прогноза на трансферах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Бензема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Гризманн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Суарес и др.) составила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до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что подтверждает практическую применимость модели.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CE64709-46A3-F2A5-8AC4-0E5934D69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299776"/>
              </p:ext>
            </p:extLst>
          </p:nvPr>
        </p:nvGraphicFramePr>
        <p:xfrm>
          <a:off x="838197" y="1426646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3263085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180860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28590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254658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53761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Игрок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Сезон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Фактическая стоимость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Прогноз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Ошибка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4140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Карим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Бензема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2009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35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31,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92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Златан Ибрагимович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2011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24 млн. евро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984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Антуан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Гризманн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2019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120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0881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Луис Суарес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 млн. евро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2887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Кристьян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Аслани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15,7 млн. евро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113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Арнау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Тенас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2025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2,5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2797844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6AA7DE48-DC38-5B90-6D52-3746289DF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1140040"/>
            <a:ext cx="10515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Результаты прогноза для конкретных трансферов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616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D16B9-ED74-FE34-0320-C6DCAB19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88620-C3F0-C126-6CBD-97F5F7F6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D4408-569D-7789-DE11-18519E57E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8613"/>
                <a:ext cx="10515600" cy="45783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Цель достигнута: разработана модель оценки стоимости футбольных трансферов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решены: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Проанализирована предметная область и выделены ключевые факторы стоимости.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Проведён обзор существующих решений (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Transfermarkt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CIES).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Сформулирована исследовательская задача, определены метрики и ограничения.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Выполнены сбор, очистка, предобработка данных и генерация новых признаков.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Обучены и сравнены 4 модели ML. Лучшая —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Forest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² = 0,7808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𝑀𝐴𝐸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1,773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млн €).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Модель протестирована на реальных трансферах (ошибка 4,3% – 15,3%)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Подтверждена практическая применимость.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D4408-569D-7789-DE11-18519E57E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8613"/>
                <a:ext cx="10515600" cy="4578350"/>
              </a:xfrm>
              <a:blipFill>
                <a:blip r:embed="rId2"/>
                <a:stretch>
                  <a:fillRect l="-754" t="-932" r="-522" b="-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A1465CC-6A5D-6264-C379-61507DB4D7E2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754D3-42DC-26C2-2D75-B7028DE514BE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6525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DCAD-AA7D-745F-810E-E79A978D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03579-6CB8-C0E3-3916-25891E50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Видеопрезентация работы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B174D29-5363-7347-9953-DBB7DA030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1090" y="1059367"/>
            <a:ext cx="4809819" cy="4809819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9EB9F58-7282-D6C6-E23F-CD7481A57D7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F3DC0-5E89-9B8D-FC1E-04D4CE317D99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DF8863-DEB9-8F3C-EAD0-66E915CE3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999" y="5869186"/>
            <a:ext cx="21419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9 — </a:t>
            </a:r>
            <a:r>
              <a:rPr lang="en-US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QR-</a:t>
            </a: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код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8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C870-D15D-60C7-E8BB-811A83B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D4BD8-C2DA-87BC-9FB2-4372C054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63" y="3081880"/>
            <a:ext cx="4402873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E373E51-BF8B-6B97-9709-BFC0B15C7D7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10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E1FBF-AD12-D4A2-081C-496C0AF9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8FE41D9F-914F-3EC0-566D-484C24705FFC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AEBE3451-456A-1C86-81B4-D8BA38AC5E9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2026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03F08C-8357-0E7E-F414-01207629489D}"/>
              </a:ext>
            </a:extLst>
          </p:cNvPr>
          <p:cNvSpPr txBox="1"/>
          <p:nvPr/>
        </p:nvSpPr>
        <p:spPr bwMode="auto">
          <a:xfrm>
            <a:off x="117137" y="4713219"/>
            <a:ext cx="1207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Ким Кирилл Сергеевич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к.ф.-м.н., доцент кафедры прикладной математики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Даева Софья Георгиевна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07CBADD2-B68E-AFEF-9628-57F8D3038F2B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878D61B3-E710-8311-7419-7CF8961DD624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ECC6C1-CADC-7E2C-2EC9-B9EAC1D8F823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09BE3-7026-83DF-DF47-0A478733ECC9}"/>
              </a:ext>
            </a:extLst>
          </p:cNvPr>
          <p:cNvSpPr txBox="1"/>
          <p:nvPr/>
        </p:nvSpPr>
        <p:spPr>
          <a:xfrm>
            <a:off x="5" y="3381744"/>
            <a:ext cx="12191995" cy="665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Выпускная квалификационная работа бакалавра на тему:</a:t>
            </a:r>
          </a:p>
          <a:p>
            <a:pPr marR="853439" lvl="0" indent="942975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«Разработка модели оценки стоимости футбольных трансферов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415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3907</TotalTime>
  <Words>1184</Words>
  <Application>Microsoft Office PowerPoint</Application>
  <PresentationFormat>Широкоэкранный</PresentationFormat>
  <Paragraphs>209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Century Gothic</vt:lpstr>
      <vt:lpstr>Times New Roman</vt:lpstr>
      <vt:lpstr>Тема Office</vt:lpstr>
      <vt:lpstr>Презентация PowerPoint</vt:lpstr>
      <vt:lpstr>Цель, объект и предмет исследования</vt:lpstr>
      <vt:lpstr>Задачи исследования</vt:lpstr>
      <vt:lpstr>Характеристика предметной области</vt:lpstr>
      <vt:lpstr>Обзор существующих решений</vt:lpstr>
      <vt:lpstr>Формулировка исследовательской задачи</vt:lpstr>
      <vt:lpstr>Анализ и характеристика входных данных</vt:lpstr>
      <vt:lpstr>ER-диаграмма</vt:lpstr>
      <vt:lpstr>Описание этапов разработки модели</vt:lpstr>
      <vt:lpstr>Обоснование выбора инструментов</vt:lpstr>
      <vt:lpstr>Распределение трансферных сумм</vt:lpstr>
      <vt:lpstr>Презентация PowerPoint</vt:lpstr>
      <vt:lpstr>Временная валидация и подбор гиперпараметров</vt:lpstr>
      <vt:lpstr>Реализация модели и анализ результатов</vt:lpstr>
      <vt:lpstr>Важность признаков</vt:lpstr>
      <vt:lpstr>Тестирование на реальных трансферах</vt:lpstr>
      <vt:lpstr>Заключение</vt:lpstr>
      <vt:lpstr>Видеопрезентация работы</vt:lpstr>
      <vt:lpstr>Благодарю за внимание!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Кирилл Ким</cp:lastModifiedBy>
  <cp:revision>136</cp:revision>
  <dcterms:created xsi:type="dcterms:W3CDTF">2025-04-21T14:08:12Z</dcterms:created>
  <dcterms:modified xsi:type="dcterms:W3CDTF">2026-06-02T10:26:41Z</dcterms:modified>
</cp:coreProperties>
</file>