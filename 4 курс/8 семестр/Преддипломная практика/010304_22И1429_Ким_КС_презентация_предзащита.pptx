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4">
  <p:sldMasterIdLst>
    <p:sldMasterId id="2147483673" r:id="rId1"/>
  </p:sldMasterIdLst>
  <p:notesMasterIdLst>
    <p:notesMasterId r:id="rId18"/>
  </p:notesMasterIdLst>
  <p:sldIdLst>
    <p:sldId id="256" r:id="rId2"/>
    <p:sldId id="278" r:id="rId3"/>
    <p:sldId id="277" r:id="rId4"/>
    <p:sldId id="279" r:id="rId5"/>
    <p:sldId id="273" r:id="rId6"/>
    <p:sldId id="265" r:id="rId7"/>
    <p:sldId id="264" r:id="rId8"/>
    <p:sldId id="271" r:id="rId9"/>
    <p:sldId id="263" r:id="rId10"/>
    <p:sldId id="262" r:id="rId11"/>
    <p:sldId id="280" r:id="rId12"/>
    <p:sldId id="267" r:id="rId13"/>
    <p:sldId id="274" r:id="rId14"/>
    <p:sldId id="275" r:id="rId15"/>
    <p:sldId id="270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4D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89689" autoAdjust="0"/>
  </p:normalViewPr>
  <p:slideViewPr>
    <p:cSldViewPr snapToGrid="0">
      <p:cViewPr varScale="1">
        <p:scale>
          <a:sx n="105" d="100"/>
          <a:sy n="105" d="100"/>
        </p:scale>
        <p:origin x="256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B8F736-CFBC-DB42-8902-918977A31BB8}" type="datetimeFigureOut">
              <a:rPr lang="ru-RU" smtClean="0"/>
              <a:t>03.05.2026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FEE31B-A035-6343-984B-37A45EFB56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80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FEE31B-A035-6343-984B-37A45EFB56E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727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1D87D1-45A2-E472-75FC-17B3DED4D7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A7ED59-FEAB-8D18-D3FD-973D6CBE8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020EB6-B746-9736-AF04-5DFEFA78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50DB-F8F9-A345-8ACF-B172BB4CC835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7CD2FD-9AC7-9169-F246-1AAC5035E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B60944-5595-F8F3-A6BE-F455E511F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97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95CD39-9F1F-2CF7-CB40-0AF5A5D93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D7D4CB-BECB-42B0-4B1D-7F3D1B90B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87B4CF-0E63-B6AA-3CFC-34DD8F43F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D4C3-C482-8D47-AEDA-F24D432152B4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E7A236-002F-A08C-D8F6-75B6B2FF6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9DA284-FF34-38B3-F8AB-6EEA20D6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8022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37AA7-7424-EB50-2B17-CC7D519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86DB8-15B5-1B12-8054-1FE9791B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69E6355-09BB-E0E8-FDFD-0C14AA80B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693C7-0C3C-3D4E-827B-EA584AF6C465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8BC4DA0-BCEC-7C8F-41F0-5DADC57F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5E3040-8906-C4D7-3E9D-0FFA6940D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404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FB6DD3-4EE5-E5F2-14C8-120B3ED4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724664-5A05-7E57-5834-98EE65930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721F78E-89E7-548F-9167-5B57BE323A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AC6C9D-C997-9131-440D-63B6AC752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B63EE-D3F0-B14D-A1DF-4D0885D56E4A}" type="datetime1">
              <a:rPr lang="ru-RU" smtClean="0"/>
              <a:t>03.05.2026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472E2C-26A5-DD5D-311D-9773C867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9EF8388-1B91-E422-008A-B7F01C6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442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DEDC0A-A965-8143-7A65-5B17E4CDA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FB9DEB-BFC3-7B10-B356-F4401CF1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10852B-F25A-963E-06B9-CA188FCE7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E584783-B214-F762-4137-ED15FC44F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F4881A-07F5-A186-C5E4-584AA707A2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FE964E-E77D-E7BD-9C76-D870F1129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0F580-4A02-7749-8695-6F7A14F168A5}" type="datetime1">
              <a:rPr lang="ru-RU" smtClean="0"/>
              <a:t>03.05.2026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E073EA-AE1E-C763-02FC-D84C5EAD6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C26086-B817-78C0-503F-3818C3281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547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7C6F76-BC38-9937-6149-C1737DFA4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0D5437A-5DA7-F805-0B45-E6BD9E626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A2E72-AE73-9645-9180-4139BDD17A06}" type="datetime1">
              <a:rPr lang="ru-RU" smtClean="0"/>
              <a:t>03.05.2026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6824D91-FD26-1B64-1314-74F12CD4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7945FEC-E1B3-704D-DDAB-3521CBBA4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47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999DD46-7CFC-CAEF-D4DF-17BB2007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39E5-2434-9D49-A354-72490D6D8D81}" type="datetime1">
              <a:rPr lang="ru-RU" smtClean="0"/>
              <a:t>03.05.2026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C094F6F-4AEA-72AE-C522-0F82FBE10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290D3-5FFF-FCB2-0067-ECA0CF0CA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308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AC7F0-9F7D-1BDC-4B8A-8A364A5AC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24ABA4-213B-D855-D2B4-36A61B7FA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944B12-13C4-E945-1C73-5C5675916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D0200AB-A6A8-651D-40B7-0640B0610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8D45-2A78-F24B-B5AB-66E869CA231F}" type="datetime1">
              <a:rPr lang="ru-RU" smtClean="0"/>
              <a:t>03.05.2026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833DDA-5DC2-EC03-605D-3E8C7366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A67AC7-80A3-D4B3-00D7-775C170C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618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A3B929-9876-B81F-B656-8E55DB59E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D822-7B8D-A067-5D64-6B619CFADF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A22C61-CB15-B2E0-16A9-9DDEB557F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0A6E6B-B224-F526-562E-61CB3CE2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4DE2A-573E-8A49-A1E4-A11F8F365BD0}" type="datetime1">
              <a:rPr lang="ru-RU" smtClean="0"/>
              <a:t>03.05.2026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6DA3C7-CE51-1720-B6D4-4CA425CDF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F4734B9-57B2-7BB6-2EEA-EE18FA06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851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1C338-06FB-A315-6DD7-5CE4280E7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9BA173-43C9-AD4A-B2E9-EA658B0F5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8D203-CBC4-E814-F68E-DC7EB326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D7D5F-75DD-7D4C-8231-B51C8FBAD87E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69E40B-FF8E-0915-4814-5E3018C63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5D1A4B-F7EB-B7D1-77C7-79DB62BFF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9617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99A3BB9-CFDA-4148-B357-1361B4A383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D2B49A-DE42-3AA9-2C27-9638D6DA9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76DA71-DEEC-4228-69DA-E910D6C8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CD92-8BC8-7F42-A4AC-74BE4FBDEFBF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9FB91D-AC96-723D-7F93-34E41391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71A548-DF9F-E7E7-8B30-F2AE015F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0001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019AC-7C31-E1B2-D56A-BBF8EF7C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55C7B3C-4823-64B5-86CE-7E35DE081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2D23D5-FB3B-77DE-57E9-FB9393515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49629-F3D2-184C-BCB4-85078938F85A}" type="datetime1">
              <a:rPr lang="ru-RU" smtClean="0"/>
              <a:t>03.05.2026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E880AA-BA04-961F-D85F-A0D2A1318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C25524-B76D-59CA-35B8-F027B7DB9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085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;p1">
            <a:extLst>
              <a:ext uri="{FF2B5EF4-FFF2-40B4-BE49-F238E27FC236}">
                <a16:creationId xmlns:a16="http://schemas.microsoft.com/office/drawing/2014/main" id="{BA261FDF-E3AF-1AC3-19E8-5D102B66E0A5}"/>
              </a:ext>
            </a:extLst>
          </p:cNvPr>
          <p:cNvSpPr/>
          <p:nvPr/>
        </p:nvSpPr>
        <p:spPr bwMode="auto">
          <a:xfrm>
            <a:off x="-4" y="2158305"/>
            <a:ext cx="1219200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20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lang="ru-RU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Институт информационных технологий (ИИТ)</a:t>
            </a:r>
            <a:endParaRPr sz="2000" dirty="0"/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Кафедра прикладной математики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9" name="Google Shape;173;p1">
            <a:extLst>
              <a:ext uri="{FF2B5EF4-FFF2-40B4-BE49-F238E27FC236}">
                <a16:creationId xmlns:a16="http://schemas.microsoft.com/office/drawing/2014/main" id="{2C137BD7-BB77-20B9-3AD9-434E83E84530}"/>
              </a:ext>
            </a:extLst>
          </p:cNvPr>
          <p:cNvSpPr/>
          <p:nvPr/>
        </p:nvSpPr>
        <p:spPr bwMode="auto">
          <a:xfrm>
            <a:off x="0" y="6367586"/>
            <a:ext cx="1219199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Москва 2026</a:t>
            </a:r>
            <a:endParaRPr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C676B-11C3-BD9B-4BA9-407035E6BACB}"/>
              </a:ext>
            </a:extLst>
          </p:cNvPr>
          <p:cNvSpPr txBox="1"/>
          <p:nvPr/>
        </p:nvSpPr>
        <p:spPr bwMode="auto">
          <a:xfrm>
            <a:off x="117137" y="4713219"/>
            <a:ext cx="1207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студент группы ИМБО-02-22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Ким Кирилл Сергеевич</a:t>
            </a:r>
            <a:b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к.ф.-м.н., доцент кафедры прикладной математики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Даева Софья Георгиевна</a:t>
            </a:r>
          </a:p>
        </p:txBody>
      </p:sp>
      <p:sp>
        <p:nvSpPr>
          <p:cNvPr id="11" name="Google Shape;170;p1">
            <a:extLst>
              <a:ext uri="{FF2B5EF4-FFF2-40B4-BE49-F238E27FC236}">
                <a16:creationId xmlns:a16="http://schemas.microsoft.com/office/drawing/2014/main" id="{42DA167A-1632-EF08-9C0E-CEDB24E7813A}"/>
              </a:ext>
            </a:extLst>
          </p:cNvPr>
          <p:cNvSpPr/>
          <p:nvPr/>
        </p:nvSpPr>
        <p:spPr bwMode="auto">
          <a:xfrm>
            <a:off x="-5" y="2735454"/>
            <a:ext cx="121919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Направление «Прикладная математика»</a:t>
            </a:r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профиль «Анализ данных»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13" name="Google Shape;168;p1">
            <a:extLst>
              <a:ext uri="{FF2B5EF4-FFF2-40B4-BE49-F238E27FC236}">
                <a16:creationId xmlns:a16="http://schemas.microsoft.com/office/drawing/2014/main" id="{724CED75-7997-E826-6F89-33419C6B924C}"/>
              </a:ext>
            </a:extLst>
          </p:cNvPr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652913" y="241186"/>
            <a:ext cx="886165" cy="981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4C2956-87BC-C554-5ECE-CFBC3E8BC252}"/>
              </a:ext>
            </a:extLst>
          </p:cNvPr>
          <p:cNvSpPr txBox="1"/>
          <p:nvPr/>
        </p:nvSpPr>
        <p:spPr>
          <a:xfrm>
            <a:off x="1276342" y="1271423"/>
            <a:ext cx="9639306" cy="981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</a:pPr>
            <a:r>
              <a:rPr lang="ru-RU" sz="1800" b="1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«МИРЭА - Российский технологический университет»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EC274D-BC20-CFA3-D15B-2969718AAAFA}"/>
              </a:ext>
            </a:extLst>
          </p:cNvPr>
          <p:cNvSpPr txBox="1"/>
          <p:nvPr/>
        </p:nvSpPr>
        <p:spPr>
          <a:xfrm>
            <a:off x="5" y="3381744"/>
            <a:ext cx="12191995" cy="665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44245" marR="853439" lvl="0" indent="0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Выпускная квалификационная работа бакалавра на тему:</a:t>
            </a:r>
          </a:p>
          <a:p>
            <a:pPr marR="853439" lvl="0" indent="942975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1800" b="1" i="0" u="none" strike="noStrike" cap="none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«Разработка модели оценки стоимости футбольных трансферов</a:t>
            </a:r>
            <a:r>
              <a:rPr lang="ru-RU" sz="1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»</a:t>
            </a:r>
            <a:endParaRPr lang="ru-RU" sz="1800" b="1" u="none" strike="noStrike" cap="none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466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9F20A-65A8-5AE7-016A-D64D5261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Блок-схема: альтернативный процесс 3">
            <a:extLst>
              <a:ext uri="{FF2B5EF4-FFF2-40B4-BE49-F238E27FC236}">
                <a16:creationId xmlns:a16="http://schemas.microsoft.com/office/drawing/2014/main" id="{24DC52F3-992D-594E-7C89-C76CD3021FFC}"/>
              </a:ext>
            </a:extLst>
          </p:cNvPr>
          <p:cNvSpPr/>
          <p:nvPr/>
        </p:nvSpPr>
        <p:spPr>
          <a:xfrm>
            <a:off x="618386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F97013F7-07A7-CF3D-5B30-A55343AB8427}"/>
              </a:ext>
            </a:extLst>
          </p:cNvPr>
          <p:cNvSpPr/>
          <p:nvPr/>
        </p:nvSpPr>
        <p:spPr>
          <a:xfrm>
            <a:off x="487910" y="2519402"/>
            <a:ext cx="11304040" cy="1337776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Блок-схема: альтернативный процесс 27">
            <a:extLst>
              <a:ext uri="{FF2B5EF4-FFF2-40B4-BE49-F238E27FC236}">
                <a16:creationId xmlns:a16="http://schemas.microsoft.com/office/drawing/2014/main" id="{66F42F8D-E8C6-3221-737D-C5E79E083C98}"/>
              </a:ext>
            </a:extLst>
          </p:cNvPr>
          <p:cNvSpPr/>
          <p:nvPr/>
        </p:nvSpPr>
        <p:spPr>
          <a:xfrm>
            <a:off x="48791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Блок-схема: альтернативный процесс 26">
            <a:extLst>
              <a:ext uri="{FF2B5EF4-FFF2-40B4-BE49-F238E27FC236}">
                <a16:creationId xmlns:a16="http://schemas.microsoft.com/office/drawing/2014/main" id="{2DD73E5E-38A5-7448-9248-43476272A526}"/>
              </a:ext>
            </a:extLst>
          </p:cNvPr>
          <p:cNvSpPr/>
          <p:nvPr/>
        </p:nvSpPr>
        <p:spPr>
          <a:xfrm>
            <a:off x="487910" y="1095992"/>
            <a:ext cx="11304040" cy="1315227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49E23-CF5F-379B-D2A3-1298306BA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Цель, объект и предмет исследования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E8C78-78F2-2678-2B6F-E413D4C9D836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2FD24F-842B-5E09-5D20-E5A8205A02CF}"/>
              </a:ext>
            </a:extLst>
          </p:cNvPr>
          <p:cNvSpPr txBox="1"/>
          <p:nvPr/>
        </p:nvSpPr>
        <p:spPr>
          <a:xfrm>
            <a:off x="870661" y="4319565"/>
            <a:ext cx="4842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Объект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исследования — процесс формирования стоимости игроков на рынке трансферов.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7934D7-907E-AC55-5D10-287FE58BA664}"/>
              </a:ext>
            </a:extLst>
          </p:cNvPr>
          <p:cNvSpPr txBox="1"/>
          <p:nvPr/>
        </p:nvSpPr>
        <p:spPr>
          <a:xfrm>
            <a:off x="838200" y="1153440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 Объём трансферного рынка превышает 7 млрд евро в год. Решения о стоимости игроков принимаются на интуиции, что создаёт финансовые риски.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60ACC6-0E92-9EBF-30C0-9F8EA4843A56}"/>
              </a:ext>
            </a:extLst>
          </p:cNvPr>
          <p:cNvSpPr txBox="1"/>
          <p:nvPr/>
        </p:nvSpPr>
        <p:spPr>
          <a:xfrm>
            <a:off x="838200" y="2586348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 Разработать модель машинного обучения для прогнозирования стоимости футбольных трансферов на основе игровой активности и физических характеристик игроков.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3C8D3A-2350-A0CD-0220-CE301682097E}"/>
              </a:ext>
            </a:extLst>
          </p:cNvPr>
          <p:cNvSpPr txBox="1"/>
          <p:nvPr/>
        </p:nvSpPr>
        <p:spPr>
          <a:xfrm>
            <a:off x="6478751" y="4134900"/>
            <a:ext cx="504552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 — математическая модель прогнозирования трансферной стоимости.</a:t>
            </a:r>
          </a:p>
        </p:txBody>
      </p:sp>
    </p:spTree>
    <p:extLst>
      <p:ext uri="{BB962C8B-B14F-4D97-AF65-F5344CB8AC3E}">
        <p14:creationId xmlns:p14="http://schemas.microsoft.com/office/powerpoint/2010/main" val="1267436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9AA84-272F-67E0-EA31-D2623F5F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Блок-схема: альтернативный процесс 12">
            <a:extLst>
              <a:ext uri="{FF2B5EF4-FFF2-40B4-BE49-F238E27FC236}">
                <a16:creationId xmlns:a16="http://schemas.microsoft.com/office/drawing/2014/main" id="{6F312DBE-9357-D62A-1B70-B366A35247B8}"/>
              </a:ext>
            </a:extLst>
          </p:cNvPr>
          <p:cNvSpPr/>
          <p:nvPr/>
        </p:nvSpPr>
        <p:spPr>
          <a:xfrm>
            <a:off x="624903" y="1384837"/>
            <a:ext cx="10657798" cy="3607041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21521D-2C07-D7D6-AF6F-23ECC7A7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101" y="383693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исследования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91702FF-75D0-58AE-1B99-00222F4364D6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054E7-2FD2-065D-CD71-B60D8E968C44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766979-2EC7-2C1B-96FB-E0A3FAA57916}"/>
              </a:ext>
            </a:extLst>
          </p:cNvPr>
          <p:cNvSpPr txBox="1"/>
          <p:nvPr/>
        </p:nvSpPr>
        <p:spPr>
          <a:xfrm>
            <a:off x="909299" y="1598613"/>
            <a:ext cx="956565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предметную область и ключевые факторы стоимости.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обзор существующих решений.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задачу, критерии, ограничения.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сбор, очистку и предобработку данных.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новые признаки.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Обучить модели с подбором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гиперпараметров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на реальных трансферах.</a:t>
            </a:r>
          </a:p>
        </p:txBody>
      </p:sp>
    </p:spTree>
    <p:extLst>
      <p:ext uri="{BB962C8B-B14F-4D97-AF65-F5344CB8AC3E}">
        <p14:creationId xmlns:p14="http://schemas.microsoft.com/office/powerpoint/2010/main" val="728920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1204-21BD-6404-200F-4FB0361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69067-63B9-6C9C-BFE6-DC87577BC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Характеристика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A4AEE11-1D50-611E-ED49-313FB1F508D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4351D-5202-7407-0E1A-C353A7E93AAD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80F4B24-FACD-3002-C2B0-496ABE8FD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59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1 — Средняя стоимость по возрастным группам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786B90-29F2-AA38-0C8A-78BE8A242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6258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2 — Динамика стоимости трансферов по сезонам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73A89E-C55F-5FB8-8346-B189F88DFB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303935"/>
            <a:ext cx="6095999" cy="3636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69DE6C-749F-9D6C-7A0B-C5170210D9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286379"/>
            <a:ext cx="6126928" cy="365390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A0F1F8-9F20-A4E5-FB08-EE99A5479E0A}"/>
              </a:ext>
            </a:extLst>
          </p:cNvPr>
          <p:cNvSpPr txBox="1"/>
          <p:nvPr/>
        </p:nvSpPr>
        <p:spPr>
          <a:xfrm>
            <a:off x="459581" y="5669131"/>
            <a:ext cx="73032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Пик стоимости 26–29 лет.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Факторы стоимости: игровая статистика (голы, передачи), контракт, травмы, рыночные тренды, субъективные факторы.</a:t>
            </a:r>
          </a:p>
        </p:txBody>
      </p:sp>
    </p:spTree>
    <p:extLst>
      <p:ext uri="{BB962C8B-B14F-4D97-AF65-F5344CB8AC3E}">
        <p14:creationId xmlns:p14="http://schemas.microsoft.com/office/powerpoint/2010/main" val="1075271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5568-AFF1-E6F0-58AC-2BAEF075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07D786-C804-94C9-4E75-BA3D2129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существующих решений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0797438-2C90-EDEB-9F4E-CD42468F36E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AC492-2F2F-F90A-7FE3-173011989143}"/>
              </a:ext>
            </a:extLst>
          </p:cNvPr>
          <p:cNvSpPr txBox="1"/>
          <p:nvPr/>
        </p:nvSpPr>
        <p:spPr>
          <a:xfrm>
            <a:off x="11420670" y="5992297"/>
            <a:ext cx="7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3E1AAE5-C259-C4F1-314A-EDBE28553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734688"/>
              </p:ext>
            </p:extLst>
          </p:nvPr>
        </p:nvGraphicFramePr>
        <p:xfrm>
          <a:off x="838200" y="1780649"/>
          <a:ext cx="10515600" cy="3296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6390">
                  <a:extLst>
                    <a:ext uri="{9D8B030D-6E8A-4147-A177-3AD203B41FA5}">
                      <a16:colId xmlns:a16="http://schemas.microsoft.com/office/drawing/2014/main" val="2678173329"/>
                    </a:ext>
                  </a:extLst>
                </a:gridCol>
                <a:gridCol w="3854010">
                  <a:extLst>
                    <a:ext uri="{9D8B030D-6E8A-4147-A177-3AD203B41FA5}">
                      <a16:colId xmlns:a16="http://schemas.microsoft.com/office/drawing/2014/main" val="17866387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34734518"/>
                    </a:ext>
                  </a:extLst>
                </a:gridCol>
              </a:tblGrid>
              <a:tr h="53510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Подход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Недостатки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744184"/>
                  </a:ext>
                </a:extLst>
              </a:tr>
              <a:tr h="53510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Transfermarkt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Коллективная экспертная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Субъективность, редкие обновления, ошибки из‑за симпатий к клубам.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6379066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Модели на основе статистики (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CIES)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Регрессионый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анализ (Используют коэффициенты прошлого опыта)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учитывает нелинейности, завышает топ-лиги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451260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Машинное обучение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Forest, Gradient Boosting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Нужны большие данные, риск переобучения, настройки </a:t>
                      </a: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гиперпараметров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793954"/>
                  </a:ext>
                </a:extLst>
              </a:tr>
            </a:tbl>
          </a:graphicData>
        </a:graphic>
      </p:graphicFrame>
      <p:sp>
        <p:nvSpPr>
          <p:cNvPr id="11" name="Rectangle 1">
            <a:extLst>
              <a:ext uri="{FF2B5EF4-FFF2-40B4-BE49-F238E27FC236}">
                <a16:creationId xmlns:a16="http://schemas.microsoft.com/office/drawing/2014/main" id="{F9403799-0D6F-1A64-21FE-D16064A40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32837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en-US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Существующие решения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BE654-2A0D-14CD-1995-55AC8339171F}"/>
              </a:ext>
            </a:extLst>
          </p:cNvPr>
          <p:cNvSpPr txBox="1"/>
          <p:nvPr/>
        </p:nvSpPr>
        <p:spPr>
          <a:xfrm>
            <a:off x="838200" y="5669131"/>
            <a:ext cx="105824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субъективен и редок, CIES линеен и недоступен. Целесообразно использовать ML-методы.</a:t>
            </a:r>
          </a:p>
        </p:txBody>
      </p:sp>
    </p:spTree>
    <p:extLst>
      <p:ext uri="{BB962C8B-B14F-4D97-AF65-F5344CB8AC3E}">
        <p14:creationId xmlns:p14="http://schemas.microsoft.com/office/powerpoint/2010/main" val="1009767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8267-C448-7C24-1925-E0A567245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Блок-схема: альтернативный процесс 9">
            <a:extLst>
              <a:ext uri="{FF2B5EF4-FFF2-40B4-BE49-F238E27FC236}">
                <a16:creationId xmlns:a16="http://schemas.microsoft.com/office/drawing/2014/main" id="{6CB271A3-9F31-13AA-9DBF-9B36381495C6}"/>
              </a:ext>
            </a:extLst>
          </p:cNvPr>
          <p:cNvSpPr/>
          <p:nvPr/>
        </p:nvSpPr>
        <p:spPr>
          <a:xfrm>
            <a:off x="696001" y="4989924"/>
            <a:ext cx="10657798" cy="1414346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F4760A14-A543-8E19-8720-FF61ABE79733}"/>
              </a:ext>
            </a:extLst>
          </p:cNvPr>
          <p:cNvSpPr/>
          <p:nvPr/>
        </p:nvSpPr>
        <p:spPr>
          <a:xfrm>
            <a:off x="660453" y="3097513"/>
            <a:ext cx="10657798" cy="172706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лок-схема: альтернативный процесс 4">
            <a:extLst>
              <a:ext uri="{FF2B5EF4-FFF2-40B4-BE49-F238E27FC236}">
                <a16:creationId xmlns:a16="http://schemas.microsoft.com/office/drawing/2014/main" id="{F1C4BEE4-4F01-656B-8CE3-FA8CFA16642E}"/>
              </a:ext>
            </a:extLst>
          </p:cNvPr>
          <p:cNvSpPr/>
          <p:nvPr/>
        </p:nvSpPr>
        <p:spPr>
          <a:xfrm>
            <a:off x="696002" y="1160903"/>
            <a:ext cx="10657798" cy="1739618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15AA9-F243-4776-7B62-FEFF97B15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Формулировка исследовательской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483174-7622-A79B-D1C6-AAB3F569D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650" y="5187153"/>
            <a:ext cx="10515600" cy="10198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Допущения: только открытые данные, только платные трансферы.</a:t>
            </a:r>
          </a:p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Ограничения: модель не учитывает ход переговоров и субъективные факторы.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DDA4427-C7F0-9AF9-0762-C77AAACA8EF5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4C224-3942-C627-0103-183D3F68AD45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44228F-21C9-5CDB-DFD2-DE37BC61FF2D}"/>
                  </a:ext>
                </a:extLst>
              </p:cNvPr>
              <p:cNvSpPr txBox="1"/>
              <p:nvPr/>
            </p:nvSpPr>
            <p:spPr>
              <a:xfrm>
                <a:off x="838200" y="1205093"/>
                <a:ext cx="10444500" cy="1570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Постановка задачи: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Дана выборка: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{(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)}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признаки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игрока,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стоимость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трансфера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Требуется построить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ru-RU" sz="2400" b="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с минимальной ошибкой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 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44228F-21C9-5CDB-DFD2-DE37BC61F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5093"/>
                <a:ext cx="10444500" cy="1570943"/>
              </a:xfrm>
              <a:prstGeom prst="rect">
                <a:avLst/>
              </a:prstGeom>
              <a:blipFill>
                <a:blip r:embed="rId2"/>
                <a:stretch>
                  <a:fillRect l="-934" t="-3113" b="-81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98FA91-88FB-1D49-CFF8-ACB75931B88F}"/>
                  </a:ext>
                </a:extLst>
              </p:cNvPr>
              <p:cNvSpPr txBox="1"/>
              <p:nvPr/>
            </p:nvSpPr>
            <p:spPr>
              <a:xfrm>
                <a:off x="873750" y="3148770"/>
                <a:ext cx="10444500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Метрики: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(</m:t>
                    </m:r>
                    <m:r>
                      <m:rPr>
                        <m:nor/>
                      </m:rPr>
                      <a: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средняя абсолютная ошибка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3,0 млн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евро;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ru-RU" sz="2400" i="1" dirty="0">
                  <a:solidFill>
                    <a:schemeClr val="bg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240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коэффициент детерминации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0,5</m:t>
                    </m:r>
                    <m:r>
                      <a:rPr lang="ru-RU" sz="240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𝑀𝐴𝑃𝐸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(средняя абсолютная процентная ошибка) </a:t>
                </a:r>
                <a14:m>
                  <m:oMath xmlns:m="http://schemas.openxmlformats.org/officeDocument/2006/math"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≤50%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98FA91-88FB-1D49-CFF8-ACB75931B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750" y="3148770"/>
                <a:ext cx="10444500" cy="1569660"/>
              </a:xfrm>
              <a:prstGeom prst="rect">
                <a:avLst/>
              </a:prstGeom>
              <a:blipFill>
                <a:blip r:embed="rId3"/>
                <a:stretch>
                  <a:fillRect l="-875" t="-3113" b="-81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244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9118F-58C6-C9CA-8096-93F48BA9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F135AA-0F16-A552-5B60-E05B6197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характеристика входных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7F3CCF9-0FB3-EEDC-3795-018CAC2EC88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89C9F-A3B3-4D1A-7EB9-5EE06DE227DB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408A075-E1DC-B6E8-6F9E-CB6D52301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35116"/>
              </p:ext>
            </p:extLst>
          </p:nvPr>
        </p:nvGraphicFramePr>
        <p:xfrm>
          <a:off x="838200" y="2534349"/>
          <a:ext cx="10515600" cy="2666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0550071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14347609"/>
                    </a:ext>
                  </a:extLst>
                </a:gridCol>
              </a:tblGrid>
              <a:tr h="32675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файла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826085"/>
                  </a:ext>
                </a:extLst>
              </a:tr>
              <a:tr h="44618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transfer_history.csv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История трансферов игроков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7727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player_profiles.csv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Профили игроков (дата рождения, позиция и др.)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4142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player_market_value.csv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Динамика рыночной стоимости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69587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Детальная игровая статистика по сезонам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525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player_injuries.csv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Данные о травмах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0863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player_national_performances.csv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Статистика выступлений за сборную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04859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0FB8DE7-6A14-9A09-CD77-800C460C77A3}"/>
              </a:ext>
            </a:extLst>
          </p:cNvPr>
          <p:cNvSpPr txBox="1"/>
          <p:nvPr/>
        </p:nvSpPr>
        <p:spPr>
          <a:xfrm>
            <a:off x="838200" y="1219327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 данных —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Football Datasets»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6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таблиц, объём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&gt;4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млн. записей.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DB27166C-2625-2227-9053-6A25A7FCC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26572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Характеристики исходных таблиц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2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41883-0670-15F9-9AAF-185F0F0D9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51950-E205-D294-2028-1519D9536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1425F51-3D52-740A-6CFE-7A330F513B6C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9B1B61-E34A-7B78-FCC0-8E619391E165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2F0E469-0859-5188-ABBE-BAA5B1E4C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5936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ADB52DD-DA7F-EA6A-8C5F-4C3001267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289" y="6470646"/>
            <a:ext cx="470852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</a:t>
            </a:r>
            <a:r>
              <a:rPr lang="ru-RU" altLang="ru-RU" sz="1400" b="1" dirty="0" bmk="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 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— </a:t>
            </a:r>
            <a:r>
              <a:rPr kumimoji="0" lang="en-US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ER-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диаграмма исходных таблиц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5AB337D-C000-35F0-F76E-CCE19F198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193321-205E-F9A2-6656-1F611AA6FB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4810" y="-8925"/>
            <a:ext cx="4573485" cy="65017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2807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D3CBB-CF12-1504-9B5C-874A57CD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CE8DC-9FA5-BECD-A892-CC098A30E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этапов разработки модели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488EE80-2AF6-DAC9-FB37-8D40C3DAAE2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CB85C5-A698-B1DF-688B-C90ACB0C99E9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5" name="Выноска: стрелка вниз 4">
            <a:extLst>
              <a:ext uri="{FF2B5EF4-FFF2-40B4-BE49-F238E27FC236}">
                <a16:creationId xmlns:a16="http://schemas.microsoft.com/office/drawing/2014/main" id="{777C7D84-BB91-F630-E45A-A0DBC2ED060F}"/>
              </a:ext>
            </a:extLst>
          </p:cNvPr>
          <p:cNvSpPr/>
          <p:nvPr/>
        </p:nvSpPr>
        <p:spPr>
          <a:xfrm>
            <a:off x="838200" y="1045452"/>
            <a:ext cx="10515600" cy="693227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233201-5DB3-F97F-834D-3D32CF0442A6}"/>
              </a:ext>
            </a:extLst>
          </p:cNvPr>
          <p:cNvSpPr txBox="1"/>
          <p:nvPr/>
        </p:nvSpPr>
        <p:spPr>
          <a:xfrm>
            <a:off x="3047432" y="1044439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Проектирование архитектуры решения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Выноска: стрелка вниз 8">
            <a:extLst>
              <a:ext uri="{FF2B5EF4-FFF2-40B4-BE49-F238E27FC236}">
                <a16:creationId xmlns:a16="http://schemas.microsoft.com/office/drawing/2014/main" id="{6AC33718-28CB-FE41-AD4D-65FD2DB3D7B1}"/>
              </a:ext>
            </a:extLst>
          </p:cNvPr>
          <p:cNvSpPr/>
          <p:nvPr/>
        </p:nvSpPr>
        <p:spPr>
          <a:xfrm>
            <a:off x="838135" y="4509498"/>
            <a:ext cx="10515578" cy="722331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AB9496-35E7-CB43-9DB6-ED832BCBE5CF}"/>
              </a:ext>
            </a:extLst>
          </p:cNvPr>
          <p:cNvSpPr txBox="1"/>
          <p:nvPr/>
        </p:nvSpPr>
        <p:spPr>
          <a:xfrm>
            <a:off x="4661975" y="4496623"/>
            <a:ext cx="28678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Реализация моделей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Выноска: стрелка вниз 10">
            <a:extLst>
              <a:ext uri="{FF2B5EF4-FFF2-40B4-BE49-F238E27FC236}">
                <a16:creationId xmlns:a16="http://schemas.microsoft.com/office/drawing/2014/main" id="{EAB87037-BA68-348B-AA68-F06A3D1B0C8B}"/>
              </a:ext>
            </a:extLst>
          </p:cNvPr>
          <p:cNvSpPr/>
          <p:nvPr/>
        </p:nvSpPr>
        <p:spPr>
          <a:xfrm>
            <a:off x="838135" y="3705277"/>
            <a:ext cx="10515578" cy="77457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Выноска: стрелка вниз 12">
            <a:extLst>
              <a:ext uri="{FF2B5EF4-FFF2-40B4-BE49-F238E27FC236}">
                <a16:creationId xmlns:a16="http://schemas.microsoft.com/office/drawing/2014/main" id="{543FBCF8-E3F2-C1BB-3F8D-9DAF4BE58ADE}"/>
              </a:ext>
            </a:extLst>
          </p:cNvPr>
          <p:cNvSpPr/>
          <p:nvPr/>
        </p:nvSpPr>
        <p:spPr>
          <a:xfrm>
            <a:off x="838125" y="5251710"/>
            <a:ext cx="10515588" cy="72384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0B9FD2-DABD-F8DD-48F1-CDC0EB4F5B42}"/>
              </a:ext>
            </a:extLst>
          </p:cNvPr>
          <p:cNvSpPr txBox="1"/>
          <p:nvPr/>
        </p:nvSpPr>
        <p:spPr>
          <a:xfrm>
            <a:off x="5072378" y="5234940"/>
            <a:ext cx="2047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Расчёт метрик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FF79CE5-57A9-479B-2DD0-D41A7A2B5316}"/>
              </a:ext>
            </a:extLst>
          </p:cNvPr>
          <p:cNvSpPr/>
          <p:nvPr/>
        </p:nvSpPr>
        <p:spPr>
          <a:xfrm>
            <a:off x="838125" y="5990197"/>
            <a:ext cx="10515588" cy="479347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FA89AF-DD65-F496-F3B0-F4CF76E20218}"/>
              </a:ext>
            </a:extLst>
          </p:cNvPr>
          <p:cNvSpPr txBox="1"/>
          <p:nvPr/>
        </p:nvSpPr>
        <p:spPr>
          <a:xfrm>
            <a:off x="4143463" y="5972074"/>
            <a:ext cx="3904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Анализ важности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Выноска: стрелка вниз 2">
            <a:extLst>
              <a:ext uri="{FF2B5EF4-FFF2-40B4-BE49-F238E27FC236}">
                <a16:creationId xmlns:a16="http://schemas.microsoft.com/office/drawing/2014/main" id="{A4D89E93-6B28-CB0B-ACA8-35E7DF535DC8}"/>
              </a:ext>
            </a:extLst>
          </p:cNvPr>
          <p:cNvSpPr/>
          <p:nvPr/>
        </p:nvSpPr>
        <p:spPr>
          <a:xfrm>
            <a:off x="838135" y="2522864"/>
            <a:ext cx="10515578" cy="1152692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189FC-2681-5142-5A2F-D30E26B7F3C8}"/>
              </a:ext>
            </a:extLst>
          </p:cNvPr>
          <p:cNvSpPr txBox="1"/>
          <p:nvPr/>
        </p:nvSpPr>
        <p:spPr>
          <a:xfrm>
            <a:off x="838134" y="2494290"/>
            <a:ext cx="10515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Временная валидация 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—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обучение на данных до 2021, тест на 2022–2026 (без случайного разбиения)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B18D17-CA70-73BC-F954-269D1763A363}"/>
              </a:ext>
            </a:extLst>
          </p:cNvPr>
          <p:cNvSpPr txBox="1"/>
          <p:nvPr/>
        </p:nvSpPr>
        <p:spPr>
          <a:xfrm>
            <a:off x="838134" y="3728370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Подбор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Выноска: стрелка вниз 11">
            <a:extLst>
              <a:ext uri="{FF2B5EF4-FFF2-40B4-BE49-F238E27FC236}">
                <a16:creationId xmlns:a16="http://schemas.microsoft.com/office/drawing/2014/main" id="{8DC2911D-2067-A7F4-9976-24A0AEAF0906}"/>
              </a:ext>
            </a:extLst>
          </p:cNvPr>
          <p:cNvSpPr/>
          <p:nvPr/>
        </p:nvSpPr>
        <p:spPr>
          <a:xfrm>
            <a:off x="838135" y="1767303"/>
            <a:ext cx="10515579" cy="731844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3D532-C8B9-9FAC-0474-B695478989A1}"/>
              </a:ext>
            </a:extLst>
          </p:cNvPr>
          <p:cNvSpPr txBox="1"/>
          <p:nvPr/>
        </p:nvSpPr>
        <p:spPr>
          <a:xfrm>
            <a:off x="838135" y="1752662"/>
            <a:ext cx="105155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Генерация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76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933D3-81F9-228B-C0E4-18D04F44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7042BA-80A4-3347-4947-B229F426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Обоснование выбора инструментов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55870-5D36-A044-B9AA-47164280DDF8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AEB2463B-58FA-9D0A-88D8-0E2494234F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11" t="11253" r="16414" b="10001"/>
          <a:stretch/>
        </p:blipFill>
        <p:spPr bwMode="auto">
          <a:xfrm>
            <a:off x="4636922" y="1827572"/>
            <a:ext cx="1033106" cy="1616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FEC3AE-6ADD-8A7B-3356-D152558953B3}"/>
              </a:ext>
            </a:extLst>
          </p:cNvPr>
          <p:cNvSpPr txBox="1"/>
          <p:nvPr/>
        </p:nvSpPr>
        <p:spPr>
          <a:xfrm>
            <a:off x="1869073" y="1467400"/>
            <a:ext cx="95395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Python</a:t>
            </a:r>
            <a:endParaRPr lang="ru-RU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9E6813-8F1D-DF57-3449-B66BAD1BDBDD}"/>
              </a:ext>
            </a:extLst>
          </p:cNvPr>
          <p:cNvSpPr txBox="1"/>
          <p:nvPr/>
        </p:nvSpPr>
        <p:spPr>
          <a:xfrm>
            <a:off x="4692582" y="1430341"/>
            <a:ext cx="103310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Pandas</a:t>
            </a:r>
            <a:endParaRPr lang="ru-RU" sz="20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7BEE4C8-0FF7-3EBD-C104-7DB5CE3D72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993" y="1846915"/>
            <a:ext cx="1512115" cy="1512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7C29BB7-845D-BE32-F164-C89AB2EAB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065" y="1864631"/>
            <a:ext cx="1427367" cy="14273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308C4-0E3D-BC1B-9798-92B94806C6EE}"/>
              </a:ext>
            </a:extLst>
          </p:cNvPr>
          <p:cNvSpPr txBox="1"/>
          <p:nvPr/>
        </p:nvSpPr>
        <p:spPr>
          <a:xfrm>
            <a:off x="7516093" y="1468050"/>
            <a:ext cx="1033106" cy="396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</a:rPr>
              <a:t>Numpy</a:t>
            </a:r>
            <a:endParaRPr lang="ru-RU" sz="2000" dirty="0"/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DE416B1F-2E8B-3AEE-77C4-207514D6F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32" y="4704237"/>
            <a:ext cx="2351988" cy="144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7339E9B-9C0A-117E-D0CB-2EE37D3FB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926" y="4788279"/>
            <a:ext cx="2351988" cy="12697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873E895-C9A3-B37B-63B5-B6B6843A6F86}"/>
              </a:ext>
            </a:extLst>
          </p:cNvPr>
          <p:cNvSpPr txBox="1"/>
          <p:nvPr/>
        </p:nvSpPr>
        <p:spPr>
          <a:xfrm>
            <a:off x="6001777" y="4353670"/>
            <a:ext cx="15143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Scikit-learn</a:t>
            </a:r>
            <a:endParaRPr lang="ru-RU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61CE39-C2D7-4985-0134-750DBB621832}"/>
              </a:ext>
            </a:extLst>
          </p:cNvPr>
          <p:cNvSpPr txBox="1"/>
          <p:nvPr/>
        </p:nvSpPr>
        <p:spPr>
          <a:xfrm>
            <a:off x="8734431" y="4353670"/>
            <a:ext cx="23519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Google </a:t>
            </a:r>
            <a:r>
              <a:rPr lang="en-US" sz="2000" dirty="0" err="1">
                <a:latin typeface="Times New Roman" panose="02020603050405020304" pitchFamily="18" charset="0"/>
              </a:rPr>
              <a:t>Colaboratory</a:t>
            </a:r>
            <a:endParaRPr lang="ru-RU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F08434-1630-88A1-263E-615BB353FE6A}"/>
              </a:ext>
            </a:extLst>
          </p:cNvPr>
          <p:cNvSpPr txBox="1"/>
          <p:nvPr/>
        </p:nvSpPr>
        <p:spPr>
          <a:xfrm>
            <a:off x="2413286" y="4452350"/>
            <a:ext cx="1309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Matplotlib</a:t>
            </a:r>
            <a:endParaRPr lang="ru-RU" sz="2000" dirty="0"/>
          </a:p>
        </p:txBody>
      </p:sp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E75F591F-44D2-A887-6014-C21610903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340" y="4798339"/>
            <a:ext cx="2654068" cy="1259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988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1FD52-06F0-390D-67F9-ADF5292E6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138F05-915A-9210-6D4D-8B38B939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трансферных сумм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108CEA8-4673-EA76-0D80-184690B72B0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42D683-BF63-2941-121A-156D964D861A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2CC7CAA-12FD-62F1-D27C-F2E1805A1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5936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5" name="Рисунок 3">
            <a:extLst>
              <a:ext uri="{FF2B5EF4-FFF2-40B4-BE49-F238E27FC236}">
                <a16:creationId xmlns:a16="http://schemas.microsoft.com/office/drawing/2014/main" id="{D23CF6BA-8D66-03C9-EFF5-A94B90720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5" y="1114742"/>
            <a:ext cx="5529465" cy="41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BF574BD0-4866-EB5A-C621-5369F1560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1147" y="5220038"/>
            <a:ext cx="362204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4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39E837B-36A5-F873-3B3E-9EE46B63B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8" name="Рисунок 2">
            <a:extLst>
              <a:ext uri="{FF2B5EF4-FFF2-40B4-BE49-F238E27FC236}">
                <a16:creationId xmlns:a16="http://schemas.microsoft.com/office/drawing/2014/main" id="{55EA6BE4-136C-82FE-BD96-795F12006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889" y="1186260"/>
            <a:ext cx="6481394" cy="3864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6770A801-0DE1-2AEC-36F4-9488E4B5E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1778" y="5050971"/>
            <a:ext cx="37296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5</a:t>
            </a:r>
            <a:r>
              <a:rPr kumimoji="0" lang="ru-RU" altLang="ru-RU" sz="1400" b="1" i="0" u="none" strike="noStrike" cap="none" normalizeH="0" baseline="0" dirty="0" bmk="_Ref226977505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 после логарифмирования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38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18965-FEB1-4BD6-1031-C132034D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779D9B-208D-6E25-22E8-C69E9792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модели и анализ результатов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590082B-0991-3885-E4E0-72D7D6C2614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DCE76-0CC6-85AF-BDA9-A295166D6565}"/>
              </a:ext>
            </a:extLst>
          </p:cNvPr>
          <p:cNvSpPr txBox="1"/>
          <p:nvPr/>
        </p:nvSpPr>
        <p:spPr>
          <a:xfrm>
            <a:off x="11353780" y="5992297"/>
            <a:ext cx="83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2AC97CE-9ACF-596F-A1BA-6D89BDB31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56" y="1349607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Оптимальные </a:t>
            </a:r>
            <a:r>
              <a:rPr kumimoji="0" lang="ru-RU" altLang="ru-RU" sz="14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гиперпараметры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для всех моделей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2A546-C6E3-D4B0-3B05-F6CD28644636}"/>
              </a:ext>
            </a:extLst>
          </p:cNvPr>
          <p:cNvSpPr txBox="1"/>
          <p:nvPr/>
        </p:nvSpPr>
        <p:spPr>
          <a:xfrm>
            <a:off x="838180" y="1026297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через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GridSearchCV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TimeSeriesSplit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52206EC-2FA8-4421-2A7D-F9C54BDBB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016" y="6492873"/>
            <a:ext cx="277587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6 — Сравнение метрик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DECF9C81-843F-DC5B-3994-257E26558B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476771"/>
                  </p:ext>
                </p:extLst>
              </p:nvPr>
            </p:nvGraphicFramePr>
            <p:xfrm>
              <a:off x="838156" y="1625616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=0,01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DECF9C81-843F-DC5B-3994-257E26558B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476771"/>
                  </p:ext>
                </p:extLst>
              </p:nvPr>
            </p:nvGraphicFramePr>
            <p:xfrm>
              <a:off x="838156" y="1625616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101639" r="-46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201639" r="-463" b="-2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00C8136-13F5-9B2C-42E3-DFDE04C4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4724" y="3440120"/>
            <a:ext cx="4442460" cy="309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4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C178-0CE9-146B-C088-5C561916D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B56A45-1AF0-7B9E-3E87-CA68F5A3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признаков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057F304-03F2-59C6-F147-EDACD357E7B7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4F1F8-1055-B07B-3747-4021F7E162BA}"/>
              </a:ext>
            </a:extLst>
          </p:cNvPr>
          <p:cNvSpPr txBox="1"/>
          <p:nvPr/>
        </p:nvSpPr>
        <p:spPr>
          <a:xfrm>
            <a:off x="11353796" y="5992297"/>
            <a:ext cx="838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/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Логарифм рыночная стоимость — главный фактор (32,1%).</a:t>
                </a:r>
              </a:p>
              <a:p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Permutation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importance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подтверждает значимость возраст 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возрас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т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blipFill>
                <a:blip r:embed="rId2"/>
                <a:stretch>
                  <a:fillRect l="-464" t="-5660" b="-141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3B6CCA66-E2D1-411D-5601-1D3FF873A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5972" y="4945856"/>
            <a:ext cx="348262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</a:t>
            </a: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Анализ важных признаков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7537B3A6-0D5A-5D4F-6402-19A431F8A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4109" y="4876841"/>
            <a:ext cx="39796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8 — Анализ важных признаков по </a:t>
            </a:r>
            <a:r>
              <a:rPr kumimoji="0" lang="ru-RU" altLang="ru-RU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permutation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98C689-464C-55F3-8DA3-8A098F1E62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2" y="1059365"/>
            <a:ext cx="5577841" cy="3705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D799439-A33E-0A9F-C749-2A6C00CE14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5058" y="1059367"/>
            <a:ext cx="5577840" cy="3705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1577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0578-7592-8FF6-8952-7E1C6154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75EF0-E539-B3F7-7B1E-27E07BAF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на реальных трансферах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F469A04-B3F2-F521-81FE-EA239A84CCB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11990-466E-DFFD-E480-415FE043E092}"/>
              </a:ext>
            </a:extLst>
          </p:cNvPr>
          <p:cNvSpPr txBox="1"/>
          <p:nvPr/>
        </p:nvSpPr>
        <p:spPr>
          <a:xfrm>
            <a:off x="11353795" y="5992297"/>
            <a:ext cx="838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86D103-2D5F-2737-F88C-948665BA9C60}"/>
              </a:ext>
            </a:extLst>
          </p:cNvPr>
          <p:cNvSpPr txBox="1"/>
          <p:nvPr/>
        </p:nvSpPr>
        <p:spPr>
          <a:xfrm>
            <a:off x="838197" y="4822745"/>
            <a:ext cx="105155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Относительная ошибка прогноза на трансферах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Бензема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Гризманн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Суарес и др.) составила от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до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что подтверждает практическую применимость модели.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E64709-46A3-F2A5-8AC4-0E5934D69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60316"/>
              </p:ext>
            </p:extLst>
          </p:nvPr>
        </p:nvGraphicFramePr>
        <p:xfrm>
          <a:off x="838197" y="1426646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32630853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80860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8285908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254658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5376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Игрок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Сезон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Фактическая стоимость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Прогноз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Ошибка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4140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Карим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Бензема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2009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31,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4924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Златан Ибрагимович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2011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24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984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Антуан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Гризманн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120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0881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Луис Суарес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2022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10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2887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Кристьян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Аслани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2023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15,7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13,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22113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Арнау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Тенас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42797844"/>
                  </a:ext>
                </a:extLst>
              </a:tr>
            </a:tbl>
          </a:graphicData>
        </a:graphic>
      </p:graphicFrame>
      <p:sp>
        <p:nvSpPr>
          <p:cNvPr id="9" name="Rectangle 1">
            <a:extLst>
              <a:ext uri="{FF2B5EF4-FFF2-40B4-BE49-F238E27FC236}">
                <a16:creationId xmlns:a16="http://schemas.microsoft.com/office/drawing/2014/main" id="{6AA7DE48-DC38-5B90-6D52-3746289DF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8" y="1140040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Результаты прогноза для конкретных трансферов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61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D16B9-ED74-FE34-0320-C6DCAB19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C88620-C3F0-C126-6CBD-97F5F7F60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Цель достигнута: разработана модель оценки стоимости футбольных трансферов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Задачи решены: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Проанализирована предметная область и выделены ключевые факторы стоимости.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Проведён обзор существующих решений (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Transfermarkt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CIES).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Сформулирована исследовательская задача, определены метрики и ограничения.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Выполнены сбор, очистка, предобработка данных и генерация новых признаков.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и сравнены 4 модели ML. Лучшая —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Forest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² = 0,7808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1,773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млн €).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Модель протестирована на реальных трансферах (ошибка 4,3% – 15,3%)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Подтверждена практическая применимость;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  <a:blipFill>
                <a:blip r:embed="rId2"/>
                <a:stretch>
                  <a:fillRect l="-754" t="-932" r="-522" b="-2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A1465CC-6A5D-6264-C379-61507DB4D7E2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754D3-42DC-26C2-2D75-B7028DE514BE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65252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C870-D15D-60C7-E8BB-811A83B6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D4BD8-C2DA-87BC-9FB2-4372C054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4563" y="3081880"/>
            <a:ext cx="4402873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Благодарю за внимание!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E373E51-BF8B-6B97-9709-BFC0B15C7D7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9107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2957</TotalTime>
  <Words>941</Words>
  <Application>Microsoft Office PowerPoint</Application>
  <PresentationFormat>Широкоэкранный</PresentationFormat>
  <Paragraphs>177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Century Gothic</vt:lpstr>
      <vt:lpstr>Times New Roman</vt:lpstr>
      <vt:lpstr>Тема Office</vt:lpstr>
      <vt:lpstr>Презентация PowerPoint</vt:lpstr>
      <vt:lpstr>Цель, объект и предмет исследования</vt:lpstr>
      <vt:lpstr>Задачи исследования</vt:lpstr>
      <vt:lpstr>Характеристика предметной области</vt:lpstr>
      <vt:lpstr>Обзор существующих решений</vt:lpstr>
      <vt:lpstr>Формулировка исследовательской задачи</vt:lpstr>
      <vt:lpstr>Анализ и характеристика входных данных</vt:lpstr>
      <vt:lpstr>ER-диаграмма</vt:lpstr>
      <vt:lpstr>Описание этапов разработки модели</vt:lpstr>
      <vt:lpstr>Обоснование выбора инструментов</vt:lpstr>
      <vt:lpstr>Распределение трансферных сумм</vt:lpstr>
      <vt:lpstr>Реализация модели и анализ результатов</vt:lpstr>
      <vt:lpstr>Важность признаков</vt:lpstr>
      <vt:lpstr>Тестирование на реальных трансферах</vt:lpstr>
      <vt:lpstr>Заключение</vt:lpstr>
      <vt:lpstr>Благодарю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Кирилл Ким</cp:lastModifiedBy>
  <cp:revision>115</cp:revision>
  <dcterms:created xsi:type="dcterms:W3CDTF">2025-04-21T14:08:12Z</dcterms:created>
  <dcterms:modified xsi:type="dcterms:W3CDTF">2026-05-03T09:30:25Z</dcterms:modified>
</cp:coreProperties>
</file>