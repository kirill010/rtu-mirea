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bookmarkIdSeed="4">
  <p:sldMasterIdLst>
    <p:sldMasterId id="2147483673" r:id="rId1"/>
  </p:sldMasterIdLst>
  <p:notesMasterIdLst>
    <p:notesMasterId r:id="rId21"/>
  </p:notesMasterIdLst>
  <p:sldIdLst>
    <p:sldId id="256" r:id="rId2"/>
    <p:sldId id="278" r:id="rId3"/>
    <p:sldId id="277" r:id="rId4"/>
    <p:sldId id="279" r:id="rId5"/>
    <p:sldId id="273" r:id="rId6"/>
    <p:sldId id="284" r:id="rId7"/>
    <p:sldId id="264" r:id="rId8"/>
    <p:sldId id="271" r:id="rId9"/>
    <p:sldId id="263" r:id="rId10"/>
    <p:sldId id="262" r:id="rId11"/>
    <p:sldId id="280" r:id="rId12"/>
    <p:sldId id="283" r:id="rId13"/>
    <p:sldId id="267" r:id="rId14"/>
    <p:sldId id="285" r:id="rId15"/>
    <p:sldId id="274" r:id="rId16"/>
    <p:sldId id="275" r:id="rId17"/>
    <p:sldId id="270" r:id="rId18"/>
    <p:sldId id="269" r:id="rId19"/>
    <p:sldId id="281" r:id="rId2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F4D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495"/>
    <p:restoredTop sz="89689" autoAdjust="0"/>
  </p:normalViewPr>
  <p:slideViewPr>
    <p:cSldViewPr snapToGrid="0">
      <p:cViewPr>
        <p:scale>
          <a:sx n="100" d="100"/>
          <a:sy n="100" d="100"/>
        </p:scale>
        <p:origin x="2755" y="18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B8F736-CFBC-DB42-8902-918977A31BB8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FFEE31B-A035-6343-984B-37A45EFB56E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07800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FEE31B-A035-6343-984B-37A45EFB56E5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67276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51D87D1-45A2-E472-75FC-17B3DED4D7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D6A7ED59-FEAB-8D18-D3FD-973D6CBE8F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1020EB6-B746-9736-AF04-5DFEFA780C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7550DB-F8F9-A345-8ACF-B172BB4CC835}" type="datetime1">
              <a:rPr lang="ru-RU" smtClean="0"/>
              <a:t>11.05.2026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67CD2FD-9AC7-9169-F246-1AAC5035E1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CB60944-5595-F8F3-A6BE-F455E511F0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96E583-5013-8041-99F4-0BE3DAE5A77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609721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A95CD39-9F1F-2CF7-CB40-0AF5A5D937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3D7D4CB-BECB-42B0-4B1D-7F3D1B90BF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087B4CF-0E63-B6AA-3CFC-34DD8F43F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6D4C3-C482-8D47-AEDA-F24D432152B4}" type="datetime1">
              <a:rPr lang="ru-RU" smtClean="0"/>
              <a:t>11.05.2026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FE7A236-002F-A08C-D8F6-75B6B2FF66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59DA284-FF34-38B3-F8AB-6EEA20D67A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96E583-5013-8041-99F4-0BE3DAE5A77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680223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9737AA7-7424-EB50-2B17-CC7D5190D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F486DB8-15B5-1B12-8054-1FE9791B8A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69E6355-09BB-E0E8-FDFD-0C14AA80B0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8693C7-0C3C-3D4E-827B-EA584AF6C465}" type="datetime1">
              <a:rPr lang="ru-RU" smtClean="0"/>
              <a:t>11.05.2026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8BC4DA0-BCEC-7C8F-41F0-5DADC57F4C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B5E3040-8906-C4D7-3E9D-0FFA6940DB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96E583-5013-8041-99F4-0BE3DAE5A77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840494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0FB6DD3-4EE5-E5F2-14C8-120B3ED4E5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4724664-5A05-7E57-5834-98EE659300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721F78E-89E7-548F-9167-5B57BE323A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CAC6C9D-C997-9131-440D-63B6AC752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DB63EE-D3F0-B14D-A1DF-4D0885D56E4A}" type="datetime1">
              <a:rPr lang="ru-RU" smtClean="0"/>
              <a:t>11.05.2026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F472E2C-26A5-DD5D-311D-9773C8677F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9EF8388-1B91-E422-008A-B7F01C65E6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96E583-5013-8041-99F4-0BE3DAE5A77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104420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2DEDC0A-A965-8143-7A65-5B17E4CDA4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FFB9DEB-BFC3-7B10-B356-F4401CF1EF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610852B-F25A-963E-06B9-CA188FCE7E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1E584783-B214-F762-4137-ED15FC44F08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D1F4881A-07F5-A186-C5E4-584AA707A22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07FE964E-E77D-E7BD-9C76-D870F11297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70F580-4A02-7749-8695-6F7A14F168A5}" type="datetime1">
              <a:rPr lang="ru-RU" smtClean="0"/>
              <a:t>11.05.2026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FDE073EA-AE1E-C763-02FC-D84C5EAD6D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4C26086-B817-78C0-503F-3818C3281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96E583-5013-8041-99F4-0BE3DAE5A77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085475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77C6F76-BC38-9937-6149-C1737DFA4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20D5437A-5DA7-F805-0B45-E6BD9E626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1A2E72-AE73-9645-9180-4139BDD17A06}" type="datetime1">
              <a:rPr lang="ru-RU" smtClean="0"/>
              <a:t>11.05.2026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96824D91-FD26-1B64-1314-74F12CD4FC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7945FEC-E1B3-704D-DDAB-3521CBBA4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96E583-5013-8041-99F4-0BE3DAE5A77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044722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999DD46-7CFC-CAEF-D4DF-17BB2007B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B39E5-2434-9D49-A354-72490D6D8D81}" type="datetime1">
              <a:rPr lang="ru-RU" smtClean="0"/>
              <a:t>11.05.2026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DC094F6F-4AEA-72AE-C522-0F82FBE106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EA290D3-5FFF-FCB2-0067-ECA0CF0CAF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96E583-5013-8041-99F4-0BE3DAE5A77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863085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7AAC7F0-9F7D-1BDC-4B8A-8A364A5AC4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124ABA4-213B-D855-D2B4-36A61B7FA4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9944B12-13C4-E945-1C73-5C56759165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D0200AB-A6A8-651D-40B7-0640B06108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38D45-2A78-F24B-B5AB-66E869CA231F}" type="datetime1">
              <a:rPr lang="ru-RU" smtClean="0"/>
              <a:t>11.05.2026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7833DDA-5DC2-EC03-605D-3E8C7366B8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5A67AC7-80A3-D4B3-00D7-775C170C1D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96E583-5013-8041-99F4-0BE3DAE5A77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46182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CA3B929-9876-B81F-B656-8E55DB59E1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CDA0D822-7B8D-A067-5D64-6B619CFADF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6A22C61-CB15-B2E0-16A9-9DDEB557F6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50A6E6B-B224-F526-562E-61CB3CE2B5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F4DE2A-573E-8A49-A1E4-A11F8F365BD0}" type="datetime1">
              <a:rPr lang="ru-RU" smtClean="0"/>
              <a:t>11.05.2026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C6DA3C7-CE51-1720-B6D4-4CA425CDF9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F4734B9-57B2-7BB6-2EEA-EE18FA062D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96E583-5013-8041-99F4-0BE3DAE5A77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888511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D91C338-06FB-A315-6DD7-5CE4280E72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A9BA173-43C9-AD4A-B2E9-EA658B0F51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A08D203-CBC4-E814-F68E-DC7EB3266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7D7D5F-75DD-7D4C-8231-B51C8FBAD87E}" type="datetime1">
              <a:rPr lang="ru-RU" smtClean="0"/>
              <a:t>11.05.2026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069E40B-FF8E-0915-4814-5E3018C63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95D1A4B-F7EB-B7D1-77C7-79DB62BFFC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96E583-5013-8041-99F4-0BE3DAE5A77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196170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899A3BB9-CFDA-4148-B357-1361B4A383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4DD2B49A-DE42-3AA9-2C27-9638D6DA94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776DA71-DEEC-4228-69DA-E910D6C89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4CD92-8BC8-7F42-A4AC-74BE4FBDEFBF}" type="datetime1">
              <a:rPr lang="ru-RU" smtClean="0"/>
              <a:t>11.05.2026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49FB91D-AC96-723D-7F93-34E413913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F71A548-DF9F-E7E7-8B30-F2AE015F5B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96E583-5013-8041-99F4-0BE3DAE5A77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100014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63019AC-7C31-E1B2-D56A-BBF8EF7C3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55C7B3C-4823-64B5-86CE-7E35DE081E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E2D23D5-FB3B-77DE-57E9-FB9393515A1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4849629-F3D2-184C-BCB4-85078938F85A}" type="datetime1">
              <a:rPr lang="ru-RU" smtClean="0"/>
              <a:t>11.05.2026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3E880AA-BA04-961F-D85F-A0D2A1318F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1C25524-B76D-59CA-35B8-F027B7DB95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396E583-5013-8041-99F4-0BE3DAE5A77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130850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;p1">
            <a:extLst>
              <a:ext uri="{FF2B5EF4-FFF2-40B4-BE49-F238E27FC236}">
                <a16:creationId xmlns:a16="http://schemas.microsoft.com/office/drawing/2014/main" id="{BA261FDF-E3AF-1AC3-19E8-5D102B66E0A5}"/>
              </a:ext>
            </a:extLst>
          </p:cNvPr>
          <p:cNvSpPr/>
          <p:nvPr/>
        </p:nvSpPr>
        <p:spPr bwMode="auto">
          <a:xfrm>
            <a:off x="-4" y="2158305"/>
            <a:ext cx="12192001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>
              <a:defRPr/>
            </a:pPr>
            <a:r>
              <a:rPr lang="ru-RU" sz="2000" dirty="0">
                <a:solidFill>
                  <a:schemeClr val="dk1"/>
                </a:solidFill>
                <a:latin typeface="Century Gothic"/>
                <a:ea typeface="Century Gothic"/>
                <a:cs typeface="Century Gothic"/>
              </a:rPr>
              <a:t> </a:t>
            </a:r>
            <a:r>
              <a:rPr lang="ru-RU" sz="20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</a:rPr>
              <a:t>Институт информационных технологий (ИИТ)</a:t>
            </a:r>
            <a:endParaRPr sz="2000" dirty="0"/>
          </a:p>
          <a:p>
            <a:pPr algn="ctr">
              <a:defRPr/>
            </a:pPr>
            <a:r>
              <a:rPr lang="ru-RU" sz="16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</a:rPr>
              <a:t>Кафедра прикладной математики</a:t>
            </a:r>
            <a:endParaRPr sz="1600" dirty="0">
              <a:solidFill>
                <a:schemeClr val="dk1"/>
              </a:solidFill>
              <a:latin typeface="Century Gothic"/>
              <a:ea typeface="Century Gothic"/>
              <a:cs typeface="Century Gothic"/>
            </a:endParaRPr>
          </a:p>
        </p:txBody>
      </p:sp>
      <p:sp>
        <p:nvSpPr>
          <p:cNvPr id="9" name="Google Shape;173;p1">
            <a:extLst>
              <a:ext uri="{FF2B5EF4-FFF2-40B4-BE49-F238E27FC236}">
                <a16:creationId xmlns:a16="http://schemas.microsoft.com/office/drawing/2014/main" id="{2C137BD7-BB77-20B9-3AD9-434E83E84530}"/>
              </a:ext>
            </a:extLst>
          </p:cNvPr>
          <p:cNvSpPr/>
          <p:nvPr/>
        </p:nvSpPr>
        <p:spPr bwMode="auto">
          <a:xfrm>
            <a:off x="0" y="6367586"/>
            <a:ext cx="12191999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>
              <a:defRPr/>
            </a:pPr>
            <a:r>
              <a:rPr lang="ru-RU" sz="16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</a:rPr>
              <a:t>Москва 2026</a:t>
            </a:r>
            <a:endParaRPr sz="1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EDC676B-11C3-BD9B-4BA9-407035E6BACB}"/>
              </a:ext>
            </a:extLst>
          </p:cNvPr>
          <p:cNvSpPr txBox="1"/>
          <p:nvPr/>
        </p:nvSpPr>
        <p:spPr bwMode="auto">
          <a:xfrm>
            <a:off x="117137" y="4713219"/>
            <a:ext cx="1207486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Автор: студент группы ИМБО-02-22</a:t>
            </a:r>
          </a:p>
          <a:p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Ким Кирилл Сергеевич</a:t>
            </a:r>
            <a:b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Руководитель: к.ф.-м.н., доцент кафедры прикладной математики</a:t>
            </a:r>
          </a:p>
          <a:p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Даева Софья Георгиевна</a:t>
            </a:r>
          </a:p>
        </p:txBody>
      </p:sp>
      <p:sp>
        <p:nvSpPr>
          <p:cNvPr id="11" name="Google Shape;170;p1">
            <a:extLst>
              <a:ext uri="{FF2B5EF4-FFF2-40B4-BE49-F238E27FC236}">
                <a16:creationId xmlns:a16="http://schemas.microsoft.com/office/drawing/2014/main" id="{42DA167A-1632-EF08-9C0E-CEDB24E7813A}"/>
              </a:ext>
            </a:extLst>
          </p:cNvPr>
          <p:cNvSpPr/>
          <p:nvPr/>
        </p:nvSpPr>
        <p:spPr bwMode="auto">
          <a:xfrm>
            <a:off x="-5" y="2735454"/>
            <a:ext cx="12191999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>
              <a:defRPr/>
            </a:pPr>
            <a:r>
              <a:rPr lang="ru-RU" sz="16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</a:rPr>
              <a:t>Направление «Прикладная математика»</a:t>
            </a:r>
          </a:p>
          <a:p>
            <a:pPr algn="ctr">
              <a:defRPr/>
            </a:pPr>
            <a:r>
              <a:rPr lang="ru-RU" sz="1600" dirty="0">
                <a:solidFill>
                  <a:schemeClr val="dk1"/>
                </a:solidFill>
                <a:latin typeface="Times New Roman"/>
                <a:ea typeface="Century Gothic"/>
                <a:cs typeface="Times New Roman"/>
              </a:rPr>
              <a:t>профиль «Анализ данных»</a:t>
            </a:r>
            <a:endParaRPr sz="1600" dirty="0">
              <a:solidFill>
                <a:schemeClr val="dk1"/>
              </a:solidFill>
              <a:latin typeface="Century Gothic"/>
              <a:ea typeface="Century Gothic"/>
              <a:cs typeface="Century Gothic"/>
            </a:endParaRPr>
          </a:p>
        </p:txBody>
      </p:sp>
      <p:pic>
        <p:nvPicPr>
          <p:cNvPr id="13" name="Google Shape;168;p1">
            <a:extLst>
              <a:ext uri="{FF2B5EF4-FFF2-40B4-BE49-F238E27FC236}">
                <a16:creationId xmlns:a16="http://schemas.microsoft.com/office/drawing/2014/main" id="{724CED75-7997-E826-6F89-33419C6B924C}"/>
              </a:ext>
            </a:extLst>
          </p:cNvPr>
          <p:cNvPicPr/>
          <p:nvPr/>
        </p:nvPicPr>
        <p:blipFill>
          <a:blip r:embed="rId2">
            <a:alphaModFix/>
          </a:blip>
          <a:stretch/>
        </p:blipFill>
        <p:spPr bwMode="auto">
          <a:xfrm>
            <a:off x="5652913" y="241186"/>
            <a:ext cx="886165" cy="981423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F4C2956-87BC-C554-5ECE-CFBC3E8BC252}"/>
              </a:ext>
            </a:extLst>
          </p:cNvPr>
          <p:cNvSpPr txBox="1"/>
          <p:nvPr/>
        </p:nvSpPr>
        <p:spPr>
          <a:xfrm>
            <a:off x="1276342" y="1271423"/>
            <a:ext cx="9639306" cy="9814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09728" marR="109728" indent="0" algn="ctr" rtl="0" eaLnBrk="1" fontAlgn="t" latinLnBrk="0" hangingPunct="1">
              <a:lnSpc>
                <a:spcPct val="107000"/>
              </a:lnSpc>
              <a:buNone/>
            </a:pPr>
            <a:r>
              <a:rPr lang="ru-RU" sz="1800" b="0" i="0" u="none" strike="noStrike" kern="12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МИНИСТЕРСТВО НАУКИ И ВЫСШЕГО ОБРАЗОВАНИЯ РОССИЙСКОЙ ФЕДЕРАЦИИ</a:t>
            </a:r>
            <a:endParaRPr lang="ru-RU" sz="1800" b="0" i="0" u="none" strike="noStrike" dirty="0">
              <a:effectLst/>
              <a:latin typeface="Arial" panose="020B0604020202020204" pitchFamily="34" charset="0"/>
            </a:endParaRPr>
          </a:p>
          <a:p>
            <a:pPr marL="109728" marR="109728" indent="0" algn="ctr" rtl="0" eaLnBrk="1" fontAlgn="t" latinLnBrk="0" hangingPunct="1">
              <a:lnSpc>
                <a:spcPct val="107000"/>
              </a:lnSpc>
              <a:buNone/>
            </a:pPr>
            <a:r>
              <a:rPr lang="ru-RU" sz="1800" b="0" i="0" u="none" strike="noStrike" kern="12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Федеральное государственное бюджетное образовательное учреждение высшего образования</a:t>
            </a:r>
            <a:endParaRPr lang="ru-RU" sz="1800" b="0" i="0" u="none" strike="noStrike" dirty="0">
              <a:effectLst/>
              <a:latin typeface="Arial" panose="020B0604020202020204" pitchFamily="34" charset="0"/>
            </a:endParaRPr>
          </a:p>
          <a:p>
            <a:pPr marL="109728" marR="109728" indent="0" algn="ctr" rtl="0" eaLnBrk="1" fontAlgn="t" latinLnBrk="0" hangingPunct="1">
              <a:lnSpc>
                <a:spcPct val="107000"/>
              </a:lnSpc>
            </a:pPr>
            <a:r>
              <a:rPr lang="ru-RU" sz="1800" b="1" i="0" u="none" strike="noStrike" kern="12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«МИРЭА - Российский технологический университет»</a:t>
            </a:r>
            <a:endParaRPr lang="ru-RU" sz="1800" b="0" i="0" u="none" strike="noStrike" dirty="0">
              <a:effectLst/>
              <a:latin typeface="Arial" panose="020B0604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7EC274D-BC20-CFA3-D15B-2969718AAAFA}"/>
              </a:ext>
            </a:extLst>
          </p:cNvPr>
          <p:cNvSpPr txBox="1"/>
          <p:nvPr/>
        </p:nvSpPr>
        <p:spPr>
          <a:xfrm>
            <a:off x="5" y="3381744"/>
            <a:ext cx="12191995" cy="6651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44245" marR="853439" lvl="0" indent="0" algn="ctr" defTabSz="91440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>
                <a:solidFill>
                  <a:schemeClr val="dk1"/>
                </a:solidFill>
                <a:latin typeface="Times New Roman"/>
                <a:ea typeface="Century Gothic"/>
                <a:cs typeface="Times New Roman"/>
              </a:rPr>
              <a:t>Выпускная квалификационная работа бакалавра на тему:</a:t>
            </a:r>
          </a:p>
          <a:p>
            <a:pPr marR="853439" lvl="0" indent="942975" algn="ctr" defTabSz="91440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ru-RU" sz="1800" b="1" i="0" u="none" strike="noStrike" cap="none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«Разработка модели оценки стоимости футбольных трансферов</a:t>
            </a:r>
            <a:r>
              <a:rPr lang="ru-RU" sz="1800" b="1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»</a:t>
            </a:r>
            <a:endParaRPr lang="ru-RU" sz="1800" b="1" u="none" strike="noStrike" cap="none" dirty="0"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94666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09F20A-65A8-5AE7-016A-D64D5261D0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Блок-схема: альтернативный процесс 3">
            <a:extLst>
              <a:ext uri="{FF2B5EF4-FFF2-40B4-BE49-F238E27FC236}">
                <a16:creationId xmlns:a16="http://schemas.microsoft.com/office/drawing/2014/main" id="{24DC52F3-992D-594E-7C89-C76CD3021FFC}"/>
              </a:ext>
            </a:extLst>
          </p:cNvPr>
          <p:cNvSpPr/>
          <p:nvPr/>
        </p:nvSpPr>
        <p:spPr>
          <a:xfrm>
            <a:off x="6183860" y="3964796"/>
            <a:ext cx="5608090" cy="1957000"/>
          </a:xfrm>
          <a:prstGeom prst="flowChartAlternateProcess">
            <a:avLst/>
          </a:prstGeom>
          <a:solidFill>
            <a:schemeClr val="accent1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Блок-схема: альтернативный процесс 2">
            <a:extLst>
              <a:ext uri="{FF2B5EF4-FFF2-40B4-BE49-F238E27FC236}">
                <a16:creationId xmlns:a16="http://schemas.microsoft.com/office/drawing/2014/main" id="{F97013F7-07A7-CF3D-5B30-A55343AB8427}"/>
              </a:ext>
            </a:extLst>
          </p:cNvPr>
          <p:cNvSpPr/>
          <p:nvPr/>
        </p:nvSpPr>
        <p:spPr>
          <a:xfrm>
            <a:off x="487910" y="2519402"/>
            <a:ext cx="11304040" cy="1337776"/>
          </a:xfrm>
          <a:prstGeom prst="flowChartAlternateProcess">
            <a:avLst/>
          </a:prstGeom>
          <a:solidFill>
            <a:schemeClr val="accent1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Блок-схема: альтернативный процесс 27">
            <a:extLst>
              <a:ext uri="{FF2B5EF4-FFF2-40B4-BE49-F238E27FC236}">
                <a16:creationId xmlns:a16="http://schemas.microsoft.com/office/drawing/2014/main" id="{66F42F8D-E8C6-3221-737D-C5E79E083C98}"/>
              </a:ext>
            </a:extLst>
          </p:cNvPr>
          <p:cNvSpPr/>
          <p:nvPr/>
        </p:nvSpPr>
        <p:spPr>
          <a:xfrm>
            <a:off x="487910" y="3964796"/>
            <a:ext cx="5608090" cy="1957000"/>
          </a:xfrm>
          <a:prstGeom prst="flowChartAlternateProcess">
            <a:avLst/>
          </a:prstGeom>
          <a:solidFill>
            <a:schemeClr val="accent1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Блок-схема: альтернативный процесс 26">
            <a:extLst>
              <a:ext uri="{FF2B5EF4-FFF2-40B4-BE49-F238E27FC236}">
                <a16:creationId xmlns:a16="http://schemas.microsoft.com/office/drawing/2014/main" id="{2DD73E5E-38A5-7448-9248-43476272A526}"/>
              </a:ext>
            </a:extLst>
          </p:cNvPr>
          <p:cNvSpPr/>
          <p:nvPr/>
        </p:nvSpPr>
        <p:spPr>
          <a:xfrm>
            <a:off x="487910" y="1095992"/>
            <a:ext cx="11304040" cy="1315227"/>
          </a:xfrm>
          <a:prstGeom prst="flowChartAlternateProcess">
            <a:avLst/>
          </a:prstGeom>
          <a:solidFill>
            <a:schemeClr val="accent1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049E23-CF5F-379B-D2A3-1298306BA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694240"/>
          </a:xfrm>
        </p:spPr>
        <p:txBody>
          <a:bodyPr>
            <a:norm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Цель, объект и предмет исследования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7E8C78-78F2-2678-2B6F-E413D4C9D836}"/>
              </a:ext>
            </a:extLst>
          </p:cNvPr>
          <p:cNvSpPr txBox="1"/>
          <p:nvPr/>
        </p:nvSpPr>
        <p:spPr>
          <a:xfrm>
            <a:off x="11353800" y="5992297"/>
            <a:ext cx="83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82FD24F-842B-5E09-5D20-E5A8205A02CF}"/>
              </a:ext>
            </a:extLst>
          </p:cNvPr>
          <p:cNvSpPr txBox="1"/>
          <p:nvPr/>
        </p:nvSpPr>
        <p:spPr>
          <a:xfrm>
            <a:off x="870661" y="4319565"/>
            <a:ext cx="484258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Объект</a:t>
            </a:r>
            <a:r>
              <a:rPr lang="en-US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исследования — процесс формирования стоимости игроков на рынке трансферов.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57934D7-907E-AC55-5D10-287FE58BA664}"/>
              </a:ext>
            </a:extLst>
          </p:cNvPr>
          <p:cNvSpPr txBox="1"/>
          <p:nvPr/>
        </p:nvSpPr>
        <p:spPr>
          <a:xfrm>
            <a:off x="838200" y="1153440"/>
            <a:ext cx="105156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Актуальность: Объём трансферного рынка превышает 7 млрд евро в год. Решения о стоимости игроков принимаются на интуиции, что создаёт финансовые риски для клубов.</a:t>
            </a:r>
            <a:endParaRPr lang="ru-RU" sz="2400" dirty="0">
              <a:solidFill>
                <a:schemeClr val="bg1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E60ACC6-0E92-9EBF-30C0-9F8EA4843A56}"/>
              </a:ext>
            </a:extLst>
          </p:cNvPr>
          <p:cNvSpPr txBox="1"/>
          <p:nvPr/>
        </p:nvSpPr>
        <p:spPr>
          <a:xfrm>
            <a:off x="838200" y="2586348"/>
            <a:ext cx="105156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ru-RU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Цель: Разработать модель машинного обучения для прогнозирования стоимости футбольных трансферов на основе игровой активности и физических характеристик игроков.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D3C8D3A-2350-A0CD-0220-CE301682097E}"/>
              </a:ext>
            </a:extLst>
          </p:cNvPr>
          <p:cNvSpPr txBox="1"/>
          <p:nvPr/>
        </p:nvSpPr>
        <p:spPr>
          <a:xfrm>
            <a:off x="6478751" y="4134900"/>
            <a:ext cx="504552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Предмет исследования — математическая модель прогнозирования трансферной стоимости.</a:t>
            </a:r>
          </a:p>
        </p:txBody>
      </p:sp>
    </p:spTree>
    <p:extLst>
      <p:ext uri="{BB962C8B-B14F-4D97-AF65-F5344CB8AC3E}">
        <p14:creationId xmlns:p14="http://schemas.microsoft.com/office/powerpoint/2010/main" val="12674363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F9AA84-272F-67E0-EA31-D2623F5FED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Блок-схема: альтернативный процесс 12">
            <a:extLst>
              <a:ext uri="{FF2B5EF4-FFF2-40B4-BE49-F238E27FC236}">
                <a16:creationId xmlns:a16="http://schemas.microsoft.com/office/drawing/2014/main" id="{6F312DBE-9357-D62A-1B70-B366A35247B8}"/>
              </a:ext>
            </a:extLst>
          </p:cNvPr>
          <p:cNvSpPr/>
          <p:nvPr/>
        </p:nvSpPr>
        <p:spPr>
          <a:xfrm>
            <a:off x="624903" y="1384837"/>
            <a:ext cx="10657798" cy="3607041"/>
          </a:xfrm>
          <a:prstGeom prst="flowChartAlternateProcess">
            <a:avLst/>
          </a:prstGeom>
          <a:solidFill>
            <a:schemeClr val="accent1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A21521D-2C07-D7D6-AF6F-23ECC7A75F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7101" y="383693"/>
            <a:ext cx="10515600" cy="694240"/>
          </a:xfrm>
        </p:spPr>
        <p:txBody>
          <a:bodyPr>
            <a:norm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Задачи исследования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C91702FF-75D0-58AE-1B99-00222F4364D6}"/>
              </a:ext>
            </a:extLst>
          </p:cNvPr>
          <p:cNvSpPr txBox="1">
            <a:spLocks/>
          </p:cNvSpPr>
          <p:nvPr/>
        </p:nvSpPr>
        <p:spPr>
          <a:xfrm>
            <a:off x="838200" y="904373"/>
            <a:ext cx="10515600" cy="6942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35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C054E7-2FD2-065D-CD71-B60D8E968C44}"/>
              </a:ext>
            </a:extLst>
          </p:cNvPr>
          <p:cNvSpPr txBox="1"/>
          <p:nvPr/>
        </p:nvSpPr>
        <p:spPr>
          <a:xfrm>
            <a:off x="11353800" y="5992297"/>
            <a:ext cx="8477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A766979-2EC7-2C1B-96FB-E0A3FAA57916}"/>
              </a:ext>
            </a:extLst>
          </p:cNvPr>
          <p:cNvSpPr txBox="1"/>
          <p:nvPr/>
        </p:nvSpPr>
        <p:spPr>
          <a:xfrm>
            <a:off x="909299" y="1598613"/>
            <a:ext cx="956565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450850">
              <a:buFont typeface="+mj-lt"/>
              <a:buAutoNum type="arabicPeriod"/>
            </a:pPr>
            <a:r>
              <a:rPr lang="ru-RU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Изучить предметную область и ключевые факторы стоимости.</a:t>
            </a:r>
          </a:p>
          <a:p>
            <a:pPr indent="450850">
              <a:buFont typeface="+mj-lt"/>
              <a:buAutoNum type="arabicPeriod"/>
            </a:pPr>
            <a:r>
              <a:rPr lang="ru-RU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Провести обзор существующих решений.</a:t>
            </a:r>
          </a:p>
          <a:p>
            <a:pPr indent="450850">
              <a:buFont typeface="+mj-lt"/>
              <a:buAutoNum type="arabicPeriod"/>
            </a:pPr>
            <a:r>
              <a:rPr lang="ru-RU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Сформулировать задачу, критерии, ограничения.</a:t>
            </a:r>
          </a:p>
          <a:p>
            <a:pPr indent="450850">
              <a:buFont typeface="+mj-lt"/>
              <a:buAutoNum type="arabicPeriod"/>
            </a:pPr>
            <a:r>
              <a:rPr lang="ru-RU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Выполнить сбор, очистку и предобработку данных.</a:t>
            </a:r>
          </a:p>
          <a:p>
            <a:pPr indent="450850">
              <a:buFont typeface="+mj-lt"/>
              <a:buAutoNum type="arabicPeriod"/>
            </a:pPr>
            <a:r>
              <a:rPr lang="ru-RU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Спроектировать новые признаки.</a:t>
            </a:r>
          </a:p>
          <a:p>
            <a:pPr indent="450850">
              <a:buFont typeface="+mj-lt"/>
              <a:buAutoNum type="arabicPeriod"/>
            </a:pPr>
            <a:r>
              <a:rPr lang="ru-RU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Обучить модели с подбором </a:t>
            </a:r>
            <a:r>
              <a:rPr lang="ru-RU" sz="24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гиперпараметров</a:t>
            </a:r>
            <a:r>
              <a:rPr lang="ru-RU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indent="450850">
              <a:buFont typeface="+mj-lt"/>
              <a:buAutoNum type="arabicPeriod"/>
            </a:pPr>
            <a:r>
              <a:rPr lang="ru-RU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Провести сравнительный анализ.</a:t>
            </a:r>
          </a:p>
          <a:p>
            <a:pPr indent="450850">
              <a:buFont typeface="+mj-lt"/>
              <a:buAutoNum type="arabicPeriod"/>
            </a:pPr>
            <a:r>
              <a:rPr lang="ru-RU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Протестировать на реальных трансферах.</a:t>
            </a:r>
          </a:p>
        </p:txBody>
      </p:sp>
    </p:spTree>
    <p:extLst>
      <p:ext uri="{BB962C8B-B14F-4D97-AF65-F5344CB8AC3E}">
        <p14:creationId xmlns:p14="http://schemas.microsoft.com/office/powerpoint/2010/main" val="7289200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D51204-21BD-6404-200F-4FB036175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8B69067-63B9-6C9C-BFE6-DC87577BCC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694240"/>
          </a:xfrm>
        </p:spPr>
        <p:txBody>
          <a:bodyPr>
            <a:norm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Характеристика предметной области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A4AEE11-1D50-611E-ED49-313FB1F508D1}"/>
              </a:ext>
            </a:extLst>
          </p:cNvPr>
          <p:cNvSpPr txBox="1">
            <a:spLocks/>
          </p:cNvSpPr>
          <p:nvPr/>
        </p:nvSpPr>
        <p:spPr>
          <a:xfrm>
            <a:off x="838200" y="904373"/>
            <a:ext cx="10515600" cy="6942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35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9A4351D-5202-7407-0E1A-C353A7E93AAD}"/>
              </a:ext>
            </a:extLst>
          </p:cNvPr>
          <p:cNvSpPr txBox="1"/>
          <p:nvPr/>
        </p:nvSpPr>
        <p:spPr>
          <a:xfrm>
            <a:off x="11353800" y="5992297"/>
            <a:ext cx="8477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D80F4B24-FACD-3002-C2B0-496ABE8FD6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00259" y="4887253"/>
            <a:ext cx="3482626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Рисунок 1 — Средняя стоимость по возрастным группам</a:t>
            </a:r>
            <a:endParaRPr kumimoji="0" lang="ru-RU" altLang="ru-RU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0786B90-29F2-AA38-0C8A-78BE8A242C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96258" y="4887253"/>
            <a:ext cx="3482626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Рисунок 2 — Динамика стоимости трансферов по сезонам</a:t>
            </a:r>
            <a:endParaRPr kumimoji="0" lang="ru-RU" altLang="ru-RU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1073A89E-C55F-5FB8-8346-B189F88DFB4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303935"/>
            <a:ext cx="6095999" cy="3636348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F69DE6C-749F-9D6C-7A0B-C5170210D9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1286379"/>
            <a:ext cx="6126928" cy="3653903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9A0F1F8-9F20-A4E5-FB08-EE99A5479E0A}"/>
              </a:ext>
            </a:extLst>
          </p:cNvPr>
          <p:cNvSpPr txBox="1"/>
          <p:nvPr/>
        </p:nvSpPr>
        <p:spPr>
          <a:xfrm>
            <a:off x="459581" y="5669131"/>
            <a:ext cx="730329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Пик стоимости 24–27 лет.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Факторы стоимости: игровая статистика (голы, передачи), контракт, травмы, рыночные тренды, субъективные факторы.</a:t>
            </a:r>
          </a:p>
        </p:txBody>
      </p:sp>
    </p:spTree>
    <p:extLst>
      <p:ext uri="{BB962C8B-B14F-4D97-AF65-F5344CB8AC3E}">
        <p14:creationId xmlns:p14="http://schemas.microsoft.com/office/powerpoint/2010/main" val="10752719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905568-AFF1-E6F0-58AC-2BAEF0753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C07D786-C804-94C9-4E75-BA3D21292B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694240"/>
          </a:xfrm>
        </p:spPr>
        <p:txBody>
          <a:bodyPr>
            <a:norm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Обзор существующих решений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00797438-2C90-EDEB-9F4E-CD42468F36E1}"/>
              </a:ext>
            </a:extLst>
          </p:cNvPr>
          <p:cNvSpPr txBox="1">
            <a:spLocks/>
          </p:cNvSpPr>
          <p:nvPr/>
        </p:nvSpPr>
        <p:spPr>
          <a:xfrm>
            <a:off x="838200" y="904373"/>
            <a:ext cx="10515600" cy="6942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35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EAC492-2F2F-F90A-7FE3-173011989143}"/>
              </a:ext>
            </a:extLst>
          </p:cNvPr>
          <p:cNvSpPr txBox="1"/>
          <p:nvPr/>
        </p:nvSpPr>
        <p:spPr>
          <a:xfrm>
            <a:off x="11420670" y="5992297"/>
            <a:ext cx="771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graphicFrame>
        <p:nvGraphicFramePr>
          <p:cNvPr id="8" name="Таблица 7">
            <a:extLst>
              <a:ext uri="{FF2B5EF4-FFF2-40B4-BE49-F238E27FC236}">
                <a16:creationId xmlns:a16="http://schemas.microsoft.com/office/drawing/2014/main" id="{43E1AAE5-C259-C4F1-314A-EDBE28553F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0734688"/>
              </p:ext>
            </p:extLst>
          </p:nvPr>
        </p:nvGraphicFramePr>
        <p:xfrm>
          <a:off x="838200" y="1780649"/>
          <a:ext cx="10515600" cy="32967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56390">
                  <a:extLst>
                    <a:ext uri="{9D8B030D-6E8A-4147-A177-3AD203B41FA5}">
                      <a16:colId xmlns:a16="http://schemas.microsoft.com/office/drawing/2014/main" val="2678173329"/>
                    </a:ext>
                  </a:extLst>
                </a:gridCol>
                <a:gridCol w="3854010">
                  <a:extLst>
                    <a:ext uri="{9D8B030D-6E8A-4147-A177-3AD203B41FA5}">
                      <a16:colId xmlns:a16="http://schemas.microsoft.com/office/drawing/2014/main" val="1786638708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34734518"/>
                    </a:ext>
                  </a:extLst>
                </a:gridCol>
              </a:tblGrid>
              <a:tr h="535102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Решение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Подход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Недостатки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0744184"/>
                  </a:ext>
                </a:extLst>
              </a:tr>
              <a:tr h="535102"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Transfermarkt</a:t>
                      </a:r>
                      <a:endParaRPr lang="ru-RU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Коллективная экспертная оценка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Субъективность, редкие обновления, ошибки из‑за симпатий к клубам.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6379066"/>
                  </a:ext>
                </a:extLst>
              </a:tr>
              <a:tr h="923600">
                <a:tc>
                  <a:txBody>
                    <a:bodyPr/>
                    <a:lstStyle/>
                    <a:p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Модели на основе статистики (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CIES)</a:t>
                      </a:r>
                      <a:endParaRPr lang="ru-RU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Регрессионый</a:t>
                      </a:r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анализ (Используют коэффициенты прошлого опыта)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Не учитывает нелинейности, завышает топ-лиги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451260"/>
                  </a:ext>
                </a:extLst>
              </a:tr>
              <a:tr h="923600">
                <a:tc>
                  <a:txBody>
                    <a:bodyPr/>
                    <a:lstStyle/>
                    <a:p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Машинное обучение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Random Forest, Gradient Boosting</a:t>
                      </a:r>
                      <a:endParaRPr lang="ru-RU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Нужны большие данные, риск переобучения, настройки </a:t>
                      </a:r>
                      <a:r>
                        <a:rPr lang="ru-RU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гиперпараметров</a:t>
                      </a:r>
                      <a:endParaRPr lang="ru-RU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9793954"/>
                  </a:ext>
                </a:extLst>
              </a:tr>
            </a:tbl>
          </a:graphicData>
        </a:graphic>
      </p:graphicFrame>
      <p:sp>
        <p:nvSpPr>
          <p:cNvPr id="11" name="Rectangle 1">
            <a:extLst>
              <a:ext uri="{FF2B5EF4-FFF2-40B4-BE49-F238E27FC236}">
                <a16:creationId xmlns:a16="http://schemas.microsoft.com/office/drawing/2014/main" id="{F9403799-0D6F-1A64-21FE-D16064A401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1432837"/>
            <a:ext cx="4459066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Таблица </a:t>
            </a:r>
            <a:r>
              <a:rPr lang="en-US" altLang="ru-RU" sz="1400" i="1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1</a:t>
            </a:r>
            <a:r>
              <a:rPr kumimoji="0" lang="ru-RU" altLang="ru-RU" sz="1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 —</a:t>
            </a:r>
            <a:r>
              <a:rPr kumimoji="0" lang="en-US" altLang="ru-RU" sz="1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kumimoji="0" lang="ru-RU" altLang="ru-RU" sz="1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Существующие решения </a:t>
            </a: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0BE654-2A0D-14CD-1995-55AC8339171F}"/>
              </a:ext>
            </a:extLst>
          </p:cNvPr>
          <p:cNvSpPr txBox="1"/>
          <p:nvPr/>
        </p:nvSpPr>
        <p:spPr>
          <a:xfrm>
            <a:off x="838200" y="5669131"/>
            <a:ext cx="1058247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Transfermarkt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субъективен и редок, CIES линеен и недоступен. Целесообразно использовать ML-методы.</a:t>
            </a:r>
          </a:p>
        </p:txBody>
      </p:sp>
    </p:spTree>
    <p:extLst>
      <p:ext uri="{BB962C8B-B14F-4D97-AF65-F5344CB8AC3E}">
        <p14:creationId xmlns:p14="http://schemas.microsoft.com/office/powerpoint/2010/main" val="10097674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DC8904-743B-F360-75DB-E836A33CB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Блок-схема: альтернативный процесс 9">
            <a:extLst>
              <a:ext uri="{FF2B5EF4-FFF2-40B4-BE49-F238E27FC236}">
                <a16:creationId xmlns:a16="http://schemas.microsoft.com/office/drawing/2014/main" id="{3E8A0CC1-6505-A66C-7EC4-7AF021547173}"/>
              </a:ext>
            </a:extLst>
          </p:cNvPr>
          <p:cNvSpPr/>
          <p:nvPr/>
        </p:nvSpPr>
        <p:spPr>
          <a:xfrm>
            <a:off x="696001" y="4989924"/>
            <a:ext cx="10657798" cy="1414346"/>
          </a:xfrm>
          <a:prstGeom prst="flowChartAlternateProcess">
            <a:avLst/>
          </a:prstGeom>
          <a:solidFill>
            <a:schemeClr val="accent1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Блок-схема: альтернативный процесс 8">
            <a:extLst>
              <a:ext uri="{FF2B5EF4-FFF2-40B4-BE49-F238E27FC236}">
                <a16:creationId xmlns:a16="http://schemas.microsoft.com/office/drawing/2014/main" id="{98973623-E4A8-B862-9E71-3DE226FCD7B4}"/>
              </a:ext>
            </a:extLst>
          </p:cNvPr>
          <p:cNvSpPr/>
          <p:nvPr/>
        </p:nvSpPr>
        <p:spPr>
          <a:xfrm>
            <a:off x="660453" y="3097513"/>
            <a:ext cx="10657798" cy="1727060"/>
          </a:xfrm>
          <a:prstGeom prst="flowChartAlternateProcess">
            <a:avLst/>
          </a:prstGeom>
          <a:solidFill>
            <a:schemeClr val="accent1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Блок-схема: альтернативный процесс 4">
            <a:extLst>
              <a:ext uri="{FF2B5EF4-FFF2-40B4-BE49-F238E27FC236}">
                <a16:creationId xmlns:a16="http://schemas.microsoft.com/office/drawing/2014/main" id="{2ACED72E-CD9C-1EDF-AB98-CDDD40EF510C}"/>
              </a:ext>
            </a:extLst>
          </p:cNvPr>
          <p:cNvSpPr/>
          <p:nvPr/>
        </p:nvSpPr>
        <p:spPr>
          <a:xfrm>
            <a:off x="696002" y="1160903"/>
            <a:ext cx="10657798" cy="1739618"/>
          </a:xfrm>
          <a:prstGeom prst="flowChartAlternateProcess">
            <a:avLst/>
          </a:prstGeom>
          <a:solidFill>
            <a:schemeClr val="accent1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3354AA-8E7C-59C6-7DF7-C7277F9916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694240"/>
          </a:xfrm>
        </p:spPr>
        <p:txBody>
          <a:bodyPr>
            <a:norm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Формулировка исследовательской задачи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E60FA61-4A60-6683-E2AC-504C031FF4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2650" y="5187153"/>
            <a:ext cx="10515600" cy="101988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400" dirty="0">
                <a:solidFill>
                  <a:schemeClr val="bg1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Допущения: только открытые данные, только платные трансферы.</a:t>
            </a:r>
          </a:p>
          <a:p>
            <a:pPr marL="0" indent="0">
              <a:buNone/>
            </a:pPr>
            <a:r>
              <a:rPr lang="ru-RU" sz="2400" dirty="0">
                <a:solidFill>
                  <a:schemeClr val="bg1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Ограничения: модель не учитывает ход переговоров и субъективные факторы.</a:t>
            </a:r>
            <a:endParaRPr lang="en-US" sz="2400" dirty="0">
              <a:solidFill>
                <a:schemeClr val="bg1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91374C44-3CD2-5CA4-A62B-25F408B4BC4B}"/>
              </a:ext>
            </a:extLst>
          </p:cNvPr>
          <p:cNvSpPr txBox="1">
            <a:spLocks/>
          </p:cNvSpPr>
          <p:nvPr/>
        </p:nvSpPr>
        <p:spPr>
          <a:xfrm>
            <a:off x="838200" y="904373"/>
            <a:ext cx="10515600" cy="6942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35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57661B2-5CCC-90D3-BC9A-C65B860009B2}"/>
              </a:ext>
            </a:extLst>
          </p:cNvPr>
          <p:cNvSpPr txBox="1"/>
          <p:nvPr/>
        </p:nvSpPr>
        <p:spPr>
          <a:xfrm>
            <a:off x="11353800" y="5992297"/>
            <a:ext cx="83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FF44311-C714-43B3-B435-2C61361A9F67}"/>
                  </a:ext>
                </a:extLst>
              </p:cNvPr>
              <p:cNvSpPr txBox="1"/>
              <p:nvPr/>
            </p:nvSpPr>
            <p:spPr>
              <a:xfrm>
                <a:off x="838200" y="1205093"/>
                <a:ext cx="10444500" cy="15709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ru-RU" sz="2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Постановка задачи:</a:t>
                </a:r>
              </a:p>
              <a:p>
                <a:pPr indent="447675">
                  <a:buFont typeface="Arial" panose="020B0604020202020204" pitchFamily="34" charset="0"/>
                  <a:buChar char="•"/>
                </a:pPr>
                <a:r>
                  <a:rPr lang="ru-RU" sz="2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Дана выборка: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𝐷</m:t>
                    </m:r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bSup>
                      <m:sSubSup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{(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)}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p>
                    </m:sSubSup>
                  </m:oMath>
                </a14:m>
                <a:r>
                  <a:rPr lang="ru-RU" sz="2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ru-RU" sz="2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400" dirty="0">
                    <a:solidFill>
                      <a:schemeClr val="bg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—</a:t>
                </a:r>
                <a:r>
                  <a:rPr lang="ru-RU" sz="2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признаки</a:t>
                </a:r>
                <a:r>
                  <a:rPr lang="en-US" sz="2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2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игрока,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ru-RU" sz="2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400" dirty="0">
                    <a:solidFill>
                      <a:schemeClr val="bg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—</a:t>
                </a:r>
                <a:r>
                  <a:rPr lang="ru-RU" sz="2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стоимость</a:t>
                </a:r>
                <a:r>
                  <a:rPr lang="en-US" sz="2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2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трансфера</a:t>
                </a:r>
                <a:r>
                  <a:rPr lang="en-US" sz="2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;</a:t>
                </a:r>
                <a:endParaRPr lang="ru-RU" sz="2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indent="447675">
                  <a:buFont typeface="Arial" panose="020B0604020202020204" pitchFamily="34" charset="0"/>
                  <a:buChar char="•"/>
                </a:pPr>
                <a:r>
                  <a:rPr lang="ru-RU" sz="2400" dirty="0">
                    <a:solidFill>
                      <a:schemeClr val="bg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Требуется построить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𝑓</m:t>
                    </m:r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:</m:t>
                    </m:r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𝑋</m:t>
                    </m:r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→</m:t>
                    </m:r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𝑌</m:t>
                    </m:r>
                  </m:oMath>
                </a14:m>
                <a:r>
                  <a:rPr lang="ru-RU" sz="2400" b="0" dirty="0">
                    <a:solidFill>
                      <a:schemeClr val="bg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, с минимальной ошибкой</a:t>
                </a:r>
                <a:r>
                  <a:rPr lang="ru-RU" sz="2400" dirty="0">
                    <a:solidFill>
                      <a:schemeClr val="bg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. </a:t>
                </a:r>
                <a:endParaRPr lang="ru-RU" sz="2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FF44311-C714-43B3-B435-2C61361A9F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205093"/>
                <a:ext cx="10444500" cy="1570943"/>
              </a:xfrm>
              <a:prstGeom prst="rect">
                <a:avLst/>
              </a:prstGeom>
              <a:blipFill>
                <a:blip r:embed="rId2"/>
                <a:stretch>
                  <a:fillRect l="-934" t="-3113" b="-817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AE90BD2-A288-7380-3D00-09A0C7D22D55}"/>
                  </a:ext>
                </a:extLst>
              </p:cNvPr>
              <p:cNvSpPr txBox="1"/>
              <p:nvPr/>
            </p:nvSpPr>
            <p:spPr>
              <a:xfrm>
                <a:off x="873750" y="3148770"/>
                <a:ext cx="10444500" cy="15696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ru-RU" sz="2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Разделение метрик:</a:t>
                </a:r>
              </a:p>
              <a:p>
                <a:pPr indent="447675">
                  <a:buFont typeface="Arial" panose="020B0604020202020204" pitchFamily="34" charset="0"/>
                  <a:buChar char="•"/>
                </a:pPr>
                <a:r>
                  <a:rPr lang="ru-RU" sz="2400" dirty="0">
                    <a:solidFill>
                      <a:schemeClr val="bg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Функция потерь при обучении </a:t>
                </a:r>
                <a:r>
                  <a:rPr lang="en-US" sz="2400" dirty="0">
                    <a:solidFill>
                      <a:schemeClr val="bg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—</a:t>
                </a:r>
                <a:r>
                  <a:rPr lang="ru-RU" sz="2400" dirty="0">
                    <a:solidFill>
                      <a:schemeClr val="bg1"/>
                    </a:solidFill>
                    <a:ea typeface="Cambria Math" panose="020405030504060302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𝑀</m:t>
                    </m:r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𝑆</m:t>
                    </m:r>
                    <m:r>
                      <a:rPr lang="en-US" sz="240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𝐸</m:t>
                    </m:r>
                  </m:oMath>
                </a14:m>
                <a:r>
                  <a:rPr lang="en-US" sz="2400" dirty="0">
                    <a:solidFill>
                      <a:schemeClr val="bg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2400" dirty="0">
                    <a:solidFill>
                      <a:schemeClr val="bg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на логарифмированной стоимости;</a:t>
                </a:r>
              </a:p>
              <a:p>
                <a:pPr indent="447675">
                  <a:buFont typeface="Arial" panose="020B0604020202020204" pitchFamily="34" charset="0"/>
                  <a:buChar char="•"/>
                </a:pPr>
                <a:r>
                  <a:rPr lang="ru-RU" sz="2400" dirty="0">
                    <a:solidFill>
                      <a:schemeClr val="bg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Метрика отбора модели и </a:t>
                </a:r>
                <a:r>
                  <a:rPr lang="ru-RU" sz="2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гиперпараметров</a:t>
                </a:r>
                <a:r>
                  <a:rPr lang="ru-RU" sz="2400" dirty="0">
                    <a:solidFill>
                      <a:schemeClr val="bg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2400" dirty="0">
                    <a:solidFill>
                      <a:schemeClr val="bg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—</a:t>
                </a:r>
                <a:r>
                  <a:rPr lang="ru-RU" sz="2400" dirty="0">
                    <a:solidFill>
                      <a:schemeClr val="bg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2400" dirty="0">
                    <a:solidFill>
                      <a:schemeClr val="bg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;</a:t>
                </a:r>
                <a:r>
                  <a:rPr lang="en-US" sz="2400" dirty="0">
                    <a:solidFill>
                      <a:schemeClr val="bg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 </a:t>
                </a:r>
                <a:endParaRPr lang="ru-RU" sz="2400" dirty="0">
                  <a:solidFill>
                    <a:schemeClr val="bg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indent="447675">
                  <a:buFont typeface="Arial" panose="020B0604020202020204" pitchFamily="34" charset="0"/>
                  <a:buChar char="•"/>
                </a:pPr>
                <a:r>
                  <a:rPr lang="ru-RU" sz="2400" dirty="0">
                    <a:solidFill>
                      <a:schemeClr val="bg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Итоговые метрики качества </a:t>
                </a:r>
                <a:r>
                  <a:rPr lang="en-US" sz="2400" dirty="0">
                    <a:solidFill>
                      <a:schemeClr val="bg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— MAE (€),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400" dirty="0">
                    <a:solidFill>
                      <a:schemeClr val="bg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𝑀𝐴𝑃𝐸</m:t>
                    </m:r>
                    <m:r>
                      <a:rPr lang="ru-RU" sz="2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ru-RU" sz="2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:r>
                  <a:rPr lang="en-US" sz="2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%</a:t>
                </a:r>
                <a:r>
                  <a:rPr lang="ru-RU" sz="2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  <a:r>
                  <a:rPr lang="en-US" sz="2400" dirty="0">
                    <a:solidFill>
                      <a:schemeClr val="bg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.</a:t>
                </a: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AE90BD2-A288-7380-3D00-09A0C7D22D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3750" y="3148770"/>
                <a:ext cx="10444500" cy="1569660"/>
              </a:xfrm>
              <a:prstGeom prst="rect">
                <a:avLst/>
              </a:prstGeom>
              <a:blipFill>
                <a:blip r:embed="rId3"/>
                <a:stretch>
                  <a:fillRect l="-875" t="-3113" b="-817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81594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09118F-58C6-C9CA-8096-93F48BA9A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F135AA-0F16-A552-5B60-E05B61971D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694240"/>
          </a:xfrm>
        </p:spPr>
        <p:txBody>
          <a:bodyPr>
            <a:norm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и характеристика входных данных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7F3CCF9-0FB3-EEDC-3795-018CAC2EC880}"/>
              </a:ext>
            </a:extLst>
          </p:cNvPr>
          <p:cNvSpPr txBox="1">
            <a:spLocks/>
          </p:cNvSpPr>
          <p:nvPr/>
        </p:nvSpPr>
        <p:spPr>
          <a:xfrm>
            <a:off x="838200" y="904373"/>
            <a:ext cx="10515600" cy="6942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35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F89C9F-A3B3-4D1A-7EB9-5EE06DE227DB}"/>
              </a:ext>
            </a:extLst>
          </p:cNvPr>
          <p:cNvSpPr txBox="1"/>
          <p:nvPr/>
        </p:nvSpPr>
        <p:spPr>
          <a:xfrm>
            <a:off x="11353800" y="5992297"/>
            <a:ext cx="83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2408A075-E1DC-B6E8-6F9E-CB6D52301F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017590"/>
              </p:ext>
            </p:extLst>
          </p:nvPr>
        </p:nvGraphicFramePr>
        <p:xfrm>
          <a:off x="838200" y="2364172"/>
          <a:ext cx="10515600" cy="26661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1605500717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4114347609"/>
                    </a:ext>
                  </a:extLst>
                </a:gridCol>
              </a:tblGrid>
              <a:tr h="326753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Название файла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Описание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8826085"/>
                  </a:ext>
                </a:extLst>
              </a:tr>
              <a:tr h="446185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transfer_history.csv</a:t>
                      </a:r>
                      <a:endParaRPr lang="ru-RU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История трансферов игроков</a:t>
                      </a:r>
                      <a:endParaRPr lang="ru-RU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5377273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player_profiles.csv</a:t>
                      </a:r>
                      <a:endParaRPr lang="ru-RU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Профили игроков (дата рождения, позиция и др.)</a:t>
                      </a:r>
                      <a:endParaRPr lang="ru-RU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1141429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player_market_value.csv</a:t>
                      </a:r>
                      <a:endParaRPr lang="ru-RU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80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Динамика рыночной стоимости</a:t>
                      </a:r>
                      <a:endParaRPr lang="ru-RU" sz="20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3695874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player_performances.csv</a:t>
                      </a:r>
                      <a:endParaRPr lang="ru-RU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Детальная игровая статистика по сезонам</a:t>
                      </a:r>
                      <a:endParaRPr lang="ru-RU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45254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player_injuries.csv</a:t>
                      </a:r>
                      <a:endParaRPr lang="ru-RU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Данные о травмах</a:t>
                      </a:r>
                      <a:endParaRPr lang="ru-RU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0708638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player_national_performances.csv</a:t>
                      </a:r>
                      <a:endParaRPr lang="ru-RU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8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Статистика выступлений за сборную</a:t>
                      </a:r>
                      <a:endParaRPr lang="ru-RU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992048593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70FB8DE7-6A14-9A09-CD77-800C460C77A3}"/>
              </a:ext>
            </a:extLst>
          </p:cNvPr>
          <p:cNvSpPr txBox="1"/>
          <p:nvPr/>
        </p:nvSpPr>
        <p:spPr>
          <a:xfrm>
            <a:off x="838200" y="1219327"/>
            <a:ext cx="105156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Источник данных —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Kaggle,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датасет «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Football Datasets» (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Transfermarkt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 6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таблиц, объём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&gt;4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млн. записей.</a:t>
            </a:r>
          </a:p>
        </p:txBody>
      </p:sp>
      <p:sp>
        <p:nvSpPr>
          <p:cNvPr id="11" name="Rectangle 1">
            <a:extLst>
              <a:ext uri="{FF2B5EF4-FFF2-40B4-BE49-F238E27FC236}">
                <a16:creationId xmlns:a16="http://schemas.microsoft.com/office/drawing/2014/main" id="{DB27166C-2625-2227-9053-6A25A7FCCB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056395"/>
            <a:ext cx="4459066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Таблица </a:t>
            </a:r>
            <a:r>
              <a:rPr lang="ru-RU" altLang="ru-RU" sz="1400" i="1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2</a:t>
            </a:r>
            <a:r>
              <a:rPr kumimoji="0" lang="ru-RU" altLang="ru-RU" sz="1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 — </a:t>
            </a:r>
            <a:r>
              <a:rPr lang="ru-RU" altLang="ru-RU" sz="1400" i="1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Характеристики исходных таблиц</a:t>
            </a: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83290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741883-0670-15F9-9AAF-185F0F0D90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7351950-E205-D294-2028-1519D9536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694240"/>
          </a:xfrm>
        </p:spPr>
        <p:txBody>
          <a:bodyPr>
            <a:normAutofit/>
          </a:bodyPr>
          <a:lstStyle/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ER-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E1425F51-3D52-740A-6CFE-7A330F513B6C}"/>
              </a:ext>
            </a:extLst>
          </p:cNvPr>
          <p:cNvSpPr txBox="1">
            <a:spLocks/>
          </p:cNvSpPr>
          <p:nvPr/>
        </p:nvSpPr>
        <p:spPr>
          <a:xfrm>
            <a:off x="838200" y="904373"/>
            <a:ext cx="10515600" cy="6942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35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19B1B61-E34A-7B78-FCC0-8E619391E165}"/>
              </a:ext>
            </a:extLst>
          </p:cNvPr>
          <p:cNvSpPr txBox="1"/>
          <p:nvPr/>
        </p:nvSpPr>
        <p:spPr>
          <a:xfrm>
            <a:off x="11353800" y="5992297"/>
            <a:ext cx="83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FADB52DD-DA7F-EA6A-8C5F-4C30012678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67289" y="6470646"/>
            <a:ext cx="470852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Р</a:t>
            </a:r>
            <a:r>
              <a:rPr kumimoji="0" lang="ru-RU" altLang="ru-RU" sz="1400" b="1" i="0" u="none" strike="noStrike" cap="none" normalizeH="0" baseline="0" dirty="0" bmk="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исунок </a:t>
            </a:r>
            <a:r>
              <a:rPr lang="ru-RU" altLang="ru-RU" sz="1400" b="1" dirty="0" bmk="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3 </a:t>
            </a:r>
            <a:r>
              <a:rPr kumimoji="0" lang="ru-RU" altLang="ru-RU" sz="1400" b="1" i="0" u="none" strike="noStrike" cap="none" normalizeH="0" baseline="0" dirty="0" bmk="_Ref226977492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— </a:t>
            </a:r>
            <a:r>
              <a:rPr kumimoji="0" lang="en-US" altLang="ru-RU" sz="1400" b="1" i="0" u="none" strike="noStrike" cap="none" normalizeH="0" baseline="0" dirty="0" bmk="_Ref226977492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ER-</a:t>
            </a:r>
            <a:r>
              <a:rPr kumimoji="0" lang="ru-RU" altLang="ru-RU" sz="1400" b="1" i="0" u="none" strike="noStrike" cap="none" normalizeH="0" baseline="0" dirty="0" bmk="_Ref226977492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диаграмма исходных таблиц</a:t>
            </a:r>
            <a:endParaRPr kumimoji="0" lang="ru-RU" altLang="ru-RU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05AB337D-C000-35F0-F76E-CCE19F198B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76900" y="657542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0193321-205E-F9A2-6656-1F611AA6FB1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48130" y="40569"/>
            <a:ext cx="4538670" cy="645230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828073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4D3CBB-CF12-1504-9B5C-874A57CDA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84CE8DC-9FA5-BECD-A892-CC098A30E1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694240"/>
          </a:xfrm>
        </p:spPr>
        <p:txBody>
          <a:bodyPr>
            <a:norm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Описание этапов разработки модели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3488EE80-2AF6-DAC9-FB37-8D40C3DAAE20}"/>
              </a:ext>
            </a:extLst>
          </p:cNvPr>
          <p:cNvSpPr txBox="1">
            <a:spLocks/>
          </p:cNvSpPr>
          <p:nvPr/>
        </p:nvSpPr>
        <p:spPr>
          <a:xfrm>
            <a:off x="838200" y="904373"/>
            <a:ext cx="10515600" cy="6942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35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1CB85C5-A698-B1DF-688B-C90ACB0C99E9}"/>
              </a:ext>
            </a:extLst>
          </p:cNvPr>
          <p:cNvSpPr txBox="1"/>
          <p:nvPr/>
        </p:nvSpPr>
        <p:spPr>
          <a:xfrm>
            <a:off x="11353800" y="5992297"/>
            <a:ext cx="83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</a:p>
        </p:txBody>
      </p:sp>
      <p:sp>
        <p:nvSpPr>
          <p:cNvPr id="5" name="Выноска: стрелка вниз 4">
            <a:extLst>
              <a:ext uri="{FF2B5EF4-FFF2-40B4-BE49-F238E27FC236}">
                <a16:creationId xmlns:a16="http://schemas.microsoft.com/office/drawing/2014/main" id="{777C7D84-BB91-F630-E45A-A0DBC2ED060F}"/>
              </a:ext>
            </a:extLst>
          </p:cNvPr>
          <p:cNvSpPr/>
          <p:nvPr/>
        </p:nvSpPr>
        <p:spPr>
          <a:xfrm>
            <a:off x="838200" y="1045452"/>
            <a:ext cx="10515600" cy="693227"/>
          </a:xfrm>
          <a:prstGeom prst="downArrowCallou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233201-5DB3-F97F-834D-3D32CF0442A6}"/>
              </a:ext>
            </a:extLst>
          </p:cNvPr>
          <p:cNvSpPr txBox="1"/>
          <p:nvPr/>
        </p:nvSpPr>
        <p:spPr>
          <a:xfrm>
            <a:off x="3047432" y="1044439"/>
            <a:ext cx="60971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4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Проектирование архитектуры решения</a:t>
            </a:r>
            <a:endParaRPr lang="ru-RU" sz="2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Выноска: стрелка вниз 8">
            <a:extLst>
              <a:ext uri="{FF2B5EF4-FFF2-40B4-BE49-F238E27FC236}">
                <a16:creationId xmlns:a16="http://schemas.microsoft.com/office/drawing/2014/main" id="{6AC33718-28CB-FE41-AD4D-65FD2DB3D7B1}"/>
              </a:ext>
            </a:extLst>
          </p:cNvPr>
          <p:cNvSpPr/>
          <p:nvPr/>
        </p:nvSpPr>
        <p:spPr>
          <a:xfrm>
            <a:off x="838211" y="4276923"/>
            <a:ext cx="10515578" cy="722331"/>
          </a:xfrm>
          <a:prstGeom prst="downArrowCallou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6AB9496-35E7-CB43-9DB6-ED832BCBE5CF}"/>
              </a:ext>
            </a:extLst>
          </p:cNvPr>
          <p:cNvSpPr txBox="1"/>
          <p:nvPr/>
        </p:nvSpPr>
        <p:spPr>
          <a:xfrm>
            <a:off x="4661944" y="4266175"/>
            <a:ext cx="286789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4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Реализация моделей</a:t>
            </a:r>
            <a:endParaRPr lang="ru-RU" sz="2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Выноска: стрелка вниз 10">
            <a:extLst>
              <a:ext uri="{FF2B5EF4-FFF2-40B4-BE49-F238E27FC236}">
                <a16:creationId xmlns:a16="http://schemas.microsoft.com/office/drawing/2014/main" id="{EAB87037-BA68-348B-AA68-F06A3D1B0C8B}"/>
              </a:ext>
            </a:extLst>
          </p:cNvPr>
          <p:cNvSpPr/>
          <p:nvPr/>
        </p:nvSpPr>
        <p:spPr>
          <a:xfrm>
            <a:off x="838104" y="3474829"/>
            <a:ext cx="10515578" cy="774576"/>
          </a:xfrm>
          <a:prstGeom prst="downArrowCallou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Выноска: стрелка вниз 12">
            <a:extLst>
              <a:ext uri="{FF2B5EF4-FFF2-40B4-BE49-F238E27FC236}">
                <a16:creationId xmlns:a16="http://schemas.microsoft.com/office/drawing/2014/main" id="{543FBCF8-E3F2-C1BB-3F8D-9DAF4BE58ADE}"/>
              </a:ext>
            </a:extLst>
          </p:cNvPr>
          <p:cNvSpPr/>
          <p:nvPr/>
        </p:nvSpPr>
        <p:spPr>
          <a:xfrm>
            <a:off x="838094" y="5016024"/>
            <a:ext cx="10515588" cy="723846"/>
          </a:xfrm>
          <a:prstGeom prst="downArrowCallou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80B9FD2-DABD-F8DD-48F1-CDC0EB4F5B42}"/>
              </a:ext>
            </a:extLst>
          </p:cNvPr>
          <p:cNvSpPr txBox="1"/>
          <p:nvPr/>
        </p:nvSpPr>
        <p:spPr>
          <a:xfrm>
            <a:off x="5072347" y="4999254"/>
            <a:ext cx="20470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4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Расчёт метрик</a:t>
            </a:r>
            <a:endParaRPr lang="ru-RU" sz="2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5FF79CE5-57A9-479B-2DD0-D41A7A2B5316}"/>
              </a:ext>
            </a:extLst>
          </p:cNvPr>
          <p:cNvSpPr/>
          <p:nvPr/>
        </p:nvSpPr>
        <p:spPr>
          <a:xfrm>
            <a:off x="838094" y="5754511"/>
            <a:ext cx="10515588" cy="479347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FA89AF-DD65-F496-F3B0-F4CF76E20218}"/>
              </a:ext>
            </a:extLst>
          </p:cNvPr>
          <p:cNvSpPr txBox="1"/>
          <p:nvPr/>
        </p:nvSpPr>
        <p:spPr>
          <a:xfrm>
            <a:off x="4143432" y="5736388"/>
            <a:ext cx="390491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4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Анализ важности признаков</a:t>
            </a:r>
            <a:endParaRPr lang="ru-RU" sz="2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Выноска: стрелка вниз 2">
            <a:extLst>
              <a:ext uri="{FF2B5EF4-FFF2-40B4-BE49-F238E27FC236}">
                <a16:creationId xmlns:a16="http://schemas.microsoft.com/office/drawing/2014/main" id="{A4D89E93-6B28-CB0B-ACA8-35E7DF535DC8}"/>
              </a:ext>
            </a:extLst>
          </p:cNvPr>
          <p:cNvSpPr/>
          <p:nvPr/>
        </p:nvSpPr>
        <p:spPr>
          <a:xfrm>
            <a:off x="838135" y="2522864"/>
            <a:ext cx="10515569" cy="906136"/>
          </a:xfrm>
          <a:prstGeom prst="downArrowCallou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F189FC-2681-5142-5A2F-D30E26B7F3C8}"/>
              </a:ext>
            </a:extLst>
          </p:cNvPr>
          <p:cNvSpPr txBox="1"/>
          <p:nvPr/>
        </p:nvSpPr>
        <p:spPr>
          <a:xfrm>
            <a:off x="838125" y="2587393"/>
            <a:ext cx="1051557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400" dirty="0">
                <a:solidFill>
                  <a:schemeClr val="bg1"/>
                </a:solidFill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Временная валидация</a:t>
            </a:r>
            <a:endParaRPr lang="ru-RU" sz="2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5B18D17-CA70-73BC-F954-269D1763A363}"/>
              </a:ext>
            </a:extLst>
          </p:cNvPr>
          <p:cNvSpPr txBox="1"/>
          <p:nvPr/>
        </p:nvSpPr>
        <p:spPr>
          <a:xfrm>
            <a:off x="838094" y="3470433"/>
            <a:ext cx="105156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400" dirty="0">
                <a:solidFill>
                  <a:schemeClr val="bg1"/>
                </a:solidFill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Подбор </a:t>
            </a:r>
            <a:r>
              <a:rPr lang="ru-RU" sz="2400" dirty="0" err="1">
                <a:solidFill>
                  <a:schemeClr val="bg1"/>
                </a:solidFill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гиперпараметров</a:t>
            </a:r>
            <a:endParaRPr lang="ru-RU" sz="2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Выноска: стрелка вниз 11">
            <a:extLst>
              <a:ext uri="{FF2B5EF4-FFF2-40B4-BE49-F238E27FC236}">
                <a16:creationId xmlns:a16="http://schemas.microsoft.com/office/drawing/2014/main" id="{8DC2911D-2067-A7F4-9976-24A0AEAF0906}"/>
              </a:ext>
            </a:extLst>
          </p:cNvPr>
          <p:cNvSpPr/>
          <p:nvPr/>
        </p:nvSpPr>
        <p:spPr>
          <a:xfrm>
            <a:off x="838135" y="1767303"/>
            <a:ext cx="10515579" cy="731844"/>
          </a:xfrm>
          <a:prstGeom prst="downArrowCallou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03D532-C8B9-9FAC-0474-B695478989A1}"/>
              </a:ext>
            </a:extLst>
          </p:cNvPr>
          <p:cNvSpPr txBox="1"/>
          <p:nvPr/>
        </p:nvSpPr>
        <p:spPr>
          <a:xfrm>
            <a:off x="838135" y="1752662"/>
            <a:ext cx="1051557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400" dirty="0">
                <a:solidFill>
                  <a:schemeClr val="bg1"/>
                </a:solidFill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Генерация признаков</a:t>
            </a:r>
            <a:endParaRPr lang="ru-RU" sz="2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17659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933D3-81F9-228B-C0E4-18D04F445A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27042BA-80A4-3347-4947-B229F42685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694240"/>
          </a:xfrm>
        </p:spPr>
        <p:txBody>
          <a:bodyPr>
            <a:norm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Обоснование выбора инструментов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955870-5D36-A044-B9AA-47164280DDF8}"/>
              </a:ext>
            </a:extLst>
          </p:cNvPr>
          <p:cNvSpPr txBox="1"/>
          <p:nvPr/>
        </p:nvSpPr>
        <p:spPr>
          <a:xfrm>
            <a:off x="11353800" y="5992297"/>
            <a:ext cx="83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</a:p>
        </p:txBody>
      </p:sp>
      <p:pic>
        <p:nvPicPr>
          <p:cNvPr id="6" name="Picture 10">
            <a:extLst>
              <a:ext uri="{FF2B5EF4-FFF2-40B4-BE49-F238E27FC236}">
                <a16:creationId xmlns:a16="http://schemas.microsoft.com/office/drawing/2014/main" id="{AEB2463B-58FA-9D0A-88D8-0E2494234F1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11" t="11253" r="16414" b="10001"/>
          <a:stretch/>
        </p:blipFill>
        <p:spPr bwMode="auto">
          <a:xfrm>
            <a:off x="4636922" y="1827572"/>
            <a:ext cx="1033106" cy="16168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9FEC3AE-6ADD-8A7B-3356-D152558953B3}"/>
              </a:ext>
            </a:extLst>
          </p:cNvPr>
          <p:cNvSpPr txBox="1"/>
          <p:nvPr/>
        </p:nvSpPr>
        <p:spPr>
          <a:xfrm>
            <a:off x="1869073" y="1467400"/>
            <a:ext cx="953956" cy="397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</a:rPr>
              <a:t>Python</a:t>
            </a:r>
            <a:endParaRPr lang="ru-RU" sz="2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39E6813-8F1D-DF57-3449-B66BAD1BDBDD}"/>
              </a:ext>
            </a:extLst>
          </p:cNvPr>
          <p:cNvSpPr txBox="1"/>
          <p:nvPr/>
        </p:nvSpPr>
        <p:spPr>
          <a:xfrm>
            <a:off x="4692582" y="1430341"/>
            <a:ext cx="1033106" cy="397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</a:rPr>
              <a:t>Pandas</a:t>
            </a:r>
            <a:endParaRPr lang="ru-RU" sz="2000" dirty="0"/>
          </a:p>
        </p:txBody>
      </p:sp>
      <p:pic>
        <p:nvPicPr>
          <p:cNvPr id="1026" name="Picture 2" descr="Picture background">
            <a:extLst>
              <a:ext uri="{FF2B5EF4-FFF2-40B4-BE49-F238E27FC236}">
                <a16:creationId xmlns:a16="http://schemas.microsoft.com/office/drawing/2014/main" id="{F7BEE4C8-0FF7-3EBD-C104-7DB5CE3D72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89993" y="1846915"/>
            <a:ext cx="1512115" cy="15121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C7C29BB7-845D-BE32-F164-C89AB2EAB8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07065" y="1864631"/>
            <a:ext cx="1427367" cy="1427367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0B308C4-0E3D-BC1B-9798-92B94806C6EE}"/>
              </a:ext>
            </a:extLst>
          </p:cNvPr>
          <p:cNvSpPr txBox="1"/>
          <p:nvPr/>
        </p:nvSpPr>
        <p:spPr>
          <a:xfrm>
            <a:off x="7516093" y="1468050"/>
            <a:ext cx="1033106" cy="3965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 err="1">
                <a:latin typeface="Times New Roman" panose="02020603050405020304" pitchFamily="18" charset="0"/>
              </a:rPr>
              <a:t>Numpy</a:t>
            </a:r>
            <a:endParaRPr lang="ru-RU" sz="2000" dirty="0"/>
          </a:p>
        </p:txBody>
      </p:sp>
      <p:pic>
        <p:nvPicPr>
          <p:cNvPr id="1034" name="Picture 10" descr="Picture background">
            <a:extLst>
              <a:ext uri="{FF2B5EF4-FFF2-40B4-BE49-F238E27FC236}">
                <a16:creationId xmlns:a16="http://schemas.microsoft.com/office/drawing/2014/main" id="{DE416B1F-2E8B-3AEE-77C4-207514D6F5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34432" y="4704237"/>
            <a:ext cx="2351988" cy="14498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17339E9B-9C0A-117E-D0CB-2EE37D3FB6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47926" y="4788279"/>
            <a:ext cx="2351988" cy="126970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D873E895-C9A3-B37B-63B5-B6B6843A6F86}"/>
              </a:ext>
            </a:extLst>
          </p:cNvPr>
          <p:cNvSpPr txBox="1"/>
          <p:nvPr/>
        </p:nvSpPr>
        <p:spPr>
          <a:xfrm>
            <a:off x="6001777" y="4353670"/>
            <a:ext cx="15143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</a:rPr>
              <a:t>Scikit-learn</a:t>
            </a:r>
            <a:endParaRPr lang="ru-RU" sz="20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261CE39-C2D7-4985-0134-750DBB621832}"/>
              </a:ext>
            </a:extLst>
          </p:cNvPr>
          <p:cNvSpPr txBox="1"/>
          <p:nvPr/>
        </p:nvSpPr>
        <p:spPr>
          <a:xfrm>
            <a:off x="8734431" y="4353670"/>
            <a:ext cx="235198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</a:rPr>
              <a:t>Google </a:t>
            </a:r>
            <a:r>
              <a:rPr lang="en-US" sz="2000" dirty="0" err="1">
                <a:latin typeface="Times New Roman" panose="02020603050405020304" pitchFamily="18" charset="0"/>
              </a:rPr>
              <a:t>Colaboratory</a:t>
            </a:r>
            <a:endParaRPr lang="ru-RU" sz="2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3F08434-1630-88A1-263E-615BB353FE6A}"/>
              </a:ext>
            </a:extLst>
          </p:cNvPr>
          <p:cNvSpPr txBox="1"/>
          <p:nvPr/>
        </p:nvSpPr>
        <p:spPr>
          <a:xfrm>
            <a:off x="2413286" y="4452350"/>
            <a:ext cx="130962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</a:rPr>
              <a:t>Matplotlib</a:t>
            </a:r>
            <a:endParaRPr lang="ru-RU" sz="2000" dirty="0"/>
          </a:p>
        </p:txBody>
      </p:sp>
      <p:pic>
        <p:nvPicPr>
          <p:cNvPr id="1038" name="Picture 14" descr="Picture background">
            <a:extLst>
              <a:ext uri="{FF2B5EF4-FFF2-40B4-BE49-F238E27FC236}">
                <a16:creationId xmlns:a16="http://schemas.microsoft.com/office/drawing/2014/main" id="{E75F591F-44D2-A887-6014-C216109039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59340" y="4798339"/>
            <a:ext cx="2654068" cy="12596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509884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1FD52-06F0-390D-67F9-ADF5292E68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8138F05-915A-9210-6D4D-8B38B93952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694240"/>
          </a:xfrm>
        </p:spPr>
        <p:txBody>
          <a:bodyPr>
            <a:norm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Распределение трансферных сумм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5108CEA8-4673-EA76-0D80-184690B72B0B}"/>
              </a:ext>
            </a:extLst>
          </p:cNvPr>
          <p:cNvSpPr txBox="1">
            <a:spLocks/>
          </p:cNvSpPr>
          <p:nvPr/>
        </p:nvSpPr>
        <p:spPr>
          <a:xfrm>
            <a:off x="838200" y="904373"/>
            <a:ext cx="10515600" cy="6942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35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42D683-BF63-2941-121A-156D964D861A}"/>
              </a:ext>
            </a:extLst>
          </p:cNvPr>
          <p:cNvSpPr txBox="1"/>
          <p:nvPr/>
        </p:nvSpPr>
        <p:spPr>
          <a:xfrm>
            <a:off x="11353800" y="5992297"/>
            <a:ext cx="83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52CC7CAA-12FD-62F1-D27C-F2E1805A1B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1059367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pic>
        <p:nvPicPr>
          <p:cNvPr id="1025" name="Рисунок 3">
            <a:extLst>
              <a:ext uri="{FF2B5EF4-FFF2-40B4-BE49-F238E27FC236}">
                <a16:creationId xmlns:a16="http://schemas.microsoft.com/office/drawing/2014/main" id="{D23CF6BA-8D66-03C9-EFF5-A94B907202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435" y="1114742"/>
            <a:ext cx="5529465" cy="41308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3">
            <a:extLst>
              <a:ext uri="{FF2B5EF4-FFF2-40B4-BE49-F238E27FC236}">
                <a16:creationId xmlns:a16="http://schemas.microsoft.com/office/drawing/2014/main" id="{BF574BD0-4866-EB5A-C621-5369F15609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01147" y="5220038"/>
            <a:ext cx="3622040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Р</a:t>
            </a:r>
            <a:r>
              <a:rPr kumimoji="0" lang="ru-RU" altLang="ru-RU" sz="1400" b="1" i="0" u="none" strike="noStrike" cap="none" normalizeH="0" baseline="0" dirty="0" bmk="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исунок 4</a:t>
            </a:r>
            <a:r>
              <a:rPr kumimoji="0" lang="ru-RU" altLang="ru-RU" sz="1400" b="1" i="0" u="none" strike="noStrike" cap="none" normalizeH="0" baseline="0" dirty="0" bmk="_Ref226977492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 — Распределение трансферных сумм</a:t>
            </a:r>
            <a:endParaRPr kumimoji="0" lang="ru-RU" altLang="ru-RU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139E837B-36A5-F873-3B3E-9EE46B63BC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76900" y="657542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pic>
        <p:nvPicPr>
          <p:cNvPr id="1028" name="Рисунок 2">
            <a:extLst>
              <a:ext uri="{FF2B5EF4-FFF2-40B4-BE49-F238E27FC236}">
                <a16:creationId xmlns:a16="http://schemas.microsoft.com/office/drawing/2014/main" id="{55EA6BE4-136C-82FE-BD96-795F120067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5889" y="1186260"/>
            <a:ext cx="6481394" cy="38647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angle 6">
            <a:extLst>
              <a:ext uri="{FF2B5EF4-FFF2-40B4-BE49-F238E27FC236}">
                <a16:creationId xmlns:a16="http://schemas.microsoft.com/office/drawing/2014/main" id="{6770A801-0DE1-2AEC-36F4-9488E4B5EB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91778" y="5050971"/>
            <a:ext cx="3729615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Р</a:t>
            </a:r>
            <a:r>
              <a:rPr kumimoji="0" lang="ru-RU" altLang="ru-RU" sz="1400" b="1" i="0" u="none" strike="noStrike" cap="none" normalizeH="0" baseline="0" dirty="0" bmk="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исунок 5</a:t>
            </a:r>
            <a:r>
              <a:rPr kumimoji="0" lang="ru-RU" altLang="ru-RU" sz="1400" b="1" i="0" u="none" strike="noStrike" cap="none" normalizeH="0" baseline="0" dirty="0" bmk="_Ref226977505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 — Распределение трансферных сумм после логарифмирования</a:t>
            </a:r>
            <a:endParaRPr kumimoji="0" lang="ru-RU" altLang="ru-RU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1381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D2699D-2780-01C5-6164-9C7B0CA8F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1">
            <a:extLst>
              <a:ext uri="{FF2B5EF4-FFF2-40B4-BE49-F238E27FC236}">
                <a16:creationId xmlns:a16="http://schemas.microsoft.com/office/drawing/2014/main" id="{E1BD518A-77EA-F1E0-96DD-35BE46985616}"/>
              </a:ext>
            </a:extLst>
          </p:cNvPr>
          <p:cNvSpPr txBox="1">
            <a:spLocks/>
          </p:cNvSpPr>
          <p:nvPr/>
        </p:nvSpPr>
        <p:spPr>
          <a:xfrm>
            <a:off x="838200" y="365127"/>
            <a:ext cx="10515600" cy="6942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Зачем нужна регуляризация?</a:t>
            </a:r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03D536AC-B69B-E1AA-D613-2F58E059CF80}"/>
              </a:ext>
            </a:extLst>
          </p:cNvPr>
          <p:cNvSpPr txBox="1">
            <a:spLocks/>
          </p:cNvSpPr>
          <p:nvPr/>
        </p:nvSpPr>
        <p:spPr>
          <a:xfrm>
            <a:off x="838200" y="904373"/>
            <a:ext cx="10515600" cy="6942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35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2867B9F-CDB0-2EF1-3AAD-E7B7A4C5D81F}"/>
              </a:ext>
            </a:extLst>
          </p:cNvPr>
          <p:cNvSpPr txBox="1"/>
          <p:nvPr/>
        </p:nvSpPr>
        <p:spPr>
          <a:xfrm>
            <a:off x="11353780" y="5992297"/>
            <a:ext cx="8382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3DA3963-C344-29F8-8DAA-54C2D36BA6C7}"/>
              </a:ext>
            </a:extLst>
          </p:cNvPr>
          <p:cNvSpPr txBox="1"/>
          <p:nvPr/>
        </p:nvSpPr>
        <p:spPr>
          <a:xfrm>
            <a:off x="641479" y="960885"/>
            <a:ext cx="1090904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45000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Проблема: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мультиколлинеарность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(корреляция голов и передач ≈ 0,58).</a:t>
            </a:r>
          </a:p>
          <a:p>
            <a:pPr indent="45000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обычной линейной регрессии это вызывает нестабильность коэффициентов.</a:t>
            </a:r>
          </a:p>
          <a:p>
            <a:pPr indent="45000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Решение: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Ridge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(L2) – сжимает коэффициенты,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Lasso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(L1) – может обнулять незначимые.</a:t>
            </a:r>
          </a:p>
        </p:txBody>
      </p:sp>
      <p:sp>
        <p:nvSpPr>
          <p:cNvPr id="14" name="Rectangle 1">
            <a:extLst>
              <a:ext uri="{FF2B5EF4-FFF2-40B4-BE49-F238E27FC236}">
                <a16:creationId xmlns:a16="http://schemas.microsoft.com/office/drawing/2014/main" id="{5D1F88CA-E67E-9C69-77F3-34466CE6C1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23848" y="6463033"/>
            <a:ext cx="3344302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sz="1400" b="1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Рисунок 6 — Матрица корреляции</a:t>
            </a:r>
            <a:endParaRPr lang="ru-RU" altLang="ru-RU" sz="2000" dirty="0">
              <a:latin typeface="Arial" panose="020B0604020202020204" pitchFamily="34" charset="0"/>
            </a:endParaRPr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01DBFE20-AF00-C8A6-04C1-431E864947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40234" y="1940727"/>
            <a:ext cx="5311530" cy="442457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</p:pic>
    </p:spTree>
    <p:extLst>
      <p:ext uri="{BB962C8B-B14F-4D97-AF65-F5344CB8AC3E}">
        <p14:creationId xmlns:p14="http://schemas.microsoft.com/office/powerpoint/2010/main" val="18582947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F18965-FEB1-4BD6-1031-C132034DD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2779D9B-208D-6E25-22E8-C69E979256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694240"/>
          </a:xfrm>
        </p:spPr>
        <p:txBody>
          <a:bodyPr>
            <a:norm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Временная валидация и подбор </a:t>
            </a:r>
            <a:r>
              <a:rPr lang="ru-RU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гиперпараметров</a:t>
            </a: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6590082B-0991-3885-E4E0-72D7D6C26141}"/>
              </a:ext>
            </a:extLst>
          </p:cNvPr>
          <p:cNvSpPr txBox="1">
            <a:spLocks/>
          </p:cNvSpPr>
          <p:nvPr/>
        </p:nvSpPr>
        <p:spPr>
          <a:xfrm>
            <a:off x="838200" y="904373"/>
            <a:ext cx="10515600" cy="6942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35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7DCE76-0CC6-85AF-BDA9-A295166D6565}"/>
              </a:ext>
            </a:extLst>
          </p:cNvPr>
          <p:cNvSpPr txBox="1"/>
          <p:nvPr/>
        </p:nvSpPr>
        <p:spPr>
          <a:xfrm>
            <a:off x="11353780" y="5992297"/>
            <a:ext cx="8382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13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2B2A546-C6E3-D4B0-3B05-F6CD28644636}"/>
                  </a:ext>
                </a:extLst>
              </p:cNvPr>
              <p:cNvSpPr txBox="1"/>
              <p:nvPr/>
            </p:nvSpPr>
            <p:spPr>
              <a:xfrm>
                <a:off x="838181" y="1263675"/>
                <a:ext cx="10515599" cy="489364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Схема разделения данных:</a:t>
                </a:r>
              </a:p>
              <a:p>
                <a:pPr indent="450000">
                  <a:buFont typeface="Arial" panose="020B0604020202020204" pitchFamily="34" charset="0"/>
                  <a:buChar char="•"/>
                </a:pPr>
                <a:r>
                  <a:rPr lang="ru-RU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Обучение: трансферы до 2021 г. (1973-2021, </a:t>
                </a:r>
                <a:r>
                  <a:rPr lang="en-US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&gt;30 </a:t>
                </a:r>
                <a:r>
                  <a:rPr lang="ru-RU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тыс. записей)</a:t>
                </a:r>
              </a:p>
              <a:p>
                <a:pPr indent="450000">
                  <a:buFont typeface="Arial" panose="020B0604020202020204" pitchFamily="34" charset="0"/>
                  <a:buChar char="•"/>
                </a:pPr>
                <a:r>
                  <a:rPr lang="ru-RU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Тест: трансферы 2022-2026 </a:t>
                </a:r>
                <a:r>
                  <a:rPr lang="ru-RU" sz="2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гг</a:t>
                </a:r>
                <a:r>
                  <a:rPr lang="ru-RU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</a:t>
                </a:r>
                <a:r>
                  <a:rPr lang="en-US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&gt;</a:t>
                </a:r>
                <a:r>
                  <a:rPr lang="ru-RU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9 тыс. записей).</a:t>
                </a:r>
              </a:p>
              <a:p>
                <a:r>
                  <a:rPr lang="ru-RU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Кросс‑валидация: </a:t>
                </a:r>
                <a:r>
                  <a:rPr lang="ru-RU" sz="2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TimeSeriesSplit</a:t>
                </a:r>
                <a:r>
                  <a:rPr lang="en-US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— </a:t>
                </a:r>
                <a:r>
                  <a:rPr lang="ru-RU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обучающая выборка всегда предшествует тестовой, исключая утечку будущей информации.</a:t>
                </a:r>
              </a:p>
              <a:p>
                <a:r>
                  <a:rPr lang="ru-RU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Подбор </a:t>
                </a:r>
                <a:r>
                  <a:rPr lang="ru-RU" sz="2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гиперпараметров</a:t>
                </a:r>
                <a:r>
                  <a:rPr lang="ru-RU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</a:t>
                </a:r>
                <a:r>
                  <a:rPr lang="ru-RU" sz="2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GridSearchCV</a:t>
                </a:r>
                <a:r>
                  <a:rPr lang="ru-RU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pPr indent="450000">
                  <a:buFont typeface="Arial" panose="020B0604020202020204" pitchFamily="34" charset="0"/>
                  <a:buChar char="•"/>
                </a:pPr>
                <a:r>
                  <a:rPr lang="en-US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Ridge: </a:t>
                </a:r>
                <a:r>
                  <a:rPr lang="el-GR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α ϵ {1;10;50};</a:t>
                </a:r>
              </a:p>
              <a:p>
                <a:pPr indent="450000">
                  <a:buFont typeface="Arial" panose="020B0604020202020204" pitchFamily="34" charset="0"/>
                  <a:buChar char="•"/>
                </a:pPr>
                <a:r>
                  <a:rPr lang="en-US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Lasso: </a:t>
                </a:r>
                <a:r>
                  <a:rPr lang="el-GR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α ϵ {0,001;0,01;0,1};</a:t>
                </a:r>
              </a:p>
              <a:p>
                <a:pPr indent="450000">
                  <a:buFont typeface="Arial" panose="020B0604020202020204" pitchFamily="34" charset="0"/>
                  <a:buChar char="•"/>
                </a:pPr>
                <a:r>
                  <a:rPr lang="en-US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Random Forest: </a:t>
                </a:r>
                <a:r>
                  <a:rPr lang="ru-RU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количество деревьев</a:t>
                </a:r>
                <a:r>
                  <a:rPr lang="en-US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𝜖</m:t>
                    </m:r>
                  </m:oMath>
                </a14:m>
                <a:r>
                  <a:rPr lang="el-GR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{100;200}, </a:t>
                </a:r>
                <a:r>
                  <a:rPr lang="ru-RU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глубина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𝜖</m:t>
                    </m:r>
                  </m:oMath>
                </a14:m>
                <a:r>
                  <a:rPr lang="el-GR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{15;20}, </a:t>
                </a:r>
                <a:r>
                  <a:rPr lang="ru-RU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минимальное число объектов в листе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𝜖</m:t>
                    </m:r>
                  </m:oMath>
                </a14:m>
                <a:r>
                  <a:rPr lang="el-GR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{5;10};</a:t>
                </a:r>
              </a:p>
              <a:p>
                <a:pPr indent="450000">
                  <a:buFont typeface="Arial" panose="020B0604020202020204" pitchFamily="34" charset="0"/>
                  <a:buChar char="•"/>
                </a:pPr>
                <a:r>
                  <a:rPr lang="en-US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Gradient Boosting: </a:t>
                </a:r>
                <a:r>
                  <a:rPr lang="ru-RU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количество деревьев</a:t>
                </a:r>
                <a:r>
                  <a:rPr lang="en-US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𝜖</m:t>
                    </m:r>
                  </m:oMath>
                </a14:m>
                <a:r>
                  <a:rPr lang="el-GR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{100;200}, </a:t>
                </a:r>
                <a:r>
                  <a:rPr lang="en-US" sz="2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learning_rate</a:t>
                </a:r>
                <a:r>
                  <a:rPr lang="en-US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количество деревьев</a:t>
                </a:r>
                <a:r>
                  <a:rPr lang="en-US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𝜖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l-GR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{0,01;0,05}, </a:t>
                </a:r>
                <a:r>
                  <a:rPr lang="ru-RU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глубина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𝜖</m:t>
                    </m:r>
                  </m:oMath>
                </a14:m>
                <a:r>
                  <a:rPr lang="el-GR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{3;5};</a:t>
                </a:r>
              </a:p>
              <a:p>
                <a:pPr indent="450000">
                  <a:buFont typeface="Arial" panose="020B0604020202020204" pitchFamily="34" charset="0"/>
                  <a:buChar char="•"/>
                </a:pPr>
                <a:endParaRPr lang="ru-RU" sz="2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2B2A546-C6E3-D4B0-3B05-F6CD286446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81" y="1263675"/>
                <a:ext cx="10515599" cy="4893647"/>
              </a:xfrm>
              <a:prstGeom prst="rect">
                <a:avLst/>
              </a:prstGeom>
              <a:blipFill>
                <a:blip r:embed="rId2"/>
                <a:stretch>
                  <a:fillRect l="-870" t="-996" r="-46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125406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0876B-FC3B-5A70-2C4B-B4F80E375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A9E7684-67B2-080B-99F0-3044C3DE5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694240"/>
          </a:xfrm>
        </p:spPr>
        <p:txBody>
          <a:bodyPr>
            <a:norm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Реализация модели и анализ результатов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E7A21849-2AAC-95F9-88BD-FC8DA585498B}"/>
              </a:ext>
            </a:extLst>
          </p:cNvPr>
          <p:cNvSpPr txBox="1">
            <a:spLocks/>
          </p:cNvSpPr>
          <p:nvPr/>
        </p:nvSpPr>
        <p:spPr>
          <a:xfrm>
            <a:off x="838200" y="904373"/>
            <a:ext cx="10515600" cy="6942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35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EA5F11-85FA-1E08-8F69-26D957EDEA46}"/>
              </a:ext>
            </a:extLst>
          </p:cNvPr>
          <p:cNvSpPr txBox="1"/>
          <p:nvPr/>
        </p:nvSpPr>
        <p:spPr>
          <a:xfrm>
            <a:off x="11353780" y="5992297"/>
            <a:ext cx="8382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14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ECBB7BB6-1B34-E39A-925A-33DEAD2D99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180" y="1146485"/>
            <a:ext cx="10515599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Таблица </a:t>
            </a:r>
            <a:r>
              <a:rPr lang="ru-RU" altLang="ru-RU" sz="1400" i="1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3</a:t>
            </a:r>
            <a:r>
              <a:rPr kumimoji="0" lang="ru-RU" altLang="ru-RU" sz="1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 — Оптимальные </a:t>
            </a:r>
            <a:r>
              <a:rPr kumimoji="0" lang="ru-RU" altLang="ru-RU" sz="14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гиперпараметры</a:t>
            </a:r>
            <a:r>
              <a:rPr kumimoji="0" lang="ru-RU" altLang="ru-RU" sz="1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 для всех моделей</a:t>
            </a: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F60665CA-CF3C-C771-34A0-375DF6852B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08016" y="6492873"/>
            <a:ext cx="2775877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sz="1400" b="1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Рисунок 6 — Сравнение метрик</a:t>
            </a:r>
            <a:endParaRPr lang="ru-RU" altLang="ru-RU" sz="2000" dirty="0">
              <a:latin typeface="Arial" panose="020B0604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8" name="Таблица 7">
                <a:extLst>
                  <a:ext uri="{FF2B5EF4-FFF2-40B4-BE49-F238E27FC236}">
                    <a16:creationId xmlns:a16="http://schemas.microsoft.com/office/drawing/2014/main" id="{B96FBBD8-B6C5-71E6-E401-F173812B9CD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05347950"/>
                  </p:ext>
                </p:extLst>
              </p:nvPr>
            </p:nvGraphicFramePr>
            <p:xfrm>
              <a:off x="838180" y="1422494"/>
              <a:ext cx="10515600" cy="1854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257800">
                      <a:extLst>
                        <a:ext uri="{9D8B030D-6E8A-4147-A177-3AD203B41FA5}">
                          <a16:colId xmlns:a16="http://schemas.microsoft.com/office/drawing/2014/main" val="3001914746"/>
                        </a:ext>
                      </a:extLst>
                    </a:gridCol>
                    <a:gridCol w="5257800">
                      <a:extLst>
                        <a:ext uri="{9D8B030D-6E8A-4147-A177-3AD203B41FA5}">
                          <a16:colId xmlns:a16="http://schemas.microsoft.com/office/drawing/2014/main" val="139879684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buNone/>
                          </a:pPr>
                          <a:r>
                            <a:rPr lang="ru-RU" sz="16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Модель</a:t>
                          </a:r>
                          <a:endParaRPr lang="ru-RU" sz="1800" dirty="0"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buNone/>
                          </a:pPr>
                          <a:r>
                            <a:rPr lang="ru-RU" sz="16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Описание</a:t>
                          </a:r>
                          <a:endParaRPr lang="ru-RU" sz="1800" dirty="0"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48793265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buNone/>
                          </a:pPr>
                          <a:r>
                            <a:rPr lang="ru-RU" sz="1400" dirty="0" err="1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Ridge</a:t>
                          </a:r>
                          <a:r>
                            <a:rPr lang="ru-RU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(L2-регуляризация)</a:t>
                          </a:r>
                          <a:endParaRPr lang="ru-RU" sz="1600" dirty="0"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40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  <m:r>
                                  <a:rPr lang="en-US" sz="1400">
                                    <a:effectLst/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400" b="0" i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50</m:t>
                                </m:r>
                              </m:oMath>
                            </m:oMathPara>
                          </a14:m>
                          <a:endParaRPr lang="ru-RU" sz="1600" dirty="0"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8265052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buNone/>
                          </a:pPr>
                          <a:r>
                            <a:rPr lang="ru-RU" sz="1400" dirty="0" err="1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Lasso</a:t>
                          </a:r>
                          <a:r>
                            <a:rPr lang="ru-RU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(L1-регуляризация)</a:t>
                          </a:r>
                          <a:endParaRPr lang="ru-RU" sz="1600" dirty="0"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400">
                                    <a:effectLst/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  <m:r>
                                  <a:rPr lang="en-US" sz="1400">
                                    <a:effectLst/>
                                    <a:latin typeface="Cambria Math" panose="02040503050406030204" pitchFamily="18" charset="0"/>
                                  </a:rPr>
                                  <m:t>=0,01</m:t>
                                </m:r>
                              </m:oMath>
                            </m:oMathPara>
                          </a14:m>
                          <a:endParaRPr lang="ru-RU" sz="1600" dirty="0"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5663340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buNone/>
                          </a:pPr>
                          <a:r>
                            <a:rPr lang="ru-RU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Random Forest</a:t>
                          </a:r>
                          <a:endParaRPr lang="ru-RU" sz="1600"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buNone/>
                          </a:pPr>
                          <a:r>
                            <a:rPr lang="ru-RU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200 деревьев, максимальная глубина 1</a:t>
                          </a:r>
                          <a:r>
                            <a:rPr lang="en-US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</a:t>
                          </a:r>
                          <a:endParaRPr lang="ru-RU" sz="1600" dirty="0"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23124978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buNone/>
                          </a:pPr>
                          <a:r>
                            <a:rPr lang="ru-RU" sz="1400" dirty="0" err="1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Gradient</a:t>
                          </a:r>
                          <a:r>
                            <a:rPr lang="ru-RU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ru-RU" sz="1400" dirty="0" err="1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Boosting</a:t>
                          </a:r>
                          <a:endParaRPr lang="ru-RU" sz="1600" dirty="0"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buNone/>
                          </a:pPr>
                          <a:r>
                            <a:rPr lang="ru-RU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</a:t>
                          </a:r>
                          <a:r>
                            <a:rPr lang="en-US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  <a:r>
                            <a:rPr lang="ru-RU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 деревьев, скорость обучения 0,05, глубина </a:t>
                          </a:r>
                          <a:r>
                            <a:rPr lang="en-US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</a:t>
                          </a:r>
                          <a:endParaRPr lang="ru-RU" sz="1600" dirty="0"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36071292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8" name="Таблица 7">
                <a:extLst>
                  <a:ext uri="{FF2B5EF4-FFF2-40B4-BE49-F238E27FC236}">
                    <a16:creationId xmlns:a16="http://schemas.microsoft.com/office/drawing/2014/main" id="{B96FBBD8-B6C5-71E6-E401-F173812B9CD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05347950"/>
                  </p:ext>
                </p:extLst>
              </p:nvPr>
            </p:nvGraphicFramePr>
            <p:xfrm>
              <a:off x="838180" y="1422494"/>
              <a:ext cx="10515600" cy="1854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257800">
                      <a:extLst>
                        <a:ext uri="{9D8B030D-6E8A-4147-A177-3AD203B41FA5}">
                          <a16:colId xmlns:a16="http://schemas.microsoft.com/office/drawing/2014/main" val="3001914746"/>
                        </a:ext>
                      </a:extLst>
                    </a:gridCol>
                    <a:gridCol w="5257800">
                      <a:extLst>
                        <a:ext uri="{9D8B030D-6E8A-4147-A177-3AD203B41FA5}">
                          <a16:colId xmlns:a16="http://schemas.microsoft.com/office/drawing/2014/main" val="139879684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buNone/>
                          </a:pPr>
                          <a:r>
                            <a:rPr lang="ru-RU" sz="16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Модель</a:t>
                          </a:r>
                          <a:endParaRPr lang="ru-RU" sz="1800" dirty="0"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buNone/>
                          </a:pPr>
                          <a:r>
                            <a:rPr lang="ru-RU" sz="16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Описание</a:t>
                          </a:r>
                          <a:endParaRPr lang="ru-RU" sz="1800" dirty="0"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48793265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buNone/>
                          </a:pPr>
                          <a:r>
                            <a:rPr lang="ru-RU" sz="1400" dirty="0" err="1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Ridge</a:t>
                          </a:r>
                          <a:r>
                            <a:rPr lang="ru-RU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(L2-регуляризация)</a:t>
                          </a:r>
                          <a:endParaRPr lang="ru-RU" sz="1600" dirty="0"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100116" t="-101639" r="-463" b="-3049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265052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buNone/>
                          </a:pPr>
                          <a:r>
                            <a:rPr lang="ru-RU" sz="1400" dirty="0" err="1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Lasso</a:t>
                          </a:r>
                          <a:r>
                            <a:rPr lang="ru-RU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(L1-регуляризация)</a:t>
                          </a:r>
                          <a:endParaRPr lang="ru-RU" sz="1600" dirty="0"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100116" t="-201639" r="-463" b="-2049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663340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buNone/>
                          </a:pPr>
                          <a:r>
                            <a:rPr lang="ru-RU" sz="140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Random Forest</a:t>
                          </a:r>
                          <a:endParaRPr lang="ru-RU" sz="1600"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buNone/>
                          </a:pPr>
                          <a:r>
                            <a:rPr lang="ru-RU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200 деревьев, максимальная глубина 1</a:t>
                          </a:r>
                          <a:r>
                            <a:rPr lang="en-US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</a:t>
                          </a:r>
                          <a:endParaRPr lang="ru-RU" sz="1600" dirty="0"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23124978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buNone/>
                          </a:pPr>
                          <a:r>
                            <a:rPr lang="ru-RU" sz="1400" dirty="0" err="1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Gradient</a:t>
                          </a:r>
                          <a:r>
                            <a:rPr lang="ru-RU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ru-RU" sz="1400" dirty="0" err="1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Boosting</a:t>
                          </a:r>
                          <a:endParaRPr lang="ru-RU" sz="1600" dirty="0"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buNone/>
                          </a:pPr>
                          <a:r>
                            <a:rPr lang="ru-RU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</a:t>
                          </a:r>
                          <a:r>
                            <a:rPr lang="en-US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  <a:r>
                            <a:rPr lang="ru-RU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 деревьев, скорость обучения 0,05, глубина </a:t>
                          </a:r>
                          <a:r>
                            <a:rPr lang="en-US" sz="1400" dirty="0">
                              <a:effectLst/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</a:t>
                          </a:r>
                          <a:endParaRPr lang="ru-RU" sz="1600" dirty="0">
                            <a:effectLst/>
                            <a:latin typeface="Times New Roman" panose="02020603050405020304" pitchFamily="18" charset="0"/>
                            <a:ea typeface="SimSun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360712923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A403F49E-38C0-66BC-6187-0643F48C59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4724" y="3440120"/>
            <a:ext cx="4442460" cy="3092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0789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4C178-0CE9-146B-C088-5C561916DE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CB56A45-1AF0-7B9E-3E87-CA68F5A3D4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694240"/>
          </a:xfrm>
        </p:spPr>
        <p:txBody>
          <a:bodyPr>
            <a:norm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Важность признаков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1057F304-03F2-59C6-F147-EDACD357E7B7}"/>
              </a:ext>
            </a:extLst>
          </p:cNvPr>
          <p:cNvSpPr txBox="1">
            <a:spLocks/>
          </p:cNvSpPr>
          <p:nvPr/>
        </p:nvSpPr>
        <p:spPr>
          <a:xfrm>
            <a:off x="838200" y="904373"/>
            <a:ext cx="10515600" cy="6942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35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34F1F8-1055-B07B-3747-4021F7E162BA}"/>
              </a:ext>
            </a:extLst>
          </p:cNvPr>
          <p:cNvSpPr txBox="1"/>
          <p:nvPr/>
        </p:nvSpPr>
        <p:spPr>
          <a:xfrm>
            <a:off x="11353796" y="5992297"/>
            <a:ext cx="8382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15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E92686E-6DD9-BF3A-68C4-6C882F0698DA}"/>
                  </a:ext>
                </a:extLst>
              </p:cNvPr>
              <p:cNvSpPr txBox="1"/>
              <p:nvPr/>
            </p:nvSpPr>
            <p:spPr>
              <a:xfrm>
                <a:off x="838198" y="5667910"/>
                <a:ext cx="10515598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Логарифм рыночная стоимость — главный фактор (32,1%).</a:t>
                </a:r>
              </a:p>
              <a:p>
                <a:r>
                  <a:rPr lang="ru-RU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Permutation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importance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подтверждает значимость возраст и </a:t>
                </a:r>
                <a14:m>
                  <m:oMath xmlns:m="http://schemas.openxmlformats.org/officeDocument/2006/math">
                    <m:r>
                      <a:rPr lang="ru-RU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возрас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ru-RU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т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E92686E-6DD9-BF3A-68C4-6C882F0698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8" y="5667910"/>
                <a:ext cx="10515598" cy="646331"/>
              </a:xfrm>
              <a:prstGeom prst="rect">
                <a:avLst/>
              </a:prstGeom>
              <a:blipFill>
                <a:blip r:embed="rId2"/>
                <a:stretch>
                  <a:fillRect l="-464" t="-5660" b="-1415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3">
            <a:extLst>
              <a:ext uri="{FF2B5EF4-FFF2-40B4-BE49-F238E27FC236}">
                <a16:creationId xmlns:a16="http://schemas.microsoft.com/office/drawing/2014/main" id="{3B6CCA66-E2D1-411D-5601-1D3FF873A9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55972" y="4945856"/>
            <a:ext cx="3482626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Рисунок </a:t>
            </a:r>
            <a:r>
              <a:rPr lang="ru-RU" altLang="ru-RU" sz="1400" b="1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7</a:t>
            </a:r>
            <a:r>
              <a:rPr kumimoji="0" lang="ru-RU" altLang="ru-RU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 — Анализ важных признаков</a:t>
            </a:r>
            <a:endParaRPr kumimoji="0" lang="ru-RU" altLang="ru-RU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3" name="Rectangle 3">
            <a:extLst>
              <a:ext uri="{FF2B5EF4-FFF2-40B4-BE49-F238E27FC236}">
                <a16:creationId xmlns:a16="http://schemas.microsoft.com/office/drawing/2014/main" id="{7537B3A6-0D5A-5D4F-6402-19A431F8AF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74109" y="4876841"/>
            <a:ext cx="3979690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Рисунок 8 — Анализ важных признаков по </a:t>
            </a:r>
            <a:r>
              <a:rPr kumimoji="0" lang="ru-RU" altLang="ru-RU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permutation</a:t>
            </a:r>
            <a:endParaRPr kumimoji="0" lang="ru-RU" altLang="ru-RU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E298C689-464C-55F3-8DA3-8A098F1E628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102" y="1059365"/>
            <a:ext cx="5577841" cy="3705228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1D799439-A33E-0A9F-C749-2A6C00CE146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5058" y="1059367"/>
            <a:ext cx="5577840" cy="370522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515776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040578-7592-8FF6-8952-7E1C6154B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8675EF0-E539-B3F7-7B1E-27E07BAFF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694240"/>
          </a:xfrm>
        </p:spPr>
        <p:txBody>
          <a:bodyPr>
            <a:norm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Тестирование на реальных трансферах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8F469A04-B3F2-F521-81FE-EA239A84CCBB}"/>
              </a:ext>
            </a:extLst>
          </p:cNvPr>
          <p:cNvSpPr txBox="1">
            <a:spLocks/>
          </p:cNvSpPr>
          <p:nvPr/>
        </p:nvSpPr>
        <p:spPr>
          <a:xfrm>
            <a:off x="838200" y="904373"/>
            <a:ext cx="10515600" cy="6942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35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311990-466E-DFFD-E480-415FE043E092}"/>
              </a:ext>
            </a:extLst>
          </p:cNvPr>
          <p:cNvSpPr txBox="1"/>
          <p:nvPr/>
        </p:nvSpPr>
        <p:spPr>
          <a:xfrm>
            <a:off x="11353795" y="5992297"/>
            <a:ext cx="8382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16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B86D103-2D5F-2737-F88C-948665BA9C60}"/>
              </a:ext>
            </a:extLst>
          </p:cNvPr>
          <p:cNvSpPr txBox="1"/>
          <p:nvPr/>
        </p:nvSpPr>
        <p:spPr>
          <a:xfrm>
            <a:off x="838197" y="4822745"/>
            <a:ext cx="1051559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Относительная ошибка прогноза на трансферах (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Бензема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Гризманн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Суарес и др.) составила от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% до 1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%, что подтверждает практическую применимость модели.</a:t>
            </a:r>
          </a:p>
        </p:txBody>
      </p:sp>
      <p:graphicFrame>
        <p:nvGraphicFramePr>
          <p:cNvPr id="6" name="Таблица 5">
            <a:extLst>
              <a:ext uri="{FF2B5EF4-FFF2-40B4-BE49-F238E27FC236}">
                <a16:creationId xmlns:a16="http://schemas.microsoft.com/office/drawing/2014/main" id="{5CE64709-46A3-F2A5-8AC4-0E5934D694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0060316"/>
              </p:ext>
            </p:extLst>
          </p:nvPr>
        </p:nvGraphicFramePr>
        <p:xfrm>
          <a:off x="838197" y="1426646"/>
          <a:ext cx="1051560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332630853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1808601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282859084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2546580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25376144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400" b="1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Игрок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400" b="1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Сезон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400" b="1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Фактическая стоимость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400" b="1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Прогноз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400" b="1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Ошибка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9941402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Карим </a:t>
                      </a:r>
                      <a:r>
                        <a:rPr lang="ru-RU" sz="1400" dirty="0" err="1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Бензема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40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2009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35 млн. евро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31,</a:t>
                      </a:r>
                      <a:r>
                        <a:rPr lang="en-US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9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 млн. Евро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8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,</a:t>
                      </a:r>
                      <a:r>
                        <a:rPr lang="en-US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7 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%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49242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Златан Ибрагимович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40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2011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40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24 млн. евро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22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,</a:t>
                      </a:r>
                      <a:r>
                        <a:rPr lang="en-US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7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 млн. Евро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5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,</a:t>
                      </a:r>
                      <a:r>
                        <a:rPr lang="en-US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4 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%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659842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Антуан </a:t>
                      </a:r>
                      <a:r>
                        <a:rPr lang="ru-RU" sz="1400" dirty="0" err="1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Гризманн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40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2019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120 млн. евро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r>
                        <a:rPr lang="en-US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25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,</a:t>
                      </a:r>
                      <a:r>
                        <a:rPr lang="en-US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 млн. Евро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4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,</a:t>
                      </a:r>
                      <a:r>
                        <a:rPr lang="en-US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3 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%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5108818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Луис Суарес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2022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40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10 млн. евро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9,</a:t>
                      </a:r>
                      <a:r>
                        <a:rPr lang="en-US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4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 млн. Евро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5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,</a:t>
                      </a:r>
                      <a:r>
                        <a:rPr lang="en-US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7 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%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1728872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Кристьян </a:t>
                      </a:r>
                      <a:r>
                        <a:rPr lang="ru-RU" sz="1400" dirty="0" err="1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Аслани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40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2023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40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15,7 млн. евро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13,</a:t>
                      </a:r>
                      <a:r>
                        <a:rPr lang="en-US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 млн. Евро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15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,</a:t>
                      </a:r>
                      <a:r>
                        <a:rPr lang="en-US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3 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%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8221133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400" dirty="0" err="1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Арнау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400" dirty="0" err="1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Тенас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2025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2,5 млн. евро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2,</a:t>
                      </a:r>
                      <a:r>
                        <a:rPr lang="en-US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9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 млн. евро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14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,</a:t>
                      </a:r>
                      <a:r>
                        <a:rPr lang="en-US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2 </a:t>
                      </a:r>
                      <a:r>
                        <a:rPr lang="ru-RU" sz="1400" dirty="0">
                          <a:effectLst/>
                          <a:latin typeface="Times New Roman" panose="02020603050405020304" pitchFamily="18" charset="0"/>
                          <a:ea typeface="SimSun" panose="02010600030101010101" pitchFamily="2" charset="-122"/>
                          <a:cs typeface="Times New Roman" panose="02020603050405020304" pitchFamily="18" charset="0"/>
                        </a:rPr>
                        <a:t>%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  <a:cs typeface="Mangal" panose="02040503050203030202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942797844"/>
                  </a:ext>
                </a:extLst>
              </a:tr>
            </a:tbl>
          </a:graphicData>
        </a:graphic>
      </p:graphicFrame>
      <p:sp>
        <p:nvSpPr>
          <p:cNvPr id="9" name="Rectangle 1">
            <a:extLst>
              <a:ext uri="{FF2B5EF4-FFF2-40B4-BE49-F238E27FC236}">
                <a16:creationId xmlns:a16="http://schemas.microsoft.com/office/drawing/2014/main" id="{6AA7DE48-DC38-5B90-6D52-3746289DFE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198" y="1140040"/>
            <a:ext cx="10515599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Таблица </a:t>
            </a:r>
            <a:r>
              <a:rPr kumimoji="0" lang="en-US" altLang="ru-RU" sz="1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4</a:t>
            </a:r>
            <a:r>
              <a:rPr kumimoji="0" lang="ru-RU" altLang="ru-RU" sz="1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 — Результаты прогноза для конкретных трансферов</a:t>
            </a: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76163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CD16B9-ED74-FE34-0320-C6DCAB193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DC88620-C3F0-C126-6CBD-97F5F7F60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694240"/>
          </a:xfrm>
        </p:spPr>
        <p:txBody>
          <a:bodyPr>
            <a:norm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Заключение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92D4408-569D-7789-DE11-18519E57E30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98613"/>
                <a:ext cx="10515600" cy="4578350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lnSpc>
                    <a:spcPct val="120000"/>
                  </a:lnSpc>
                  <a:buNone/>
                </a:pP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Цель достигнута: разработана модель оценки стоимости футбольных трансферов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;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Задачи решены:</a:t>
                </a:r>
              </a:p>
              <a:p>
                <a:pPr marL="0" indent="449263">
                  <a:lnSpc>
                    <a:spcPct val="120000"/>
                  </a:lnSpc>
                </a:pP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Проанализирована предметная область и выделены ключевые факторы стоимости.</a:t>
                </a:r>
              </a:p>
              <a:p>
                <a:pPr marL="0" indent="449263">
                  <a:lnSpc>
                    <a:spcPct val="120000"/>
                  </a:lnSpc>
                </a:pP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Проведён обзор существующих решений (</a:t>
                </a:r>
                <a:r>
                  <a:rPr lang="ru-RU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Transfermarkt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CIES).</a:t>
                </a:r>
              </a:p>
              <a:p>
                <a:pPr marL="0" indent="449263">
                  <a:lnSpc>
                    <a:spcPct val="120000"/>
                  </a:lnSpc>
                </a:pP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Сформулирована исследовательская задача, определены метрики и ограничения.</a:t>
                </a:r>
              </a:p>
              <a:p>
                <a:pPr marL="0" indent="449263">
                  <a:lnSpc>
                    <a:spcPct val="120000"/>
                  </a:lnSpc>
                </a:pP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Выполнены сбор, очистка, предобработка данных и генерация новых признаков.</a:t>
                </a:r>
              </a:p>
              <a:p>
                <a:pPr marL="0" indent="449263">
                  <a:lnSpc>
                    <a:spcPct val="120000"/>
                  </a:lnSpc>
                </a:pP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Обучены и сравнены 4 модели ML. Лучшая — </a:t>
                </a:r>
                <a:r>
                  <a:rPr lang="ru-RU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Random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Forest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</a:t>
                </a:r>
                <a14:m>
                  <m:oMath xmlns:m="http://schemas.openxmlformats.org/officeDocument/2006/math">
                    <m:r>
                      <a:rPr lang="ru-RU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𝑅</m:t>
                    </m:r>
                    <m:r>
                      <a:rPr lang="ru-RU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² = 0,7808</m:t>
                    </m:r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ru-RU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𝑀𝐴𝐸</m:t>
                    </m:r>
                    <m:r>
                      <a:rPr lang="ru-RU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= 1,773</m:t>
                    </m:r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млн €).</a:t>
                </a:r>
              </a:p>
              <a:p>
                <a:pPr marL="0" indent="449263">
                  <a:lnSpc>
                    <a:spcPct val="120000"/>
                  </a:lnSpc>
                </a:pP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Модель протестирована на реальных трансферах (ошибка 4,3% – 15,3%)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;</a:t>
                </a:r>
                <a:endParaRPr lang="ru-RU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Подтверждена практическая применимость;</a:t>
                </a: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92D4408-569D-7789-DE11-18519E57E30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98613"/>
                <a:ext cx="10515600" cy="4578350"/>
              </a:xfrm>
              <a:blipFill>
                <a:blip r:embed="rId2"/>
                <a:stretch>
                  <a:fillRect l="-754" t="-932" r="-522" b="-26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4A1465CC-6A5D-6264-C379-61507DB4D7E2}"/>
              </a:ext>
            </a:extLst>
          </p:cNvPr>
          <p:cNvSpPr txBox="1">
            <a:spLocks/>
          </p:cNvSpPr>
          <p:nvPr/>
        </p:nvSpPr>
        <p:spPr>
          <a:xfrm>
            <a:off x="838200" y="904373"/>
            <a:ext cx="10515600" cy="6942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35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E0754D3-42DC-26C2-2D75-B7028DE514BE}"/>
              </a:ext>
            </a:extLst>
          </p:cNvPr>
          <p:cNvSpPr txBox="1"/>
          <p:nvPr/>
        </p:nvSpPr>
        <p:spPr>
          <a:xfrm>
            <a:off x="11353800" y="5992297"/>
            <a:ext cx="83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1652525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9C870-D15D-60C7-E8BB-811A83B68C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3D4BD8-C2DA-87BC-9FB2-4372C0548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94563" y="3081880"/>
            <a:ext cx="4402873" cy="694240"/>
          </a:xfrm>
        </p:spPr>
        <p:txBody>
          <a:bodyPr>
            <a:norm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Благодарю за внимание!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6E373E51-BF8B-6B97-9709-BFC0B15C7D7B}"/>
              </a:ext>
            </a:extLst>
          </p:cNvPr>
          <p:cNvSpPr txBox="1">
            <a:spLocks/>
          </p:cNvSpPr>
          <p:nvPr/>
        </p:nvSpPr>
        <p:spPr>
          <a:xfrm>
            <a:off x="838200" y="904373"/>
            <a:ext cx="10515600" cy="6942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35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99107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AE1FBF-AD12-D4A2-081C-496C0AF96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;p1">
            <a:extLst>
              <a:ext uri="{FF2B5EF4-FFF2-40B4-BE49-F238E27FC236}">
                <a16:creationId xmlns:a16="http://schemas.microsoft.com/office/drawing/2014/main" id="{8FE41D9F-914F-3EC0-566D-484C24705FFC}"/>
              </a:ext>
            </a:extLst>
          </p:cNvPr>
          <p:cNvSpPr/>
          <p:nvPr/>
        </p:nvSpPr>
        <p:spPr bwMode="auto">
          <a:xfrm>
            <a:off x="-4" y="2158305"/>
            <a:ext cx="12192001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>
              <a:defRPr/>
            </a:pPr>
            <a:r>
              <a:rPr lang="ru-RU" sz="2000" dirty="0">
                <a:solidFill>
                  <a:schemeClr val="dk1"/>
                </a:solidFill>
                <a:latin typeface="Century Gothic"/>
                <a:ea typeface="Century Gothic"/>
                <a:cs typeface="Century Gothic"/>
              </a:rPr>
              <a:t> </a:t>
            </a:r>
            <a:r>
              <a:rPr lang="ru-RU" sz="20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</a:rPr>
              <a:t>Институт информационных технологий (ИИТ)</a:t>
            </a:r>
            <a:endParaRPr sz="2000" dirty="0"/>
          </a:p>
          <a:p>
            <a:pPr algn="ctr">
              <a:defRPr/>
            </a:pPr>
            <a:r>
              <a:rPr lang="ru-RU" sz="16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</a:rPr>
              <a:t>Кафедра прикладной математики</a:t>
            </a:r>
            <a:endParaRPr sz="1600" dirty="0">
              <a:solidFill>
                <a:schemeClr val="dk1"/>
              </a:solidFill>
              <a:latin typeface="Century Gothic"/>
              <a:ea typeface="Century Gothic"/>
              <a:cs typeface="Century Gothic"/>
            </a:endParaRPr>
          </a:p>
        </p:txBody>
      </p:sp>
      <p:sp>
        <p:nvSpPr>
          <p:cNvPr id="9" name="Google Shape;173;p1">
            <a:extLst>
              <a:ext uri="{FF2B5EF4-FFF2-40B4-BE49-F238E27FC236}">
                <a16:creationId xmlns:a16="http://schemas.microsoft.com/office/drawing/2014/main" id="{AEBE3451-456A-1C86-81B4-D8BA38AC5E90}"/>
              </a:ext>
            </a:extLst>
          </p:cNvPr>
          <p:cNvSpPr/>
          <p:nvPr/>
        </p:nvSpPr>
        <p:spPr bwMode="auto">
          <a:xfrm>
            <a:off x="0" y="6367586"/>
            <a:ext cx="12191999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>
              <a:defRPr/>
            </a:pPr>
            <a:r>
              <a:rPr lang="ru-RU" sz="16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</a:rPr>
              <a:t>Москва 2026</a:t>
            </a:r>
            <a:endParaRPr sz="1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203F08C-8357-0E7E-F414-01207629489D}"/>
              </a:ext>
            </a:extLst>
          </p:cNvPr>
          <p:cNvSpPr txBox="1"/>
          <p:nvPr/>
        </p:nvSpPr>
        <p:spPr bwMode="auto">
          <a:xfrm>
            <a:off x="117137" y="4713219"/>
            <a:ext cx="1207486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Автор: студент группы ИМБО-02-22</a:t>
            </a:r>
          </a:p>
          <a:p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Ким Кирилл Сергеевич</a:t>
            </a:r>
            <a:b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Руководитель: к.ф.-м.н., доцент кафедры прикладной математики</a:t>
            </a:r>
          </a:p>
          <a:p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Даева Софья Георгиевна</a:t>
            </a:r>
          </a:p>
        </p:txBody>
      </p:sp>
      <p:sp>
        <p:nvSpPr>
          <p:cNvPr id="11" name="Google Shape;170;p1">
            <a:extLst>
              <a:ext uri="{FF2B5EF4-FFF2-40B4-BE49-F238E27FC236}">
                <a16:creationId xmlns:a16="http://schemas.microsoft.com/office/drawing/2014/main" id="{07CBADD2-B68E-AFEF-9628-57F8D3038F2B}"/>
              </a:ext>
            </a:extLst>
          </p:cNvPr>
          <p:cNvSpPr/>
          <p:nvPr/>
        </p:nvSpPr>
        <p:spPr bwMode="auto">
          <a:xfrm>
            <a:off x="-5" y="2735454"/>
            <a:ext cx="12191999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>
              <a:defRPr/>
            </a:pPr>
            <a:r>
              <a:rPr lang="ru-RU" sz="16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</a:rPr>
              <a:t>Направление «Прикладная математика»</a:t>
            </a:r>
          </a:p>
          <a:p>
            <a:pPr algn="ctr">
              <a:defRPr/>
            </a:pPr>
            <a:r>
              <a:rPr lang="ru-RU" sz="1600" dirty="0">
                <a:solidFill>
                  <a:schemeClr val="dk1"/>
                </a:solidFill>
                <a:latin typeface="Times New Roman"/>
                <a:ea typeface="Century Gothic"/>
                <a:cs typeface="Times New Roman"/>
              </a:rPr>
              <a:t>профиль «Анализ данных»</a:t>
            </a:r>
            <a:endParaRPr sz="1600" dirty="0">
              <a:solidFill>
                <a:schemeClr val="dk1"/>
              </a:solidFill>
              <a:latin typeface="Century Gothic"/>
              <a:ea typeface="Century Gothic"/>
              <a:cs typeface="Century Gothic"/>
            </a:endParaRPr>
          </a:p>
        </p:txBody>
      </p:sp>
      <p:pic>
        <p:nvPicPr>
          <p:cNvPr id="13" name="Google Shape;168;p1">
            <a:extLst>
              <a:ext uri="{FF2B5EF4-FFF2-40B4-BE49-F238E27FC236}">
                <a16:creationId xmlns:a16="http://schemas.microsoft.com/office/drawing/2014/main" id="{878D61B3-E710-8311-7419-7CF8961DD624}"/>
              </a:ext>
            </a:extLst>
          </p:cNvPr>
          <p:cNvPicPr/>
          <p:nvPr/>
        </p:nvPicPr>
        <p:blipFill>
          <a:blip r:embed="rId2">
            <a:alphaModFix/>
          </a:blip>
          <a:stretch/>
        </p:blipFill>
        <p:spPr bwMode="auto">
          <a:xfrm>
            <a:off x="5652913" y="241186"/>
            <a:ext cx="886165" cy="981423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C6ECC6C1-CADC-7E2C-2EC9-B9EAC1D8F823}"/>
              </a:ext>
            </a:extLst>
          </p:cNvPr>
          <p:cNvSpPr txBox="1"/>
          <p:nvPr/>
        </p:nvSpPr>
        <p:spPr>
          <a:xfrm>
            <a:off x="1276342" y="1271423"/>
            <a:ext cx="9639306" cy="9814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09728" marR="109728" indent="0" algn="ctr" rtl="0" eaLnBrk="1" fontAlgn="t" latinLnBrk="0" hangingPunct="1">
              <a:lnSpc>
                <a:spcPct val="107000"/>
              </a:lnSpc>
              <a:buNone/>
            </a:pPr>
            <a:r>
              <a:rPr lang="ru-RU" sz="1800" b="0" i="0" u="none" strike="noStrike" kern="12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МИНИСТЕРСТВО НАУКИ И ВЫСШЕГО ОБРАЗОВАНИЯ РОССИЙСКОЙ ФЕДЕРАЦИИ</a:t>
            </a:r>
            <a:endParaRPr lang="ru-RU" sz="1800" b="0" i="0" u="none" strike="noStrike" dirty="0">
              <a:effectLst/>
              <a:latin typeface="Arial" panose="020B0604020202020204" pitchFamily="34" charset="0"/>
            </a:endParaRPr>
          </a:p>
          <a:p>
            <a:pPr marL="109728" marR="109728" indent="0" algn="ctr" rtl="0" eaLnBrk="1" fontAlgn="t" latinLnBrk="0" hangingPunct="1">
              <a:lnSpc>
                <a:spcPct val="107000"/>
              </a:lnSpc>
              <a:buNone/>
            </a:pPr>
            <a:r>
              <a:rPr lang="ru-RU" sz="1800" b="0" i="0" u="none" strike="noStrike" kern="12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Федеральное государственное бюджетное образовательное учреждение высшего образования</a:t>
            </a:r>
            <a:endParaRPr lang="ru-RU" sz="1800" b="0" i="0" u="none" strike="noStrike" dirty="0">
              <a:effectLst/>
              <a:latin typeface="Arial" panose="020B0604020202020204" pitchFamily="34" charset="0"/>
            </a:endParaRPr>
          </a:p>
          <a:p>
            <a:pPr marL="109728" marR="109728" indent="0" algn="ctr" rtl="0" eaLnBrk="1" fontAlgn="t" latinLnBrk="0" hangingPunct="1">
              <a:lnSpc>
                <a:spcPct val="107000"/>
              </a:lnSpc>
            </a:pPr>
            <a:r>
              <a:rPr lang="ru-RU" sz="1800" b="1" i="0" u="none" strike="noStrike" kern="12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«МИРЭА - Российский технологический университет»</a:t>
            </a:r>
            <a:endParaRPr lang="ru-RU" sz="1800" b="0" i="0" u="none" strike="noStrike" dirty="0">
              <a:effectLst/>
              <a:latin typeface="Arial" panose="020B0604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5F09BE3-7026-83DF-DF47-0A478733ECC9}"/>
              </a:ext>
            </a:extLst>
          </p:cNvPr>
          <p:cNvSpPr txBox="1"/>
          <p:nvPr/>
        </p:nvSpPr>
        <p:spPr>
          <a:xfrm>
            <a:off x="5" y="3381744"/>
            <a:ext cx="12191995" cy="6651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44245" marR="853439" lvl="0" indent="0" algn="ctr" defTabSz="91440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>
                <a:solidFill>
                  <a:schemeClr val="dk1"/>
                </a:solidFill>
                <a:latin typeface="Times New Roman"/>
                <a:ea typeface="Century Gothic"/>
                <a:cs typeface="Times New Roman"/>
              </a:rPr>
              <a:t>Выпускная квалификационная работа бакалавра на тему:</a:t>
            </a:r>
          </a:p>
          <a:p>
            <a:pPr marR="853439" lvl="0" indent="942975" algn="ctr" defTabSz="91440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ru-RU" sz="1800" b="1" i="0" u="none" strike="noStrike" cap="none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«Разработка модели оценки стоимости футбольных трансферов</a:t>
            </a:r>
            <a:r>
              <a:rPr lang="ru-RU" sz="1800" b="1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»</a:t>
            </a:r>
            <a:endParaRPr lang="ru-RU" sz="1800" b="1" u="none" strike="noStrike" cap="none" dirty="0"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441506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3108</TotalTime>
  <Words>1181</Words>
  <Application>Microsoft Office PowerPoint</Application>
  <PresentationFormat>Широкоэкранный</PresentationFormat>
  <Paragraphs>206</Paragraphs>
  <Slides>19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19</vt:i4>
      </vt:variant>
    </vt:vector>
  </HeadingPairs>
  <TitlesOfParts>
    <vt:vector size="26" baseType="lpstr">
      <vt:lpstr>Aptos</vt:lpstr>
      <vt:lpstr>Aptos Display</vt:lpstr>
      <vt:lpstr>Arial</vt:lpstr>
      <vt:lpstr>Cambria Math</vt:lpstr>
      <vt:lpstr>Century Gothic</vt:lpstr>
      <vt:lpstr>Times New Roman</vt:lpstr>
      <vt:lpstr>Тема Office</vt:lpstr>
      <vt:lpstr>Презентация PowerPoint</vt:lpstr>
      <vt:lpstr>Цель, объект и предмет исследования</vt:lpstr>
      <vt:lpstr>Задачи исследования</vt:lpstr>
      <vt:lpstr>Характеристика предметной области</vt:lpstr>
      <vt:lpstr>Обзор существующих решений</vt:lpstr>
      <vt:lpstr>Формулировка исследовательской задачи</vt:lpstr>
      <vt:lpstr>Анализ и характеристика входных данных</vt:lpstr>
      <vt:lpstr>ER-диаграмма</vt:lpstr>
      <vt:lpstr>Описание этапов разработки модели</vt:lpstr>
      <vt:lpstr>Обоснование выбора инструментов</vt:lpstr>
      <vt:lpstr>Распределение трансферных сумм</vt:lpstr>
      <vt:lpstr>Презентация PowerPoint</vt:lpstr>
      <vt:lpstr>Временная валидация и подбор гиперпараметров</vt:lpstr>
      <vt:lpstr>Реализация модели и анализ результатов</vt:lpstr>
      <vt:lpstr>Важность признаков</vt:lpstr>
      <vt:lpstr>Тестирование на реальных трансферах</vt:lpstr>
      <vt:lpstr>Заключение</vt:lpstr>
      <vt:lpstr>Благодарю за внимание!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Microsoft Office User</dc:creator>
  <cp:lastModifiedBy>Кирилл Ким</cp:lastModifiedBy>
  <cp:revision>127</cp:revision>
  <dcterms:created xsi:type="dcterms:W3CDTF">2025-04-21T14:08:12Z</dcterms:created>
  <dcterms:modified xsi:type="dcterms:W3CDTF">2026-05-11T21:47:05Z</dcterms:modified>
</cp:coreProperties>
</file>