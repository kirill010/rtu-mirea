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5" r:id="rId6"/>
    <p:sldId id="264" r:id="rId7"/>
    <p:sldId id="271" r:id="rId8"/>
    <p:sldId id="272" r:id="rId9"/>
    <p:sldId id="263" r:id="rId10"/>
    <p:sldId id="262" r:id="rId11"/>
    <p:sldId id="267" r:id="rId12"/>
    <p:sldId id="270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753"/>
  </p:normalViewPr>
  <p:slideViewPr>
    <p:cSldViewPr snapToGrid="0">
      <p:cViewPr varScale="1">
        <p:scale>
          <a:sx n="75" d="100"/>
          <a:sy n="75" d="100"/>
        </p:scale>
        <p:origin x="7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F736-CFBC-DB42-8902-918977A31BB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EE31B-A035-6343-984B-37A45EFB56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8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D87D1-45A2-E472-75FC-17B3DED4D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A7ED59-FEAB-8D18-D3FD-973D6CBE8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20EB6-B746-9736-AF04-5DFEFA78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50DB-F8F9-A345-8ACF-B172BB4CC835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7CD2FD-9AC7-9169-F246-1AAC503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60944-5595-F8F3-A6BE-F455E51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97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5CD39-9F1F-2CF7-CB40-0AF5A5D9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7D4CB-BECB-42B0-4B1D-7F3D1B90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7B4CF-0E63-B6AA-3CFC-34DD8F4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D4C3-C482-8D47-AEDA-F24D432152B4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7A236-002F-A08C-D8F6-75B6B2FF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DA284-FF34-38B3-F8AB-6EEA20D6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02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37AA7-7424-EB50-2B17-CC7D519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86DB8-15B5-1B12-8054-1FE9791B8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9E6355-09BB-E0E8-FDFD-0C14AA80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93C7-0C3C-3D4E-827B-EA584AF6C465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C4DA0-BCEC-7C8F-41F0-5DADC57F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E3040-8906-C4D7-3E9D-0FFA6940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B6DD3-4EE5-E5F2-14C8-120B3ED4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24664-5A05-7E57-5834-98EE65930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21F78E-89E7-548F-9167-5B57BE323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AC6C9D-C997-9131-440D-63B6AC75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63EE-D3F0-B14D-A1DF-4D0885D56E4A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472E2C-26A5-DD5D-311D-9773C867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EF8388-1B91-E422-008A-B7F01C65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EDC0A-A965-8143-7A65-5B17E4CD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B9DEB-BFC3-7B10-B356-F4401CF1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0852B-F25A-963E-06B9-CA188FCE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584783-B214-F762-4137-ED15FC44F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F4881A-07F5-A186-C5E4-584AA707A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FE964E-E77D-E7BD-9C76-D870F11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F580-4A02-7749-8695-6F7A14F168A5}" type="datetime1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E073EA-AE1E-C763-02FC-D84C5EAD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C26086-B817-78C0-503F-3818C328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4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C6F76-BC38-9937-6149-C1737DF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5437A-5DA7-F805-0B45-E6BD9E62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2E72-AE73-9645-9180-4139BDD17A06}" type="datetime1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824D91-FD26-1B64-1314-74F12CD4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945FEC-E1B3-704D-DDAB-3521CBB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47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99DD46-7CFC-CAEF-D4DF-17BB2007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39E5-2434-9D49-A354-72490D6D8D81}" type="datetime1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094F6F-4AEA-72AE-C522-0F82FBE1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290D3-5FFF-FCB2-0067-ECA0CF0C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30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AC7F0-9F7D-1BDC-4B8A-8A364A5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24ABA4-213B-D855-D2B4-36A61B7FA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44B12-13C4-E945-1C73-5C567591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200AB-A6A8-651D-40B7-0640B061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8D45-2A78-F24B-B5AB-66E869CA231F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833DDA-5DC2-EC03-605D-3E8C7366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A67AC7-80A3-D4B3-00D7-775C170C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3B929-9876-B81F-B656-8E55DB59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A0D822-7B8D-A067-5D64-6B619CFAD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A22C61-CB15-B2E0-16A9-9DDEB557F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A6E6B-B224-F526-562E-61CB3CE2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DE2A-573E-8A49-A1E4-A11F8F365BD0}" type="datetime1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6DA3C7-CE51-1720-B6D4-4CA425CD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4734B9-57B2-7BB6-2EEA-EE18FA06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85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1C338-06FB-A315-6DD7-5CE4280E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BA173-43C9-AD4A-B2E9-EA658B0F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08D203-CBC4-E814-F68E-DC7EB326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7D5F-75DD-7D4C-8231-B51C8FBAD87E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E40B-FF8E-0915-4814-5E3018C6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D1A4B-F7EB-B7D1-77C7-79DB62BF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61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9A3BB9-CFDA-4148-B357-1361B4A38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D2B49A-DE42-3AA9-2C27-9638D6DA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6DA71-DEEC-4228-69DA-E910D6C8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D92-8BC8-7F42-A4AC-74BE4FBDEFBF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FB91D-AC96-723D-7F93-34E41391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1A548-DF9F-E7E7-8B30-F2AE015F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0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019AC-7C31-E1B2-D56A-BBF8EF7C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C7B3C-4823-64B5-86CE-7E35DE08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D23D5-FB3B-77DE-57E9-FB9393515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49629-F3D2-184C-BCB4-85078938F85A}" type="datetime1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E880AA-BA04-961F-D85F-A0D2A1318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C25524-B76D-59CA-35B8-F027B7DB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0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8FCD-C684-CF4F-AF46-68A03BC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объект, предмет и 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DD104-37BF-E720-905B-A33DC507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664"/>
            <a:ext cx="11095653" cy="513020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модель машинного обучения для прогнозирования стоимости футбольных трансферов на основе игровой активности и физических характеристик игроков.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— процесс формирования стоимости игроков на рынке трансферов.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—  математическая модель прогнозирования трансферной стоимости.</a:t>
            </a:r>
          </a:p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 и выявить ключевые факторы влияющие на трансферную стоимость.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обзор существующих решений.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исследовательскую задачу, критерии успешности, требования, ограничения.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сбор, очистку и предобработку данных.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рассчитать новые аналитические признаки.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модели машинного обучения.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эффективности нескольких алгоритмов машинного обучения.</a:t>
            </a:r>
          </a:p>
          <a:p>
            <a:pPr marL="0" indent="447675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на реальных трансферах.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FD32FF-BBFB-5F1F-332A-51F378C3D2B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2FD31-6A01-1607-9B96-D36A6A9EE169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67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FF92-4229-7936-308B-85E144D0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F7586-6EC0-F1E3-8983-3FDDD95B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7A996-CB93-6AC3-2B19-8E6D5FCE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163"/>
            <a:ext cx="10515600" cy="4351338"/>
          </a:xfrm>
        </p:spPr>
        <p:txBody>
          <a:bodyPr>
            <a:norm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Трансферный рынок — глобальная экономическая система (расходы 7,2 млрд € в 2023 г.).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факторы: возраст, игровая статистика, контракт, травмы, популярность.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Пик стоимости игроков приходится на 26-29 лет.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 неполноты данных, выбросы (суперзвёзды), временная нестабильность, субъективность.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849CEA-AF7E-D689-6B5E-D52DA386E73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D095E-2AE4-E499-3C9B-9213BE9E365B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3325DD-55AA-107B-DBB9-2CA164C7EF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745" y="3420700"/>
            <a:ext cx="5958509" cy="2940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327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BF4A-02AF-77FB-3ECD-11838F1B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8C560-3075-325B-8F8B-C88CD9FD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BCC17A4-A24D-CBBC-90E4-6BE0917B4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764533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615990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640641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76883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Недостатки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92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Transfermarkt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Коллективная экспертная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Задержка обновления,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CIES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Линейная регрессия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учитывает нелинейности, завышает топ-лиги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 / Gradient Boosting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Требуют большие данные, настройки </a:t>
                      </a:r>
                      <a:r>
                        <a:rPr lang="ru-RU" dirty="0" err="1"/>
                        <a:t>гиперпараметров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950887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C99B8D-106F-D845-BB67-4387A7947F4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7916F-5C9A-7B17-8DA7-2CC4329C12D6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8529F-72F7-50BE-F786-EA165CE243E7}"/>
              </a:ext>
            </a:extLst>
          </p:cNvPr>
          <p:cNvSpPr txBox="1"/>
          <p:nvPr/>
        </p:nvSpPr>
        <p:spPr>
          <a:xfrm>
            <a:off x="838199" y="4822875"/>
            <a:ext cx="10515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 целесообразно использовать ансамблевые методы ML.</a:t>
            </a:r>
          </a:p>
        </p:txBody>
      </p:sp>
    </p:spTree>
    <p:extLst>
      <p:ext uri="{BB962C8B-B14F-4D97-AF65-F5344CB8AC3E}">
        <p14:creationId xmlns:p14="http://schemas.microsoft.com/office/powerpoint/2010/main" val="127044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8267-C448-7C24-1925-E0A5672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15AA9-F243-4776-7B62-FEFF97B1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исследовательской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483174-7622-A79B-D1C6-AAB3F569DE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задачи: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обучающая выборка,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искомая функция прогноза.</a:t>
                </a:r>
              </a:p>
              <a:p>
                <a:r>
                  <a:rPr lang="ru-RU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Метрики</a:t>
                </a: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𝑀𝐴𝐸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евро)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𝑀𝐴𝑃𝐸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(%).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Требования: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≥0,25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интерпретируемость, воспроизводимость</a:t>
                </a:r>
                <a:r>
                  <a:rPr 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Допущения: только платные трансферы, приведение к евро, хронологическое разделение выборки.</a:t>
                </a:r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483174-7622-A79B-D1C6-AAB3F569DE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DA4427-C7F0-9AF9-0762-C77AAACA8EF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4C224-3942-C627-0103-183D3F68AD45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124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характеристика входных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6650A-2AFE-C0E3-CEE7-02D559808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 Datasets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таблиц, объём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&gt;4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млн. записей).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объединения и фильтрации — 39 997 трансферов (1973-2026).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transfer_fee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Применено логарифмирование для нормализации.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F3CCF9-0FB3-EEDC-3795-018CAC2EC8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89C9F-A3B3-4D1A-7EB9-5EE06DE227DB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1883-0670-15F9-9AAF-185F0F0D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51950-E205-D294-2028-1519D953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Разведочный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F7A47-A5E8-213B-DB98-A4E8A091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425F51-3D52-740A-6CFE-7A330F513B6C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B1B61-E34A-7B78-FCC0-8E619391E165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F0E469-0859-5188-ABBE-BAA5B1E4C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93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3">
            <a:extLst>
              <a:ext uri="{FF2B5EF4-FFF2-40B4-BE49-F238E27FC236}">
                <a16:creationId xmlns:a16="http://schemas.microsoft.com/office/drawing/2014/main" id="{B5DF06A1-1096-EEF3-663C-7015FAC4D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53" y="1214360"/>
            <a:ext cx="4658136" cy="347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ADB52DD-DA7F-EA6A-8C5F-4C300126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297" y="4782785"/>
            <a:ext cx="362204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2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2.</a:t>
            </a:r>
            <a:r>
              <a:rPr kumimoji="0" lang="ru-RU" altLang="ru-RU" sz="12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 — Распределение трансферных сумм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AB337D-C000-35F0-F76E-CCE19F19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8" name="Рисунок 2">
            <a:extLst>
              <a:ext uri="{FF2B5EF4-FFF2-40B4-BE49-F238E27FC236}">
                <a16:creationId xmlns:a16="http://schemas.microsoft.com/office/drawing/2014/main" id="{99C5BB07-FABE-81A1-3D3E-6A72DACC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1158164"/>
            <a:ext cx="5930307" cy="353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D35443A1-5BFB-F2E7-77B2-23BD50A32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737696"/>
            <a:ext cx="39986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2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2.</a:t>
            </a:r>
            <a:r>
              <a:rPr kumimoji="0" lang="ru-RU" altLang="ru-RU" sz="1200" b="1" i="0" u="none" strike="noStrike" cap="none" normalizeH="0" baseline="0" dirty="0" bmk="_Ref226977505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 — Распределение трансферных сумм после логарифмирования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0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9F93-06E6-2A75-AD13-CE407CF0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DABDE-33F5-CFD8-7623-15C8B6C5A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Разведочный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E1EEC-154C-0795-98A5-837B4741B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A7D2853-9933-EF1B-0956-E46C14BAE2D4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4A9C1-2A2D-D892-9F5A-3B505D493A2F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B965F1-7D57-8EAC-8F2D-FAC7248D2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93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282536-FC4D-A71F-60A8-CB379FD24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05" y="4961406"/>
            <a:ext cx="3998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2.5 — Средняя стоимость по возрастным группам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0235286-84E8-388E-2BA4-92E702319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6CE262-F076-C397-F9FB-C3BA2D030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247" y="4958788"/>
            <a:ext cx="39986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2.6 — Динамика стоимости трансферов по сезонам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81A50C6-03F5-0FEA-C97C-832ED1A95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86380"/>
            <a:ext cx="5908856" cy="352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AB91BE3-F720-D830-26BD-83B322B1F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143" y="1303935"/>
            <a:ext cx="5908856" cy="3524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477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модели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8A65AC-FEF2-4837-8561-A4DB1A11F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447675">
                  <a:buFont typeface="+mj-lt"/>
                  <a:buAutoNum type="arabicPeriod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Архитектура — модули загрузки, предобработки, генерации признаков, обучения, оценки.</a:t>
                </a:r>
              </a:p>
              <a:p>
                <a:pPr marL="0" indent="447675">
                  <a:buFont typeface="+mj-lt"/>
                  <a:buAutoNum type="arabicPeriod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Математический аппарат —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Ridge, Lasso, Random Forest, Gradient Boosting.</a:t>
                </a:r>
              </a:p>
              <a:p>
                <a:pPr marL="0" indent="447675">
                  <a:buFont typeface="+mj-lt"/>
                  <a:buAutoNum type="arabicPeriod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Вычислительная схема — временное разделение (до 2021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2022), стандартизация.</a:t>
                </a:r>
              </a:p>
              <a:p>
                <a:pPr marL="0" indent="447675">
                  <a:buFont typeface="+mj-lt"/>
                  <a:buAutoNum type="arabicPeriod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Генерация признаков —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возрас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т</m:t>
                        </m:r>
                      </m:e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рыночная стоимость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merge_asof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агрегация статистики за 2 сезона, вычислительные метрики (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goals_assists_per90,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non_penalty_goals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clean_sheet_ratio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8A65AC-FEF2-4837-8561-A4DB1A11F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B85C5-A698-B1DF-688B-C90ACB0C99E9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2F785-F37D-8A82-181C-45B2DCF6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476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R, C++.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(таблица?)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476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благодаря:</a:t>
            </a:r>
          </a:p>
          <a:p>
            <a:pPr marL="354013" indent="447675"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matplotlib.</a:t>
            </a:r>
          </a:p>
          <a:p>
            <a:pPr marL="354013" indent="447675"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(оптимизация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C/C++).</a:t>
            </a:r>
          </a:p>
          <a:p>
            <a:pPr marL="354013" indent="447675"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воспроизведения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Google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6F7F06-80DB-39C4-9761-2F929E12AB1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870-5D36-A044-B9AA-47164280DDF8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модели и анализ результатов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6F4412-3B9C-91CA-3572-487140F91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578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Обучения моделей</a:t>
                </a: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Линейные (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Ridge, Lasso) —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Случайный лес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Градиентный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бустинг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F6F4412-3B9C-91CA-3572-487140F91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578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DCE76-0CC6-85AF-BDA9-A295166D6565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A6A6368B-86E0-F962-054A-F775E4DFC1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4316654"/>
                  </p:ext>
                </p:extLst>
              </p:nvPr>
            </p:nvGraphicFramePr>
            <p:xfrm>
              <a:off x="2835267" y="2503565"/>
              <a:ext cx="6521465" cy="184823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04058">
                      <a:extLst>
                        <a:ext uri="{9D8B030D-6E8A-4147-A177-3AD203B41FA5}">
                          <a16:colId xmlns:a16="http://schemas.microsoft.com/office/drawing/2014/main" val="29657839"/>
                        </a:ext>
                      </a:extLst>
                    </a:gridCol>
                    <a:gridCol w="4317407">
                      <a:extLst>
                        <a:ext uri="{9D8B030D-6E8A-4147-A177-3AD203B41FA5}">
                          <a16:colId xmlns:a16="http://schemas.microsoft.com/office/drawing/2014/main" val="387446723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5712895"/>
                      </a:ext>
                    </a:extLst>
                  </a:tr>
                  <a:tr h="24574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ru-RU" sz="1200">
                                  <a:effectLst/>
                                </a:rPr>
                                <m:t>𝛼</m:t>
                              </m:r>
                              <m:r>
                                <a:rPr lang="en-US" sz="1200">
                                  <a:effectLst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, max_iter = 1000, random_state = 42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6690503"/>
                      </a:ext>
                    </a:extLst>
                  </a:tr>
                  <a:tr h="32956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 (L1-регуляризация)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ru-RU" sz="1200">
                                  <a:effectLst/>
                                </a:rPr>
                                <m:t>𝛼</m:t>
                              </m:r>
                              <m:r>
                                <a:rPr lang="en-US" sz="1200">
                                  <a:effectLst/>
                                </a:rPr>
                                <m:t>=0,001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max_iter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1000,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random_state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42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91695078"/>
                      </a:ext>
                    </a:extLst>
                  </a:tr>
                  <a:tr h="31051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200,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min_samples_split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min_samples_leaf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5,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random_state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42,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n_jobs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-1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6242876"/>
                      </a:ext>
                    </a:extLst>
                  </a:tr>
                  <a:tr h="30035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150,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learning_rate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0,05,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6, subsample = 0,8,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random_state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42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957159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A6A6368B-86E0-F962-054A-F775E4DFC1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4316654"/>
                  </p:ext>
                </p:extLst>
              </p:nvPr>
            </p:nvGraphicFramePr>
            <p:xfrm>
              <a:off x="2835267" y="2503565"/>
              <a:ext cx="6521465" cy="184823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04058">
                      <a:extLst>
                        <a:ext uri="{9D8B030D-6E8A-4147-A177-3AD203B41FA5}">
                          <a16:colId xmlns:a16="http://schemas.microsoft.com/office/drawing/2014/main" val="29657839"/>
                        </a:ext>
                      </a:extLst>
                    </a:gridCol>
                    <a:gridCol w="4317407">
                      <a:extLst>
                        <a:ext uri="{9D8B030D-6E8A-4147-A177-3AD203B41FA5}">
                          <a16:colId xmlns:a16="http://schemas.microsoft.com/office/drawing/2014/main" val="3874467230"/>
                        </a:ext>
                      </a:extLst>
                    </a:gridCol>
                  </a:tblGrid>
                  <a:tr h="241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5712895"/>
                      </a:ext>
                    </a:extLst>
                  </a:tr>
                  <a:tr h="24574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1271" t="-102500" r="-706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6690503"/>
                      </a:ext>
                    </a:extLst>
                  </a:tr>
                  <a:tr h="32956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 (L1-регуляризация)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1271" t="-150000" r="-706" b="-34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1695078"/>
                      </a:ext>
                    </a:extLst>
                  </a:tr>
                  <a:tr h="5157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200,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min_samples_split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min_samples_leaf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5,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random_state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42,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n_jobs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-1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6242876"/>
                      </a:ext>
                    </a:extLst>
                  </a:tr>
                  <a:tr h="51574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n_estimators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150,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learning_rate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0,05,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max_depth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6, subsample = 0,8, </a:t>
                          </a:r>
                          <a:r>
                            <a:rPr lang="en-US" sz="12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random_state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42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957159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A2AC97CE-9ACF-596F-A1BA-6D89BDB3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267" y="2195788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3.2 — </a:t>
            </a: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Гиперпараметры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обученных моделей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16B9-ED74-FE34-0320-C6DCAB19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88620-C3F0-C126-6CBD-97F5F7F6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Цель достигнута: разработана модель оценки стоимости футбольных трансферов.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Лучшая модель — случайный лес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=0,7837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Подтверждена практическая применимость ().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 может снизить субъективность и финансовые риски при заключении контрактов.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Перспективы: учёт контрактной информации, популярности в соцсетях, экономических показателей клубов.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1465CC-6A5D-6264-C379-61507DB4D7E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754D3-42DC-26C2-2D75-B7028DE514BE}"/>
              </a:ext>
            </a:extLst>
          </p:cNvPr>
          <p:cNvSpPr txBox="1"/>
          <p:nvPr/>
        </p:nvSpPr>
        <p:spPr>
          <a:xfrm>
            <a:off x="11053719" y="5992297"/>
            <a:ext cx="113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6525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</TotalTime>
  <Words>772</Words>
  <Application>Microsoft Office PowerPoint</Application>
  <PresentationFormat>Широкоэкранный</PresentationFormat>
  <Paragraphs>114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Century Gothic</vt:lpstr>
      <vt:lpstr>Courier New</vt:lpstr>
      <vt:lpstr>Times New Roman</vt:lpstr>
      <vt:lpstr>Тема Office</vt:lpstr>
      <vt:lpstr>Презентация PowerPoint</vt:lpstr>
      <vt:lpstr>Цель, объект, предмет и задачи исследования</vt:lpstr>
      <vt:lpstr>Характеристика предметной области</vt:lpstr>
      <vt:lpstr>Обзор существующих решений</vt:lpstr>
      <vt:lpstr>Формулировка исследовательской задачи</vt:lpstr>
      <vt:lpstr>Анализ и характеристика входных данных</vt:lpstr>
      <vt:lpstr>Разведочный анализ</vt:lpstr>
      <vt:lpstr>Разведочный анализ</vt:lpstr>
      <vt:lpstr>Описание этапов разработки модели</vt:lpstr>
      <vt:lpstr>Обоснование выбора инструментов</vt:lpstr>
      <vt:lpstr>Реализация модели и анализ результатов</vt:lpstr>
      <vt:lpstr>Заключение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34</cp:revision>
  <dcterms:created xsi:type="dcterms:W3CDTF">2025-04-21T14:08:12Z</dcterms:created>
  <dcterms:modified xsi:type="dcterms:W3CDTF">2026-04-15T12:40:19Z</dcterms:modified>
</cp:coreProperties>
</file>