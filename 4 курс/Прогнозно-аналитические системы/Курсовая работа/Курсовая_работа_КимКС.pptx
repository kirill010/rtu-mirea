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78" r:id="rId2"/>
    <p:sldId id="257" r:id="rId3"/>
    <p:sldId id="280" r:id="rId4"/>
    <p:sldId id="295" r:id="rId5"/>
    <p:sldId id="296" r:id="rId6"/>
    <p:sldId id="259" r:id="rId7"/>
    <p:sldId id="298" r:id="rId8"/>
    <p:sldId id="300" r:id="rId9"/>
    <p:sldId id="303" r:id="rId10"/>
    <p:sldId id="305" r:id="rId11"/>
    <p:sldId id="307" r:id="rId12"/>
    <p:sldId id="309" r:id="rId13"/>
    <p:sldId id="274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76978" autoAdjust="0"/>
  </p:normalViewPr>
  <p:slideViewPr>
    <p:cSldViewPr snapToGrid="0">
      <p:cViewPr>
        <p:scale>
          <a:sx n="100" d="100"/>
          <a:sy n="100" d="100"/>
        </p:scale>
        <p:origin x="3317" y="-115"/>
      </p:cViewPr>
      <p:guideLst/>
    </p:cSldViewPr>
  </p:slideViewPr>
  <p:notesTextViewPr>
    <p:cViewPr>
      <p:scale>
        <a:sx n="1" d="1"/>
        <a:sy n="1" d="1"/>
      </p:scale>
      <p:origin x="0" y="-211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B7E25-5DF0-429D-B6BF-81D6FA98D041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97496-3096-49B3-AD98-477EC3F7E7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4512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Титульный лист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9529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450215" algn="just">
              <a:lnSpc>
                <a:spcPct val="150000"/>
              </a:lnSpc>
              <a:spcAft>
                <a:spcPts val="1000"/>
              </a:spcAft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4431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A97496-3096-49B3-AD98-477EC3F7E761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27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algn="just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Для обучения модели возникает необходимость определения коэффициентов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𝜃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для этого используется функция потерь (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loss function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 </a:t>
                </a:r>
              </a:p>
              <a:p>
                <a:pPr marL="0" marR="0" lvl="0" indent="0" algn="just" defTabSz="121882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Наиболее подходящая нам функция потерь — функция потерь логистической регрессии (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Logistic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loss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function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Log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Loss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), работающая на методе максимального правдоподобия, согласно которому выбираются параметры 𝜃,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максимизирующие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значение функции правдоподобия на обучающей выборке.</a:t>
                </a:r>
              </a:p>
              <a:p>
                <a:pPr marL="0" marR="0" lvl="0" indent="0" algn="just" defTabSz="121882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Логарифмическая потеря указывает, насколько близка вероятность предсказания к соответствующему истинному значению (классу). Чем больше прогнозируемая вероятность отклоняется от фактического значения, тем выше значение логарифма потерь. Таким образом, чем больше правдоподобие, тем вероятнее что классы объектов выбраны верно.</a:t>
                </a:r>
              </a:p>
              <a:p>
                <a:pPr marL="0" marR="0" lvl="0" indent="0" algn="just" defTabSz="121882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Так как мы привыкли минимизировать значения для оптимизации модели, а не максимизировать, то с помощью свойств логарифмов перепишем формулу как:</a:t>
                </a:r>
              </a:p>
              <a:p>
                <a:pPr marL="0" marR="0" lvl="0" indent="0" algn="just" defTabSz="121882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Теперь функция будет иметь наименьшее значение, когда не будет ошибаться вовсе, а наибольшее, когда будет ошибаться всегда. Модель с совершенными навыками имеет логарифм потерь, равным нулю. </a:t>
                </a:r>
              </a:p>
              <a:p>
                <a:pPr algn="just"/>
                <a:endParaRPr lang="ru-RU" sz="16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 ARIMAX добавляются дополнительные факторы или регрессоры, которые не являются частью самого ряда ​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𝑦_𝑡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Это могут быть внешние переменные, которые могут влиять на исследуемый временной ряд.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ARIMAX модель формализуется как ARIMA(p, d, q) с добавлением внешних регрессоров </a:t>
                </a:r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</a:t>
                </a:r>
              </a:p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Параметры модели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𝜑,𝜃, 𝛽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обычно оцениваются с использованием метода наименьших квадратов (МНК) или других методов оптимизации для минимизации ошибок модели.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МНК позволяет получить такие оценки параметров модели, при которых сумма квадратов отклонений фактических значений результативного признака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𝑥_𝑖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от расчетных (теоретических)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(𝑥_𝑖 ) ̂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минимальна:</a:t>
                </a:r>
              </a:p>
              <a:p>
                <a:endParaRPr lang="ru-RU" dirty="0"/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206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algn="just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Для оптимизации модели используется градиентный спуск, — численный метод нахождения локального минимума или максимума функции с помощью движения вдоль градиента, один из основных численных методов современной оптимизации. </a:t>
                </a:r>
              </a:p>
              <a:p>
                <a:pPr algn="just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Также на практике возникает явление переобучения, когда модель хорошо справляется с данными из обучающей выборки, но плохо работает на новых данных. Это происходит из-за того, что модель запоминает ненужные детали обучающих данных, вместо того чтобы обобщать общие закономерности. Переобучение в большинстве случаев проявляется в том, что в получающихся полиномах слишком большие коэффициенты. </a:t>
                </a:r>
              </a:p>
              <a:p>
                <a:pPr algn="just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Для улучшения обобщающей способности получающейся модели, то есть уменьшения эффекта переобучения, часто рассматривается логистическая регрессия с регуляризацией.</a:t>
                </a:r>
              </a:p>
              <a:p>
                <a:pPr algn="just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Регуляризация — метод управления сложностью модели путем добавления дополнительных ограничений к условию задачи. Это помогает избежать переобучения и решить некорректно поставленные задачи.</a:t>
                </a:r>
              </a:p>
              <a:p>
                <a:pPr algn="just"/>
                <a:endParaRPr lang="ru-RU" sz="16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 ARIMAX добавляются дополнительные факторы или регрессоры, которые не являются частью самого ряда ​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𝑦_𝑡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Это могут быть внешние переменные, которые могут влиять на исследуемый временной ряд.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ARIMAX модель формализуется как ARIMA(p, d, q) с добавлением внешних регрессоров </a:t>
                </a:r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</a:t>
                </a:r>
              </a:p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Параметры модели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𝜑,𝜃, 𝛽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обычно оцениваются с использованием метода наименьших квадратов (МНК) или других методов оптимизации для минимизации ошибок модели.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МНК позволяет получить такие оценки параметров модели, при которых сумма квадратов отклонений фактических значений результативного признака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𝑥_𝑖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от расчетных (теоретических)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(𝑥_𝑖 ) ̂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минимальна:</a:t>
                </a:r>
              </a:p>
              <a:p>
                <a:endParaRPr lang="ru-RU" dirty="0"/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0010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121882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На данном слайде представлена</a:t>
            </a:r>
            <a:r>
              <a:rPr lang="ru-RU" baseline="0" dirty="0"/>
              <a:t> таблица </a:t>
            </a:r>
            <a:r>
              <a:rPr lang="ru-RU" dirty="0"/>
              <a:t>входных полей и их описание. Левая колонка – тип данных, центральная – имя</a:t>
            </a:r>
            <a:r>
              <a:rPr lang="ru-RU" baseline="0" dirty="0"/>
              <a:t> поля, правая – описание поля (признака).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7638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ru-RU" sz="16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Алгоритм логистической регрессии требует линейной независимости признаков для устойчивой сходимости, на рисунке также посчитаны взаимные коэффициенты Пирсона между парой переменных в данных.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Как можно заметить корреляций между признаками не прослеживается – максимальное значения корреляции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−0.33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между признаками «Вес» и «Размер».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Также можно заметить, что распределения отличаются не очень сильно, хотя классы, на первый взгляд, условно различимы.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54456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87597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ru-RU" sz="16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начала разделим наш набор данных на обучающий и тестовый для независимой оценки. На обучающий отведем 70% данных, на тестовый - 30%.</a:t>
            </a:r>
          </a:p>
          <a:p>
            <a:pPr algn="just"/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582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9107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F9141-3703-1115-9533-6034E6992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2088982-9872-F27A-289A-4A4B83FADA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F7DE19E-4ACB-EF7D-A84C-D96E6EB2B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810679F-E42F-1281-2BFC-F06FB88A6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102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95D51-DEA0-09B0-4C24-4453ECB8A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9C04701-E7AD-BB67-5607-F6AB7F695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6E5119C-C055-DB6A-CE5B-41C6F9FA9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DA21E5-B6D8-EEBE-6A2C-8F7694EAA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88226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ходе выполнения курсовой работы достигнута поставленная цель — разработан и протестирован сценарий анализа и обработки данных для прогнозирования оттока клиентов банка с использованием логистической регрессии.</a:t>
            </a:r>
          </a:p>
          <a:p>
            <a:pPr algn="just"/>
            <a:endParaRPr lang="ru-R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just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результаты показывают:</a:t>
            </a:r>
            <a:endParaRPr lang="ru-R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Анализ данных показал, что наибольший отток наблюдается в Германии, а также среди клиентов старшего возраста с высоким балансом.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Построена и оценена модель логистической регрессии с L2-регуляризацией, показала хорошие результаты (F1 = 0.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ROC-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 = 0.7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2, PR-AUC: 0.53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Разработана система скоринга, позволяющая сегментировать клиентов по уровню риска.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Важные признаки: возраст, баланс, активность клиента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число продуктов.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Практическая значимость: модель позволяет идентифицировать клиентов с высоким риском оттока и принимать превентивные меры.</a:t>
            </a:r>
          </a:p>
          <a:p>
            <a:pPr lvl="0" algn="just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just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Рекомендации для банка: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Сфокусироваться на клиентах из групп высокого риска (Группы 4–5).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Разработать персонализированные предложения для удержания клиентов.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Мониторить динамику оттока по странам и демографическим группам.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03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566FA1-CBA5-B4D3-8551-502332B2C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BFF16ED-4A42-A254-B878-692D55AC6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DB2ABC-DB63-8668-AEAC-0395DE91C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B0D8108-BBC4-F814-A9F8-6ED7D1CD2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DD2121-E122-D974-CB0F-E8286DCCD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299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F8EC1D-40AA-3B94-892D-F86978657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61BDFB-ECA7-DF7F-5C2B-0C81EB935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3D0604-AF65-7F55-369C-0F631A376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3E49522-2F9E-5405-8B5C-015EA6CF3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98EC260-D8E9-BBE0-447B-50F78FCB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3069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DA9A47-E51C-A083-5A96-8E384F69E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C16745-D4D7-39A4-54BE-3CE3D109D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431D014-DECA-D14B-1530-334A10F6B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EE4654-FD8E-720A-1E6B-19B8625B9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EDA3EF5-B223-05E9-149E-01BB594DB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4656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4949B-A6F8-086E-AEC2-CA9555216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7D4B06-6CF5-E5FF-BE89-EA8B38DD0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7202C4C-5276-82F0-497F-A93DD641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9E96285-6C14-2F17-71C2-B91F3B2E3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D626A16-7D29-2ACF-2FF0-65B160CB5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456574F-4813-150B-EB77-095D95561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778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35116-7AF5-52B2-AC95-B132D1532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199965-79BE-5187-8C74-EDDF926024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6C113A5-B236-C366-7FA4-2DF295C805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0130E89-B50E-3882-78CA-F5B827263F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EB0B302-07C9-B491-D80D-539CEB63D8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8CBBF6F-A8AD-A34A-64CC-7EB2BF01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9B286D3-9739-BDA3-5DF9-0F96C4FE1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A63D18E-7FDF-255E-566A-38FC7ABC0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950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EA0E7-30E3-CFBD-218A-8036B81CB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351E7C4-68EC-DD98-F401-E77648782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9281829-EFDE-04DF-C780-AF2522B8F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9551203-3167-C449-E772-0C515E392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9023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A31BA24-C22A-C00A-7416-C74573599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F3331A9-C6E0-4FF3-D044-94A7251E6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84C026B-89DD-C5D9-F39A-6F3F4061C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943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77A56C-6308-0F9A-884D-506D3A474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580C479-35AA-8E28-7201-1412BEE44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E7EABAD-BDE1-732C-B0BB-FD833C176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A6094F6-B6B0-363A-AB1C-617E15498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307B4F-3545-C643-3F08-9CBD113CA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0DD8852-AB8B-9203-C05C-CCBD4DDE9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8405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C20116-D0D8-B3A8-A177-C9520BA6D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482ECB9-E13A-A15C-EAD6-7E9A822000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1ADAC8-B90E-B970-049B-C48870EF90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47E9349-5FA0-33B6-FF21-6B58955A1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5E64E42-8932-B9FC-E70E-D99BFB46F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B533853-CA8E-C073-AA09-A036A9A9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45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8AA0DB-A109-546A-4ACF-BD5EB1298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1431539-4E84-6877-C05D-B29BD24E4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1DD0C7D-7260-56F1-911B-3BAC376CB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EA8F607-5B05-19B4-CAB3-8B0C3115A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215BE1-A853-B945-C754-51CBA16A8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833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E4C47EF-1A6C-5877-4582-D8B691CE19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F78E266-6FE8-52E8-3178-8C82702B5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E27E36-8953-72F7-BF36-53127410C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C4141A-D245-C8EB-47FB-5A69F2E77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014BDF-ABFA-A36F-22A6-7F1E93667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3131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583365-68EB-6D88-8697-95A247A4A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D24EC40-B81D-947D-B31B-B7E74DA81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EC8284-1F5E-600C-FA37-4506AC29B3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0DF613-C5BE-FE60-5083-18561C762F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311885-F266-F54E-10F8-B09081A5E3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18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Текстовое поле 99"/>
          <p:cNvSpPr txBox="1"/>
          <p:nvPr/>
        </p:nvSpPr>
        <p:spPr>
          <a:xfrm>
            <a:off x="4259180" y="1269260"/>
            <a:ext cx="3673644" cy="369237"/>
          </a:xfrm>
          <a:prstGeom prst="rect">
            <a:avLst/>
          </a:prstGeom>
          <a:noFill/>
          <a:ln w="9525">
            <a:noFill/>
          </a:ln>
        </p:spPr>
        <p:txBody>
          <a:bodyPr wrap="square" lIns="91409" tIns="45704" rIns="91409" bIns="45704">
            <a:spAutoFit/>
          </a:bodyPr>
          <a:lstStyle/>
          <a:p>
            <a:pPr indent="203137" algn="ctr"/>
            <a:r>
              <a:rPr lang="en-US" dirty="0">
                <a:latin typeface="Times New Roman" panose="02020603050405020304" charset="0"/>
              </a:rPr>
              <a:t>МИНОБРНАУКИ РОССИИ</a:t>
            </a:r>
            <a:endParaRPr lang="ru-RU" altLang="en-US" dirty="0"/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1978303" y="1638497"/>
            <a:ext cx="8227259" cy="1200040"/>
          </a:xfrm>
          <a:prstGeom prst="rect">
            <a:avLst/>
          </a:prstGeom>
          <a:noFill/>
          <a:ln w="9525">
            <a:noFill/>
          </a:ln>
        </p:spPr>
        <p:txBody>
          <a:bodyPr wrap="square" lIns="91409" tIns="45704" rIns="91409" bIns="45704">
            <a:spAutoFit/>
          </a:bodyPr>
          <a:lstStyle/>
          <a:p>
            <a:pPr indent="203137" algn="ctr"/>
            <a:r>
              <a:rPr lang="en-US" dirty="0" err="1">
                <a:latin typeface="Times New Roman" panose="02020603050405020304" charset="0"/>
              </a:rPr>
              <a:t>Федеральное</a:t>
            </a:r>
            <a:r>
              <a:rPr lang="en-US" dirty="0">
                <a:latin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</a:rPr>
              <a:t>государственное</a:t>
            </a:r>
            <a:r>
              <a:rPr lang="en-US" dirty="0">
                <a:latin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</a:rPr>
              <a:t>бюджетное</a:t>
            </a:r>
            <a:r>
              <a:rPr lang="en-US" dirty="0">
                <a:latin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</a:rPr>
              <a:t>образовательное</a:t>
            </a:r>
            <a:r>
              <a:rPr lang="en-US" dirty="0">
                <a:latin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</a:rPr>
              <a:t>учреждение</a:t>
            </a:r>
            <a:endParaRPr lang="en-US" dirty="0">
              <a:latin typeface="Times New Roman" panose="02020603050405020304" charset="0"/>
            </a:endParaRPr>
          </a:p>
          <a:p>
            <a:pPr indent="203137" algn="ctr"/>
            <a:r>
              <a:rPr lang="en-US" dirty="0" err="1">
                <a:latin typeface="Times New Roman" panose="02020603050405020304" charset="0"/>
              </a:rPr>
              <a:t>высшего</a:t>
            </a:r>
            <a:r>
              <a:rPr lang="en-US" dirty="0">
                <a:latin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</a:rPr>
              <a:t>образования</a:t>
            </a:r>
            <a:endParaRPr lang="en-US" b="1" dirty="0">
              <a:latin typeface="Times New Roman" panose="02020603050405020304" charset="0"/>
            </a:endParaRPr>
          </a:p>
          <a:p>
            <a:pPr indent="203137" algn="ctr"/>
            <a:r>
              <a:rPr lang="en-US" b="1" dirty="0">
                <a:latin typeface="Times New Roman" panose="02020603050405020304" charset="0"/>
              </a:rPr>
              <a:t>«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charset="0"/>
              </a:rPr>
              <a:t>МИРЭА – </a:t>
            </a:r>
            <a:r>
              <a:rPr lang="en-US" b="1" dirty="0" err="1">
                <a:solidFill>
                  <a:srgbClr val="000000"/>
                </a:solidFill>
                <a:latin typeface="Times New Roman" panose="02020603050405020304" charset="0"/>
              </a:rPr>
              <a:t>Российский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Times New Roman" panose="02020603050405020304" charset="0"/>
              </a:rPr>
              <a:t>технологический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Times New Roman" panose="02020603050405020304" charset="0"/>
              </a:rPr>
              <a:t>университет</a:t>
            </a:r>
            <a:r>
              <a:rPr lang="en-US" b="1" dirty="0">
                <a:latin typeface="Times New Roman" panose="02020603050405020304" charset="0"/>
              </a:rPr>
              <a:t>»</a:t>
            </a:r>
          </a:p>
          <a:p>
            <a:pPr indent="203137" algn="ctr"/>
            <a:r>
              <a:rPr lang="en-US" b="1" dirty="0">
                <a:latin typeface="Times New Roman" panose="02020603050405020304" charset="0"/>
              </a:rPr>
              <a:t>РТУ МИРЭА</a:t>
            </a:r>
            <a:endParaRPr lang="ru-RU" altLang="en-US" dirty="0"/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2092188" y="3069043"/>
            <a:ext cx="8007629" cy="1753910"/>
          </a:xfrm>
          <a:prstGeom prst="rect">
            <a:avLst/>
          </a:prstGeom>
          <a:noFill/>
          <a:ln w="9525">
            <a:noFill/>
          </a:ln>
        </p:spPr>
        <p:txBody>
          <a:bodyPr wrap="square" lIns="91409" tIns="45704" rIns="91409" bIns="45704">
            <a:spAutoFit/>
          </a:bodyPr>
          <a:lstStyle/>
          <a:p>
            <a:pPr indent="203137"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КУРСОВАЯ РАБОТА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дисциплине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Прогнозно-аналитические системы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203137" algn="ctr"/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Тема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работы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indent="203137"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«Разработка сценария анализа и обработки данных на примере задачи оттока клиентов банка с применением логистической модели»</a:t>
            </a:r>
            <a:endParaRPr lang="ru-RU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5" name="Таблица 14"/>
          <p:cNvGraphicFramePr/>
          <p:nvPr/>
        </p:nvGraphicFramePr>
        <p:xfrm>
          <a:off x="1728147" y="5156793"/>
          <a:ext cx="8735710" cy="60515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7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67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5155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ru-RU" alt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Выполнил с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тудент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группы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И</a:t>
                      </a:r>
                      <a:r>
                        <a:rPr lang="ru-RU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М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БО-0</a:t>
                      </a:r>
                      <a:r>
                        <a:rPr lang="ru-RU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2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-</a:t>
                      </a:r>
                      <a:r>
                        <a:rPr lang="ru-RU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22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55" marR="68555" marT="0" marB="0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altLang="en-US" sz="1800" b="0" dirty="0">
                          <a:latin typeface="Times New Roman" panose="02020603050405020304" charset="0"/>
                          <a:ea typeface="Times New Roman" panose="02020603050405020304" charset="0"/>
                          <a:cs typeface="Times New Roman" panose="02020603050405020304" charset="0"/>
                        </a:rPr>
                        <a:t>Ким Кирилл Сергеевич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55" marR="68555" marT="0" marB="0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/>
          <p:nvPr/>
        </p:nvGraphicFramePr>
        <p:xfrm>
          <a:off x="1727511" y="5876706"/>
          <a:ext cx="8736982" cy="59563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8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68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5631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Руководитель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курсовой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работы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55" marR="68555" marT="0" marB="0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kumimoji="0" lang="ru-RU" sz="1800" b="0" i="0" u="none" strike="noStrike" kern="1200" baseline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Юрченков</a:t>
                      </a:r>
                      <a:r>
                        <a:rPr kumimoji="0" lang="ru-RU" sz="1800" b="0" i="0" u="none" strike="noStrike" kern="1200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Иван Александрович</a:t>
                      </a:r>
                      <a:endParaRPr lang="en-US" altLang="en-US" sz="1800" b="0" dirty="0">
                        <a:latin typeface="Times New Roman" panose="02020603050405020304" pitchFamily="18" charset="0"/>
                        <a:ea typeface="Times New Roman" panose="02020603050405020304" charset="0"/>
                        <a:cs typeface="Times New Roman" panose="02020603050405020304" pitchFamily="18" charset="0"/>
                      </a:endParaRPr>
                    </a:p>
                  </a:txBody>
                  <a:tcPr marL="68555" marR="68555" marT="0" marB="0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35" name="Рисунок 35" descr="Изображение выглядит как текст&#10;&#10;Автоматически созданное описание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636425" y="189391"/>
            <a:ext cx="919156" cy="103973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720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611584" y="333373"/>
            <a:ext cx="10968833" cy="1143000"/>
          </a:xfrm>
        </p:spPr>
        <p:txBody>
          <a:bodyPr>
            <a:noAutofit/>
          </a:bodyPr>
          <a:lstStyle/>
          <a:p>
            <a:pPr algn="ctr"/>
            <a:r>
              <a:rPr lang="ru-RU" sz="63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Введение</a:t>
            </a: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lnSpc>
                <a:spcPct val="140000"/>
              </a:lnSpc>
              <a:spcBef>
                <a:spcPts val="800"/>
              </a:spcBef>
              <a:buNone/>
            </a:pPr>
            <a:r>
              <a:rPr lang="ru-RU" sz="4399" b="1" dirty="0">
                <a:latin typeface="Times New Roman" panose="02020603050405020304" pitchFamily="18" charset="0"/>
                <a:ea typeface="Source Sans Pro Black" panose="020B0604020202020204" charset="0"/>
                <a:cs typeface="Times New Roman" panose="02020603050405020304" pitchFamily="18" charset="0"/>
              </a:rPr>
              <a:t>Цель</a:t>
            </a:r>
            <a:r>
              <a:rPr lang="ru-RU" sz="3899" b="1" dirty="0">
                <a:latin typeface="Times New Roman" panose="02020603050405020304" pitchFamily="18" charset="0"/>
                <a:ea typeface="Source Sans Pro light" panose="020B0604020202020204" charset="0"/>
                <a:cs typeface="Times New Roman" panose="02020603050405020304" pitchFamily="18" charset="0"/>
              </a:rPr>
              <a:t>:</a:t>
            </a:r>
            <a:r>
              <a:rPr lang="ru-RU" sz="3899" dirty="0">
                <a:latin typeface="Times New Roman" panose="02020603050405020304" pitchFamily="18" charset="0"/>
                <a:ea typeface="Source Sans Pro light" panose="020B0604020202020204" charset="0"/>
                <a:cs typeface="Times New Roman" panose="02020603050405020304" pitchFamily="18" charset="0"/>
              </a:rPr>
              <a:t>  </a:t>
            </a:r>
            <a:r>
              <a:rPr lang="ru-RU" sz="3599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разработать сценарии анализа и обработать данные для прогнозирования оттока клиентов банка с использованием логистической регрессии..</a:t>
            </a:r>
            <a:endParaRPr lang="en-US" sz="3599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40000"/>
              </a:lnSpc>
              <a:spcBef>
                <a:spcPts val="800"/>
              </a:spcBef>
              <a:buNone/>
            </a:pPr>
            <a:r>
              <a:rPr lang="ru-RU" sz="4399" b="1" dirty="0">
                <a:latin typeface="Times New Roman" panose="02020603050405020304" pitchFamily="18" charset="0"/>
                <a:ea typeface="Source Sans Pro Black" panose="020B0604020202020204" charset="0"/>
                <a:cs typeface="Times New Roman" panose="02020603050405020304" pitchFamily="18" charset="0"/>
              </a:rPr>
              <a:t>Задачи: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Исследовать данные о клиентах банка и выявить факторы, влияющие на отток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предобработку данных и создать новые признаки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Построить и оценить модель логистической регрессии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Проанализировать важность признаков и сделать выводы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систему скоринга для сегментации клиентов по риску оттока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Предложить практические рекомендации для банка</a:t>
            </a:r>
          </a:p>
        </p:txBody>
      </p:sp>
      <p:pic>
        <p:nvPicPr>
          <p:cNvPr id="5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367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BCE649-F09A-73F0-9CFF-A566F1E5B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Логистическая регрессия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576F79-BC4F-BE0F-A14A-E39874268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BEDC0679-8506-AF67-3A6A-283FA4DC4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971" y="1457539"/>
            <a:ext cx="5440029" cy="3609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DFB6415-5BA1-030E-858C-E22176578E59}"/>
                  </a:ext>
                </a:extLst>
              </p:cNvPr>
              <p:cNvSpPr txBox="1"/>
              <p:nvPr/>
            </p:nvSpPr>
            <p:spPr>
              <a:xfrm>
                <a:off x="441730" y="1794632"/>
                <a:ext cx="6811593" cy="4413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</m:d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 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p>
                          </m:sSup>
                        </m:den>
                      </m:f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,</m:t>
                      </m:r>
                    </m:oMath>
                  </m:oMathPara>
                </a14:m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  <a:p>
                <a:pPr indent="450215" algn="just">
                  <a:lnSpc>
                    <a:spcPct val="150000"/>
                  </a:lnSpc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 </a:t>
                </a:r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  <a:p>
                <a:pPr indent="450215" algn="just">
                  <a:lnSpc>
                    <a:spcPct val="150000"/>
                  </a:lnSpc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где 	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=</m:t>
                    </m:r>
                    <m:sSup>
                      <m:sSup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  <m: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  <a:p>
                <a:pPr indent="450215" algn="just">
                  <a:lnSpc>
                    <a:spcPct val="150000"/>
                  </a:lnSpc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𝜃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 — вектор-столбец параметров (весов) логистической регрессии,</a:t>
                </a:r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  <a:p>
                <a:pPr indent="450215" algn="just">
                  <a:lnSpc>
                    <a:spcPct val="150000"/>
                  </a:lnSpc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 — вектор-столбец независимых переменных.</a:t>
                </a:r>
              </a:p>
              <a:p>
                <a:pPr indent="450215" algn="just">
                  <a:lnSpc>
                    <a:spcPct val="150000"/>
                  </a:lnSpc>
                  <a:buNone/>
                </a:pPr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  <a:p>
                <a:pPr indent="450215" algn="just">
                  <a:lnSpc>
                    <a:spcPct val="150000"/>
                  </a:lnSpc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Логистическая функция преобразует линейную комбинацию в вероятность принадлежности к целевому классу, принимающую значения в диапазоне от 0 до 1.</a:t>
                </a:r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DFB6415-5BA1-030E-858C-E22176578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730" y="1794632"/>
                <a:ext cx="6811593" cy="4413324"/>
              </a:xfrm>
              <a:prstGeom prst="rect">
                <a:avLst/>
              </a:prstGeom>
              <a:blipFill>
                <a:blip r:embed="rId4"/>
                <a:stretch>
                  <a:fillRect l="-716" r="-716" b="-1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665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611584" y="124240"/>
            <a:ext cx="10968833" cy="1143000"/>
          </a:xfrm>
        </p:spPr>
        <p:txBody>
          <a:bodyPr>
            <a:noAutofit/>
          </a:bodyPr>
          <a:lstStyle/>
          <a:p>
            <a:pPr algn="ctr"/>
            <a:r>
              <a:rPr lang="ru-RU" sz="63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потерь(</a:t>
            </a:r>
            <a:r>
              <a:rPr lang="en-US" sz="63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 loss)</a:t>
            </a:r>
            <a:endParaRPr lang="ru-RU" sz="639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634879" y="1485234"/>
                <a:ext cx="5173157" cy="27101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indent="450125" algn="just"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Формула для правдоподобия:</a:t>
                </a:r>
              </a:p>
              <a:p>
                <a:pPr indent="45012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undOvr"/>
                          <m:subHide m:val="on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Arial" panose="020B0604020202020204" pitchFamily="34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𝑖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bSup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  <m:r>
                        <a:rPr lang="ru-RU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m:t>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m:t>𝑚𝑎𝑥</m:t>
                      </m: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indent="450125" algn="just"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где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𝑝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𝑖</m:t>
                        </m:r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— вероятность </a:t>
                </a:r>
                <a:r>
                  <a:rPr lang="en-US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   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принадлежности к целевому классу </a:t>
                </a:r>
                <a:r>
                  <a:rPr lang="en-US" i="1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i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-ого объекта,</a:t>
                </a:r>
              </a:p>
              <a:p>
                <a:pPr indent="450125" algn="just"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𝑖</m:t>
                        </m:r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— целевое значение </a:t>
                </a:r>
                <a:r>
                  <a:rPr lang="en-US" i="1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i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-ого объекта.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79" y="1485234"/>
                <a:ext cx="5173157" cy="2710115"/>
              </a:xfrm>
              <a:prstGeom prst="rect">
                <a:avLst/>
              </a:prstGeom>
              <a:blipFill>
                <a:blip r:embed="rId4"/>
                <a:stretch>
                  <a:fillRect l="-942" r="-942" b="-292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8036" y="2530806"/>
                <a:ext cx="6091415" cy="837471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0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endChr m:val="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ru-RU" sz="200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  <m:r>
                                <a:rPr lang="ru-RU" sz="20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e>
                          </m:d>
                        </m:e>
                      </m:nary>
                      <m:func>
                        <m:func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sz="20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begChr m:val="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endChr m:val=""/>
                                      <m:ctrlPr>
                                        <a:rPr lang="ru-RU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20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ru-RU" sz="200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ru-RU" sz="2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00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ru-RU" sz="2000"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sz="20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ru-RU" sz="200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ru-RU" sz="2000">
                          <a:latin typeface="Cambria Math" panose="02040503050406030204" pitchFamily="18" charset="0"/>
                        </a:rPr>
                        <m:t>)→</m:t>
                      </m:r>
                      <m:r>
                        <a:rPr lang="ru-RU" sz="2000" i="1">
                          <a:latin typeface="Cambria Math" panose="02040503050406030204" pitchFamily="18" charset="0"/>
                        </a:rPr>
                        <m:t>𝑚𝑖𝑛</m:t>
                      </m:r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8036" y="2530806"/>
                <a:ext cx="6091415" cy="8374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/>
              <p:cNvSpPr/>
              <p:nvPr/>
            </p:nvSpPr>
            <p:spPr>
              <a:xfrm>
                <a:off x="6038584" y="3368278"/>
                <a:ext cx="6091415" cy="1615453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𝑝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𝑖</m:t>
                        </m:r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— вероятность принадлежности </a:t>
                </a:r>
                <a:r>
                  <a:rPr lang="en-US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    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к целевому классу </a:t>
                </a:r>
                <a:r>
                  <a:rPr lang="en-US" i="1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i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-ого объекта,</a:t>
                </a:r>
              </a:p>
              <a:p>
                <a:pPr algn="just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𝑖</m:t>
                        </m:r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— целевое значение </a:t>
                </a:r>
                <a:r>
                  <a:rPr lang="en-US" i="1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i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-ого объекта,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n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 — количество объектов.	</a:t>
                </a:r>
                <a:endParaRPr lang="ru-RU" dirty="0"/>
              </a:p>
            </p:txBody>
          </p:sp>
        </mc:Choice>
        <mc:Fallback xmlns="">
          <p:sp>
            <p:nvSpPr>
              <p:cNvPr id="8" name="Прямоугольник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8584" y="3368278"/>
                <a:ext cx="6091415" cy="1615453"/>
              </a:xfrm>
              <a:prstGeom prst="rect">
                <a:avLst/>
              </a:prstGeom>
              <a:blipFill>
                <a:blip r:embed="rId6"/>
                <a:stretch>
                  <a:fillRect l="-901" r="-801" b="-49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5805886" y="1319189"/>
            <a:ext cx="1491730" cy="45796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450125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Log loss</a:t>
            </a: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258874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611584" y="124240"/>
            <a:ext cx="10968833" cy="1143000"/>
          </a:xfrm>
        </p:spPr>
        <p:txBody>
          <a:bodyPr>
            <a:noAutofit/>
          </a:bodyPr>
          <a:lstStyle/>
          <a:p>
            <a:pPr algn="ctr"/>
            <a:r>
              <a:rPr lang="ru-RU" sz="63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Метрики качества</a:t>
            </a:r>
          </a:p>
        </p:txBody>
      </p:sp>
      <p:pic>
        <p:nvPicPr>
          <p:cNvPr id="5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Объект 1">
                <a:extLst>
                  <a:ext uri="{FF2B5EF4-FFF2-40B4-BE49-F238E27FC236}">
                    <a16:creationId xmlns:a16="http://schemas.microsoft.com/office/drawing/2014/main" id="{770ACC14-756D-EA79-3173-26CC897E30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0718" y="980580"/>
                <a:ext cx="5831298" cy="3045401"/>
              </a:xfrm>
            </p:spPr>
            <p:txBody>
              <a:bodyPr>
                <a:normAutofit/>
              </a:bodyPr>
              <a:lstStyle/>
              <a:p>
                <a:pPr indent="0" algn="ctr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𝐴𝑐𝑐𝑢𝑟𝑎𝑐𝑦</m:t>
                      </m:r>
                      <m:r>
                        <a:rPr lang="ru-RU" sz="16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𝑇𝑃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𝑇𝑃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𝑇𝑁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𝐹𝑃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indent="0" algn="ctr">
                  <a:lnSpc>
                    <a:spcPct val="150000"/>
                  </a:lnSpc>
                  <a:buNone/>
                </a:pPr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𝑃𝑟𝑒𝑐𝑖𝑠𝑖𝑜𝑛</m:t>
                    </m:r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</m:num>
                      <m:den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𝐹𝑃</m:t>
                        </m:r>
                      </m:den>
                    </m:f>
                  </m:oMath>
                </a14:m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indent="0" algn="ctr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𝑅𝑒𝑐𝑎𝑙𝑙</m:t>
                    </m:r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</m:num>
                      <m:den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𝐹𝑁</m:t>
                        </m:r>
                      </m:den>
                    </m:f>
                  </m:oMath>
                </a14:m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indent="0" algn="ctr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1=2∗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𝑝𝑟𝑒𝑐𝑖𝑠𝑖𝑜𝑛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∗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𝑟𝑒𝑐𝑎𝑙𝑙</m:t>
                        </m:r>
                      </m:num>
                      <m:den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𝑝𝑟𝑒𝑐𝑖𝑠𝑖𝑜𝑛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𝑟𝑒𝑐𝑎𝑙𝑙</m:t>
                        </m:r>
                      </m:den>
                    </m:f>
                  </m:oMath>
                </a14:m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indent="0" algn="ctr">
                  <a:lnSpc>
                    <a:spcPct val="150000"/>
                  </a:lnSpc>
                  <a:buNone/>
                </a:pPr>
                <a:endParaRPr lang="ru-RU" sz="1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spcAft>
                    <a:spcPts val="1000"/>
                  </a:spcAft>
                  <a:buNone/>
                </a:pPr>
                <a:endParaRPr lang="ru-RU" sz="1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>
                  <a:latin typeface="Source Sans Pro Black" panose="020B0604020202020204" charset="0"/>
                  <a:ea typeface="Source Sans Pro Black" panose="020B0604020202020204" charset="0"/>
                </a:endParaRPr>
              </a:p>
            </p:txBody>
          </p:sp>
        </mc:Choice>
        <mc:Fallback>
          <p:sp>
            <p:nvSpPr>
              <p:cNvPr id="6" name="Объект 1">
                <a:extLst>
                  <a:ext uri="{FF2B5EF4-FFF2-40B4-BE49-F238E27FC236}">
                    <a16:creationId xmlns:a16="http://schemas.microsoft.com/office/drawing/2014/main" id="{770ACC14-756D-EA79-3173-26CC897E30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0718" y="980580"/>
                <a:ext cx="5831298" cy="3045401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C2DD97-1A54-2733-5A1D-19514CFACD45}"/>
                  </a:ext>
                </a:extLst>
              </p:cNvPr>
              <p:cNvSpPr txBox="1"/>
              <p:nvPr/>
            </p:nvSpPr>
            <p:spPr>
              <a:xfrm>
                <a:off x="444679" y="3850721"/>
                <a:ext cx="5183377" cy="23558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450125" algn="just">
                  <a:lnSpc>
                    <a:spcPct val="150000"/>
                  </a:lnSpc>
                </a:pPr>
                <a:r>
                  <a:rPr lang="ru-RU" sz="12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Кривая </a:t>
                </a:r>
                <a14:m>
                  <m:oMath xmlns:m="http://schemas.openxmlformats.org/officeDocument/2006/math">
                    <m:r>
                      <a:rPr lang="ru-RU" sz="12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𝑅𝑂𝐶</m:t>
                    </m:r>
                  </m:oMath>
                </a14:m>
                <a:r>
                  <a:rPr lang="ru-RU" sz="12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— это график, который иллюстрирует производительность классификационной модели при всех возможных порогах классификации. Ось X данного графика представляет собой </a:t>
                </a:r>
                <a14:m>
                  <m:oMath xmlns:m="http://schemas.openxmlformats.org/officeDocument/2006/math">
                    <m:r>
                      <a:rPr lang="ru-RU" sz="12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𝐹𝑃𝑅</m:t>
                    </m:r>
                  </m:oMath>
                </a14:m>
                <a:r>
                  <a:rPr lang="ru-RU" sz="12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т.е. ложноположительную частоту, а ось Y — </a:t>
                </a:r>
                <a14:m>
                  <m:oMath xmlns:m="http://schemas.openxmlformats.org/officeDocument/2006/math">
                    <m:r>
                      <a:rPr lang="ru-RU" sz="12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𝑇𝑅𝑃</m:t>
                    </m:r>
                  </m:oMath>
                </a14:m>
                <a:r>
                  <a:rPr lang="ru-RU" sz="12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indent="450125"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ru-RU" sz="12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𝑇𝑃𝑅</m:t>
                    </m:r>
                    <m:r>
                      <a:rPr lang="ru-RU" sz="12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2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</m:num>
                      <m:den>
                        <m:r>
                          <a:rPr lang="ru-RU" sz="12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  <m:r>
                          <a:rPr lang="ru-RU" sz="12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𝐹𝑁</m:t>
                        </m:r>
                      </m:den>
                    </m:f>
                  </m:oMath>
                </a14:m>
                <a:r>
                  <a:rPr lang="ru-RU" sz="12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endParaRPr lang="ru-RU" sz="12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indent="450125"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𝐹𝑃𝑅</m:t>
                    </m:r>
                    <m:r>
                      <a:rPr lang="ru-RU" sz="12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2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2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𝐹𝑃</m:t>
                        </m:r>
                      </m:num>
                      <m:den>
                        <m:r>
                          <a:rPr lang="en-US" sz="12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𝑇𝑁</m:t>
                        </m:r>
                        <m:r>
                          <a:rPr lang="ru-RU" sz="12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𝐹𝑃</m:t>
                        </m:r>
                      </m:den>
                    </m:f>
                  </m:oMath>
                </a14:m>
                <a:r>
                  <a:rPr lang="ru-RU" sz="12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 </a:t>
                </a:r>
                <a:endParaRPr lang="ru-RU" sz="12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2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Чтобы агрегировать эту кривую в скаляр вычисляется площадь под этой кривой.</a:t>
                </a:r>
                <a:endParaRPr lang="ru-RU" sz="1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C2DD97-1A54-2733-5A1D-19514CFAC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79" y="3850721"/>
                <a:ext cx="5183377" cy="2355869"/>
              </a:xfrm>
              <a:prstGeom prst="rect">
                <a:avLst/>
              </a:prstGeom>
              <a:blipFill>
                <a:blip r:embed="rId5"/>
                <a:stretch>
                  <a:fillRect l="-118" b="-10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CF53A0-BB16-19D5-0DD5-58DBFB8C3C0F}"/>
                  </a:ext>
                </a:extLst>
              </p:cNvPr>
              <p:cNvSpPr txBox="1"/>
              <p:nvPr/>
            </p:nvSpPr>
            <p:spPr>
              <a:xfrm>
                <a:off x="6741910" y="4940819"/>
                <a:ext cx="4751428" cy="13460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ru-RU" sz="1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𝑇𝑃</m:t>
                    </m:r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— количество действительно положительных объектов;</a:t>
                </a:r>
                <a:endParaRPr lang="ru-RU" sz="14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ru-RU" sz="1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𝑇𝑁</m:t>
                    </m:r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— количество действительно отрицательных объектов;</a:t>
                </a:r>
                <a:endParaRPr lang="ru-RU" sz="14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ru-RU" sz="1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𝐹𝑃</m:t>
                    </m:r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— количество ложноположительных объектов;</a:t>
                </a:r>
                <a:endParaRPr lang="ru-RU" sz="14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ru-RU" sz="14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𝐹𝑁</m:t>
                    </m:r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— количество ложноотрицательных объектов.</a:t>
                </a:r>
                <a:endParaRPr lang="ru-RU" sz="14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CF53A0-BB16-19D5-0DD5-58DBFB8C3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1910" y="4940819"/>
                <a:ext cx="4751428" cy="1346019"/>
              </a:xfrm>
              <a:prstGeom prst="rect">
                <a:avLst/>
              </a:prstGeom>
              <a:blipFill>
                <a:blip r:embed="rId7"/>
                <a:stretch>
                  <a:fillRect b="-40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55ECDDB9-14B8-AE17-077D-AFF195A94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515718"/>
            <a:ext cx="5378416" cy="2814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733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556896"/>
              </p:ext>
            </p:extLst>
          </p:nvPr>
        </p:nvGraphicFramePr>
        <p:xfrm>
          <a:off x="1272581" y="1485234"/>
          <a:ext cx="9646840" cy="4206240"/>
        </p:xfrm>
        <a:graphic>
          <a:graphicData uri="http://schemas.openxmlformats.org/drawingml/2006/table">
            <a:tbl>
              <a:tblPr firstRow="1" bandRow="1">
                <a:tableStyleId>{284E427A-3D55-4303-BF80-6455036E1DE7}</a:tableStyleId>
              </a:tblPr>
              <a:tblGrid>
                <a:gridCol w="15863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11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03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данных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Поле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Описание поля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RowNumber</a:t>
                      </a: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1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CustomerId</a:t>
                      </a: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Surname</a:t>
                      </a:r>
                      <a:endParaRPr lang="ru-RU" sz="15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Идентификация</a:t>
                      </a:r>
                      <a:endParaRPr lang="ru-RU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CreditScore</a:t>
                      </a:r>
                      <a:endParaRPr lang="ru-RU" sz="15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Кредитный рейтинг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строковый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Geography </a:t>
                      </a:r>
                      <a:endParaRPr lang="ru-RU" sz="15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Страна клиента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algn="ctr"/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строковый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Gender</a:t>
                      </a:r>
                      <a:endParaRPr lang="ru-RU" sz="15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Пол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Age</a:t>
                      </a:r>
                      <a:endParaRPr lang="ru-RU" sz="15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Возраст</a:t>
                      </a:r>
                      <a:endParaRPr kumimoji="0" lang="ru-RU" sz="180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Tenure 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Сколько лет клиент с банком сотрудничает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вещественный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Balance 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Баланс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IsActiveMember</a:t>
                      </a: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Активность (0</a:t>
                      </a:r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/1)</a:t>
                      </a:r>
                      <a:endParaRPr kumimoji="0" lang="ru-RU" sz="180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Exited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Целевая переменная (0 — остался, 1 — ушёл).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6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768641" y="248479"/>
            <a:ext cx="11070395" cy="1143000"/>
          </a:xfrm>
        </p:spPr>
        <p:txBody>
          <a:bodyPr>
            <a:normAutofit/>
          </a:bodyPr>
          <a:lstStyle/>
          <a:p>
            <a:pPr algn="ctr"/>
            <a:r>
              <a:rPr lang="ru-RU" sz="6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признаков</a:t>
            </a:r>
          </a:p>
        </p:txBody>
      </p:sp>
    </p:spTree>
    <p:extLst>
      <p:ext uri="{BB962C8B-B14F-4D97-AF65-F5344CB8AC3E}">
        <p14:creationId xmlns:p14="http://schemas.microsoft.com/office/powerpoint/2010/main" val="3923298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3604" y="0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sz="47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D0F730-55A9-A037-FD0C-EE0AA4EAC206}"/>
              </a:ext>
            </a:extLst>
          </p:cNvPr>
          <p:cNvSpPr txBox="1"/>
          <p:nvPr/>
        </p:nvSpPr>
        <p:spPr>
          <a:xfrm>
            <a:off x="4304658" y="5914909"/>
            <a:ext cx="4668285" cy="369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Предобработанные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данные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2782A-66C6-DE1A-5E50-3F3AA84B87A9}"/>
              </a:ext>
            </a:extLst>
          </p:cNvPr>
          <p:cNvSpPr txBox="1"/>
          <p:nvPr/>
        </p:nvSpPr>
        <p:spPr>
          <a:xfrm>
            <a:off x="5306960" y="2904679"/>
            <a:ext cx="2663679" cy="369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67B1B4-7733-AF40-0B90-37808971D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60" y="945739"/>
            <a:ext cx="11537680" cy="18442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3E26D71-92C3-D3D7-1F57-225AF08944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7016" y="3963590"/>
            <a:ext cx="8397968" cy="183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07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60803" y="10770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признаков</a:t>
            </a:r>
            <a:endParaRPr lang="ru-RU" sz="479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2378D4E-740D-563E-7EBB-9C2DD6BFC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802" y="1153770"/>
            <a:ext cx="4600470" cy="4798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ACA14FE-D531-8F14-AAFB-0AD57C4A9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596" y="1234225"/>
            <a:ext cx="5820404" cy="4637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2776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3604" y="0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sz="47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классификации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9617845-190E-9FB8-D99D-A47D12ED3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8064" y="2197996"/>
            <a:ext cx="7873936" cy="4658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8CC6B1C-E89C-6859-1387-53F1C1B2A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160" y="1054996"/>
            <a:ext cx="4649555" cy="1901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250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03604" y="0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sz="47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Визуализация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2284B371-D6F8-1F9C-113D-1A7D7946DE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38937"/>
            <a:ext cx="5653427" cy="4204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D4B80024-886D-E82C-F323-93D64130C8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8575" y="938938"/>
            <a:ext cx="5635424" cy="4190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022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552E-8541-0C53-375A-F46155B37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DE4A4F-DF7E-C625-42DC-DEE64534A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401" y="-98575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sz="47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Визуализация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618329B1-B6A6-E564-AE53-C5465523B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690" y="1044425"/>
            <a:ext cx="5681307" cy="4471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7DA060C6-3385-1D06-F3C8-946A62E91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6904" y="1044425"/>
            <a:ext cx="6002891" cy="4471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404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29AC8-8AA5-FB84-10C1-7E83E0E70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3F2626-5CE9-A472-A94A-74ECE34FB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604" y="0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скоринга</a:t>
            </a:r>
            <a:endParaRPr lang="ru-RU" sz="479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D43E15F-88BC-B362-9905-62772797F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89" y="619125"/>
            <a:ext cx="3083154" cy="2809875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E609778F-EEAA-C839-D5EF-18DEC5577B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650" y="1014970"/>
            <a:ext cx="6592349" cy="5252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11C9AF1-AB59-F986-0867-6BC28D952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206" y="3607250"/>
            <a:ext cx="3381520" cy="2900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328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11584" y="248479"/>
            <a:ext cx="10968833" cy="1143000"/>
          </a:xfrm>
        </p:spPr>
        <p:txBody>
          <a:bodyPr>
            <a:normAutofit/>
          </a:bodyPr>
          <a:lstStyle/>
          <a:p>
            <a:pPr algn="ctr"/>
            <a:r>
              <a:rPr lang="ru-RU" sz="5799" dirty="0"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40102" y="1391479"/>
            <a:ext cx="10511798" cy="5218043"/>
          </a:xfrm>
        </p:spPr>
        <p:txBody>
          <a:bodyPr>
            <a:normAutofit fontScale="85000" lnSpcReduction="10000"/>
          </a:bodyPr>
          <a:lstStyle/>
          <a:p>
            <a:pPr marL="0" indent="0" algn="just">
              <a:lnSpc>
                <a:spcPct val="150000"/>
              </a:lnSpc>
              <a:spcAft>
                <a:spcPts val="1000"/>
              </a:spcAft>
              <a:buNone/>
            </a:pP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Цель данной курсовой работы — </a:t>
            </a:r>
            <a:r>
              <a:rPr lang="ru-RU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разработать и протестировать сценарий анализа и обработки данных для прогнозирования оттока клиентов банка с использованием логистической регрессии 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— достигнута. </a:t>
            </a:r>
          </a:p>
          <a:p>
            <a:pPr marL="0" indent="0" algn="just">
              <a:lnSpc>
                <a:spcPct val="150000"/>
              </a:lnSpc>
              <a:spcAft>
                <a:spcPts val="1000"/>
              </a:spcAft>
              <a:buNone/>
            </a:pP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Основные результаты показывают:</a:t>
            </a:r>
          </a:p>
          <a:p>
            <a:pPr marL="0" indent="447675" algn="just">
              <a:lnSpc>
                <a:spcPct val="150000"/>
              </a:lnSpc>
              <a:spcAft>
                <a:spcPts val="1000"/>
              </a:spcAft>
            </a:pP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Анализ данных показал, что наибольший отток наблюдается в Германии, а также среди клиентов старшего возраста с высоким балансом.</a:t>
            </a:r>
          </a:p>
          <a:p>
            <a:pPr marL="0" indent="447675" algn="just">
              <a:lnSpc>
                <a:spcPct val="150000"/>
              </a:lnSpc>
              <a:spcAft>
                <a:spcPts val="1000"/>
              </a:spcAft>
            </a:pP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Построена и оценена модель логистической регрессии с L2-регуляризацией, показала хорошие результаты (F1 = 0.56, ROC-AUC = 0.72, PR-AUC: 0.53).</a:t>
            </a:r>
          </a:p>
          <a:p>
            <a:pPr marL="0" indent="447675" algn="just">
              <a:lnSpc>
                <a:spcPct val="150000"/>
              </a:lnSpc>
              <a:spcAft>
                <a:spcPts val="1000"/>
              </a:spcAft>
            </a:pP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Разработана система скоринга, позволяющая сегментировать клиентов по уровню риска.</a:t>
            </a:r>
          </a:p>
          <a:p>
            <a:pPr marL="0" indent="447675" algn="just">
              <a:lnSpc>
                <a:spcPct val="150000"/>
              </a:lnSpc>
              <a:spcAft>
                <a:spcPts val="1000"/>
              </a:spcAft>
            </a:pP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Важные признаки: возраст, баланс, активность клиента, число продуктов.</a:t>
            </a:r>
          </a:p>
          <a:p>
            <a:pPr marL="0" indent="447675" algn="just">
              <a:lnSpc>
                <a:spcPct val="150000"/>
              </a:lnSpc>
              <a:spcAft>
                <a:spcPts val="1000"/>
              </a:spcAft>
            </a:pP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Практическая значимость: модель позволяет идентифицировать клиентов с высоким риском оттока и принимать превентивные меры.</a:t>
            </a:r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661238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1064</Words>
  <Application>Microsoft Office PowerPoint</Application>
  <PresentationFormat>Широкоэкранный</PresentationFormat>
  <Paragraphs>140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Source Sans Pro Black</vt:lpstr>
      <vt:lpstr>Times New Roman</vt:lpstr>
      <vt:lpstr>Тема Office</vt:lpstr>
      <vt:lpstr>Презентация PowerPoint</vt:lpstr>
      <vt:lpstr>Введение</vt:lpstr>
      <vt:lpstr>Логистическая регрессия</vt:lpstr>
      <vt:lpstr>Функция потерь(Log loss)</vt:lpstr>
      <vt:lpstr>Метрики качества</vt:lpstr>
      <vt:lpstr>Описание признаков</vt:lpstr>
      <vt:lpstr>Данные</vt:lpstr>
      <vt:lpstr>Распределение признаков</vt:lpstr>
      <vt:lpstr>Модель классификации</vt:lpstr>
      <vt:lpstr>Визуализация</vt:lpstr>
      <vt:lpstr>Визуализация</vt:lpstr>
      <vt:lpstr>Система скоринга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Кирилл Ким</dc:creator>
  <cp:lastModifiedBy>Кирилл Ким</cp:lastModifiedBy>
  <cp:revision>9</cp:revision>
  <dcterms:created xsi:type="dcterms:W3CDTF">2025-12-21T12:43:27Z</dcterms:created>
  <dcterms:modified xsi:type="dcterms:W3CDTF">2025-12-23T06:50:55Z</dcterms:modified>
</cp:coreProperties>
</file>