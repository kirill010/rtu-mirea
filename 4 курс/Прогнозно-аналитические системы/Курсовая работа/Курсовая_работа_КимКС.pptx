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8" r:id="rId2"/>
    <p:sldId id="257" r:id="rId3"/>
    <p:sldId id="280" r:id="rId4"/>
    <p:sldId id="295" r:id="rId5"/>
    <p:sldId id="296" r:id="rId6"/>
    <p:sldId id="259" r:id="rId7"/>
    <p:sldId id="298" r:id="rId8"/>
    <p:sldId id="300" r:id="rId9"/>
    <p:sldId id="303" r:id="rId10"/>
    <p:sldId id="305" r:id="rId11"/>
    <p:sldId id="307" r:id="rId12"/>
    <p:sldId id="309" r:id="rId13"/>
    <p:sldId id="27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6978" autoAdjust="0"/>
  </p:normalViewPr>
  <p:slideViewPr>
    <p:cSldViewPr snapToGrid="0">
      <p:cViewPr varScale="1">
        <p:scale>
          <a:sx n="90" d="100"/>
          <a:sy n="90" d="100"/>
        </p:scale>
        <p:origin x="3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B7E25-5DF0-429D-B6BF-81D6FA98D04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97496-3096-49B3-AD98-477EC3F7E7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51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Титульный лист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29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431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97496-3096-49B3-AD98-477EC3F7E76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27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Для обучения модели возникает необходимость определения коэффициентов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для этого используется функция потерь (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loss function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</a:t>
                </a:r>
              </a:p>
              <a:p>
                <a:pPr marL="0" marR="0" lvl="0" indent="0" algn="just" defTabSz="121882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Наиболее подходящая нам функция потерь — функция потерь логистической регрессии (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Logistic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loss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function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Loss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работающая на методе максимального правдоподобия, согласно которому выбираются параметры 𝜃, 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максимизирующие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значение функции правдоподобия на обучающей выборке.</a:t>
                </a:r>
              </a:p>
              <a:p>
                <a:pPr marL="0" marR="0" lvl="0" indent="0" algn="just" defTabSz="121882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Логарифмическая потеря указывает, насколько близка вероятность предсказания к соответствующему истинному значению (классу). Чем больше прогнозируемая вероятность отклоняется от фактического значения, тем выше значение логарифма потерь. Таким образом, чем больше правдоподобие, тем вероятнее что классы объектов выбраны верно.</a:t>
                </a:r>
              </a:p>
              <a:p>
                <a:pPr marL="0" marR="0" lvl="0" indent="0" algn="just" defTabSz="121882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Так как мы привыкли минимизировать значения для оптимизации модели, а не максимизировать, то с помощью свойств логарифмов перепишем формулу как:</a:t>
                </a:r>
              </a:p>
              <a:p>
                <a:pPr marL="0" marR="0" lvl="0" indent="0" algn="just" defTabSz="121882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Теперь функция будет иметь наименьшее значение, когда не будет ошибаться вовсе, а наибольшее, когда будет ошибаться всегда. Модель с совершенными навыками имеет логарифм потерь, равным нулю. </a:t>
                </a:r>
              </a:p>
              <a:p>
                <a:pPr algn="just"/>
                <a:endParaRPr lang="ru-RU" sz="16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 ARIMAX добавляются дополнительные факторы или регрессоры, которые не являются частью самого ряда ​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𝑦_𝑡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Это могут быть внешние переменные, которые могут влиять на исследуемый временной ряд.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ARIMAX модель формализуется как ARIMA(p, d, q) с добавлением внешних регрессоров 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</a:p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Параметры модели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𝜑,𝜃, 𝛽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обычно оцениваются с использованием метода наименьших квадратов (МНК) или других методов оптимизации для минимизации ошибок модели. 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МНК позволяет получить такие оценки параметров модели, при которых сумма квадратов отклонений фактических значений результативного признака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𝑥_𝑖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от расчетных (теоретических)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(𝑥_𝑖 ) ̂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минимальна:</a:t>
                </a: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069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Для оптимизации модели используется градиентный спуск, — численный метод нахождения локального минимума или максимума функции с помощью движения вдоль градиента, один из основных численных методов современной оптимизации. </a:t>
                </a:r>
              </a:p>
              <a:p>
                <a:pPr algn="just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Также на практике возникает явление переобучения, когда модель хорошо справляется с данными из обучающей выборки, но плохо работает на новых данных. Это происходит из-за того, что модель запоминает ненужные детали обучающих данных, вместо того чтобы обобщать общие закономерности. Переобучение в большинстве случаев проявляется в том, что в получающихся полиномах слишком большие коэффициенты. </a:t>
                </a:r>
              </a:p>
              <a:p>
                <a:pPr algn="just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Для улучшения обобщающей способности получающейся модели, то есть уменьшения эффекта переобучения, часто рассматривается логистическая регрессия с регуляризацией.</a:t>
                </a:r>
              </a:p>
              <a:p>
                <a:pPr algn="just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Регуляризация — метод управления сложностью модели путем добавления дополнительных ограничений к условию задачи. Это помогает избежать переобучения и решить некорректно поставленные задачи.</a:t>
                </a:r>
              </a:p>
              <a:p>
                <a:pPr algn="just"/>
                <a:endParaRPr lang="ru-RU" sz="16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 ARIMAX добавляются дополнительные факторы или регрессоры, которые не являются частью самого ряда ​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𝑦_𝑡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Это могут быть внешние переменные, которые могут влиять на исследуемый временной ряд.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ARIMAX модель формализуется как ARIMA(p, d, q) с добавлением внешних регрессоров 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</a:p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Параметры модели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𝜑,𝜃, 𝛽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обычно оцениваются с использованием метода наименьших квадратов (МНК) или других методов оптимизации для минимизации ошибок модели. 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МНК позволяет получить такие оценки параметров модели, при которых сумма квадратов отклонений фактических значений результативного признака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𝑥_𝑖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от расчетных (теоретических)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(𝑥_𝑖 ) ̂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минимальна:</a:t>
                </a: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001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1218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 данном слайде представлена</a:t>
            </a:r>
            <a:r>
              <a:rPr lang="ru-RU" baseline="0" dirty="0"/>
              <a:t> таблица </a:t>
            </a:r>
            <a:r>
              <a:rPr lang="ru-RU" dirty="0"/>
              <a:t>входных полей и их описание. Левая колонка – тип данных, центральная – имя</a:t>
            </a:r>
            <a:r>
              <a:rPr lang="ru-RU" baseline="0" dirty="0"/>
              <a:t> поля, правая – описание поля (признака).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638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sz="16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Алгоритм логистической регрессии требует линейной независимости признаков для устойчивой сходимости, на рисунке также посчитаны взаимные коэффициенты Пирсона между парой переменных в данных.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Как можно заметить корреляций между признаками не прослеживается – максимальное значения корреляции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−0.33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между признаками «Вес» и «Размер».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Также можно заметить, что распределения отличаются не очень сильно, хотя классы, на первый взгляд, условно различимы.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445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759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начала разделим наш набор данных на обучающий и тестовый для независимой оценки. На обучающий отведем 70% данных, на тестовый - 30%.</a:t>
            </a:r>
          </a:p>
          <a:p>
            <a:pPr algn="just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058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10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9141-3703-1115-9533-6034E699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088982-9872-F27A-289A-4A4B83FAD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F7DE19E-4ACB-EF7D-A84C-D96E6EB2B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10679F-E42F-1281-2BFC-F06FB88A6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102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95D51-DEA0-09B0-4C24-4453ECB8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9C04701-E7AD-BB67-5607-F6AB7F695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E5119C-C055-DB6A-CE5B-41C6F9FA9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DA21E5-B6D8-EEBE-6A2C-8F7694EAA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822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ходе выполнения курсовой работы достигнута поставленная цель — разработан и протестирован сценарий анализа и обработки данных для прогнозирования оттока клиентов банка с использованием логистической регрессии.</a:t>
            </a:r>
          </a:p>
          <a:p>
            <a:pPr algn="just"/>
            <a:endParaRPr lang="ru-R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результаты показывают:</a:t>
            </a:r>
            <a:endParaRPr lang="ru-R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 данных показал, что наибольший отток наблюдается в Германии, а также среди клиентов старшего возраста с высоким балансом.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Построена и оценена модель логистической регрессии с L2-регуляризацией, показала хорошие результаты (F1 = 0.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 = 0.7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2, PR-AUC: 0.53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Разработана система скоринга, позволяющая сегментировать клиентов по уровню риска.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Важные признаки: возраст, баланс, активность клиента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 продуктов.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Практическая значимость: модель позволяет идентифицировать клиентов с высоким риском оттока и принимать превентивные меры.</a:t>
            </a:r>
          </a:p>
          <a:p>
            <a:pPr lvl="0" algn="just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Рекомендации для банка: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Сфокусироваться на клиентах из групп высокого риска (Группы 4–5).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Разработать персонализированные предложения для удержания клиентов.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Мониторить динамику оттока по странам и демографическим группам.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03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66FA1-CBA5-B4D3-8551-502332B2C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FF16ED-4A42-A254-B878-692D55AC6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DB2ABC-DB63-8668-AEAC-0395DE91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0D8108-BBC4-F814-A9F8-6ED7D1CD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DD2121-E122-D974-CB0F-E8286DCC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99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8EC1D-40AA-3B94-892D-F8697865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61BDFB-ECA7-DF7F-5C2B-0C81EB935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3D0604-AF65-7F55-369C-0F631A37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E49522-2F9E-5405-8B5C-015EA6CF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8EC260-D8E9-BBE0-447B-50F78FCB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069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A9A47-E51C-A083-5A96-8E384F69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C16745-D4D7-39A4-54BE-3CE3D109D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1D014-DECA-D14B-1530-334A10F6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EE4654-FD8E-720A-1E6B-19B8625B9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DA3EF5-B223-05E9-149E-01BB594D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65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4949B-A6F8-086E-AEC2-CA955521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7D4B06-6CF5-E5FF-BE89-EA8B38DD0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202C4C-5276-82F0-497F-A93DD6416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E96285-6C14-2F17-71C2-B91F3B2E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626A16-7D29-2ACF-2FF0-65B160CB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56574F-4813-150B-EB77-095D9556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7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35116-7AF5-52B2-AC95-B132D153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199965-79BE-5187-8C74-EDDF92602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C113A5-B236-C366-7FA4-2DF295C80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130E89-B50E-3882-78CA-F5B827263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B0B302-07C9-B491-D80D-539CEB63D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CBBF6F-A8AD-A34A-64CC-7EB2BF01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B286D3-9739-BDA3-5DF9-0F96C4FE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A63D18E-7FDF-255E-566A-38FC7ABC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95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EA0E7-30E3-CFBD-218A-8036B81C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51E7C4-68EC-DD98-F401-E7764878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281829-EFDE-04DF-C780-AF2522B8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551203-3167-C449-E772-0C515E39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0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31BA24-C22A-C00A-7416-C7457359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3331A9-C6E0-4FF3-D044-94A7251E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4C026B-89DD-C5D9-F39A-6F3F4061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94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7A56C-6308-0F9A-884D-506D3A47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80C479-35AA-8E28-7201-1412BEE44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7EABAD-BDE1-732C-B0BB-FD833C176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6094F6-B6B0-363A-AB1C-617E1549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307B4F-3545-C643-3F08-9CBD113C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DD8852-AB8B-9203-C05C-CCBD4DDE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40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20116-D0D8-B3A8-A177-C9520BA6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482ECB9-E13A-A15C-EAD6-7E9A82200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1ADAC8-B90E-B970-049B-C48870EF9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7E9349-5FA0-33B6-FF21-6B58955A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E64E42-8932-B9FC-E70E-D99BFB46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533853-CA8E-C073-AA09-A036A9A9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5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AA0DB-A109-546A-4ACF-BD5EB129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431539-4E84-6877-C05D-B29BD24E4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DD0C7D-7260-56F1-911B-3BAC376C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A8F607-5B05-19B4-CAB3-8B0C3115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215BE1-A853-B945-C754-51CBA16A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833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E4C47EF-1A6C-5877-4582-D8B691CE1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78E266-6FE8-52E8-3178-8C82702B5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27E36-8953-72F7-BF36-53127410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C4141A-D245-C8EB-47FB-5A69F2E7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014BDF-ABFA-A36F-22A6-7F1E9366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13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83365-68EB-6D88-8697-95A247A4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24EC40-B81D-947D-B31B-B7E74DA81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C8284-1F5E-600C-FA37-4506AC29B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2D391-A1BD-4779-88E8-3E8F507EC30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0DF613-C5BE-FE60-5083-18561C762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311885-F266-F54E-10F8-B09081A5E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20825-BD14-4F7B-A9DC-110471157B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85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Текстовое поле 99"/>
          <p:cNvSpPr txBox="1"/>
          <p:nvPr/>
        </p:nvSpPr>
        <p:spPr>
          <a:xfrm>
            <a:off x="4259180" y="1269260"/>
            <a:ext cx="3673644" cy="369237"/>
          </a:xfrm>
          <a:prstGeom prst="rect">
            <a:avLst/>
          </a:prstGeom>
          <a:noFill/>
          <a:ln w="9525">
            <a:noFill/>
          </a:ln>
        </p:spPr>
        <p:txBody>
          <a:bodyPr wrap="square" lIns="91409" tIns="45704" rIns="91409" bIns="45704">
            <a:spAutoFit/>
          </a:bodyPr>
          <a:lstStyle/>
          <a:p>
            <a:pPr indent="203137" algn="ctr"/>
            <a:r>
              <a:rPr lang="en-US" dirty="0">
                <a:latin typeface="Times New Roman" panose="02020603050405020304" charset="0"/>
              </a:rPr>
              <a:t>МИНОБРНАУКИ РОССИИ</a:t>
            </a:r>
            <a:endParaRPr lang="ru-RU" altLang="en-US" dirty="0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978303" y="1638497"/>
            <a:ext cx="8227259" cy="1200040"/>
          </a:xfrm>
          <a:prstGeom prst="rect">
            <a:avLst/>
          </a:prstGeom>
          <a:noFill/>
          <a:ln w="9525">
            <a:noFill/>
          </a:ln>
        </p:spPr>
        <p:txBody>
          <a:bodyPr wrap="square" lIns="91409" tIns="45704" rIns="91409" bIns="45704">
            <a:spAutoFit/>
          </a:bodyPr>
          <a:lstStyle/>
          <a:p>
            <a:pPr indent="203137" algn="ctr"/>
            <a:r>
              <a:rPr lang="en-US" dirty="0" err="1">
                <a:latin typeface="Times New Roman" panose="02020603050405020304" charset="0"/>
              </a:rPr>
              <a:t>Федеральное</a:t>
            </a:r>
            <a:r>
              <a:rPr lang="en-US" dirty="0">
                <a:latin typeface="Times New Roman" panose="02020603050405020304" charset="0"/>
              </a:rPr>
              <a:t> </a:t>
            </a:r>
            <a:r>
              <a:rPr lang="en-US" dirty="0" err="1">
                <a:latin typeface="Times New Roman" panose="02020603050405020304" charset="0"/>
              </a:rPr>
              <a:t>государственное</a:t>
            </a:r>
            <a:r>
              <a:rPr lang="en-US" dirty="0">
                <a:latin typeface="Times New Roman" panose="02020603050405020304" charset="0"/>
              </a:rPr>
              <a:t> </a:t>
            </a:r>
            <a:r>
              <a:rPr lang="en-US" dirty="0" err="1">
                <a:latin typeface="Times New Roman" panose="02020603050405020304" charset="0"/>
              </a:rPr>
              <a:t>бюджетное</a:t>
            </a:r>
            <a:r>
              <a:rPr lang="en-US" dirty="0">
                <a:latin typeface="Times New Roman" panose="02020603050405020304" charset="0"/>
              </a:rPr>
              <a:t> </a:t>
            </a:r>
            <a:r>
              <a:rPr lang="en-US" dirty="0" err="1">
                <a:latin typeface="Times New Roman" panose="02020603050405020304" charset="0"/>
              </a:rPr>
              <a:t>образовательное</a:t>
            </a:r>
            <a:r>
              <a:rPr lang="en-US" dirty="0">
                <a:latin typeface="Times New Roman" panose="02020603050405020304" charset="0"/>
              </a:rPr>
              <a:t> </a:t>
            </a:r>
            <a:r>
              <a:rPr lang="en-US" dirty="0" err="1">
                <a:latin typeface="Times New Roman" panose="02020603050405020304" charset="0"/>
              </a:rPr>
              <a:t>учреждение</a:t>
            </a:r>
            <a:endParaRPr lang="en-US" dirty="0">
              <a:latin typeface="Times New Roman" panose="02020603050405020304" charset="0"/>
            </a:endParaRPr>
          </a:p>
          <a:p>
            <a:pPr indent="203137" algn="ctr"/>
            <a:r>
              <a:rPr lang="en-US" dirty="0" err="1">
                <a:latin typeface="Times New Roman" panose="02020603050405020304" charset="0"/>
              </a:rPr>
              <a:t>высшего</a:t>
            </a:r>
            <a:r>
              <a:rPr lang="en-US" dirty="0">
                <a:latin typeface="Times New Roman" panose="02020603050405020304" charset="0"/>
              </a:rPr>
              <a:t> </a:t>
            </a:r>
            <a:r>
              <a:rPr lang="en-US" dirty="0" err="1">
                <a:latin typeface="Times New Roman" panose="02020603050405020304" charset="0"/>
              </a:rPr>
              <a:t>образования</a:t>
            </a:r>
            <a:endParaRPr lang="en-US" b="1" dirty="0">
              <a:latin typeface="Times New Roman" panose="02020603050405020304" charset="0"/>
            </a:endParaRPr>
          </a:p>
          <a:p>
            <a:pPr indent="203137" algn="ctr"/>
            <a:r>
              <a:rPr lang="en-US" b="1" dirty="0">
                <a:latin typeface="Times New Roman" panose="02020603050405020304" charset="0"/>
              </a:rPr>
              <a:t>«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charset="0"/>
              </a:rPr>
              <a:t>МИРЭА –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charset="0"/>
              </a:rPr>
              <a:t>Российский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charset="0"/>
              </a:rPr>
              <a:t>технологический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charset="0"/>
              </a:rPr>
              <a:t>университет</a:t>
            </a:r>
            <a:r>
              <a:rPr lang="en-US" b="1" dirty="0">
                <a:latin typeface="Times New Roman" panose="02020603050405020304" charset="0"/>
              </a:rPr>
              <a:t>»</a:t>
            </a:r>
          </a:p>
          <a:p>
            <a:pPr indent="203137" algn="ctr"/>
            <a:r>
              <a:rPr lang="en-US" b="1" dirty="0">
                <a:latin typeface="Times New Roman" panose="02020603050405020304" charset="0"/>
              </a:rPr>
              <a:t>РТУ МИРЭА</a:t>
            </a:r>
            <a:endParaRPr lang="ru-RU" altLang="en-US" dirty="0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2092188" y="3069043"/>
            <a:ext cx="8007629" cy="1753910"/>
          </a:xfrm>
          <a:prstGeom prst="rect">
            <a:avLst/>
          </a:prstGeom>
          <a:noFill/>
          <a:ln w="9525">
            <a:noFill/>
          </a:ln>
        </p:spPr>
        <p:txBody>
          <a:bodyPr wrap="square" lIns="91409" tIns="45704" rIns="91409" bIns="45704">
            <a:spAutoFit/>
          </a:bodyPr>
          <a:lstStyle/>
          <a:p>
            <a:pPr indent="203137"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Прогнозно-аналитические системы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03137"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203137"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сценария анализа и обработки данных на примере задачи оттока клиентов банка с применением логистической модели»</a:t>
            </a:r>
            <a:endParaRPr lang="ru-RU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1728147" y="5156793"/>
          <a:ext cx="8735710" cy="6051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1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ru-RU" alt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Выполнил с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тудент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группы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И</a:t>
                      </a:r>
                      <a:r>
                        <a:rPr lang="ru-RU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М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БО-0</a:t>
                      </a:r>
                      <a:r>
                        <a:rPr lang="ru-RU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r>
                        <a:rPr lang="ru-RU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22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55" marR="68555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altLang="en-US" sz="1800" b="0" dirty="0">
                          <a:latin typeface="Times New Roman" panose="0202060305040502030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Ким Кирилл Сергеевич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55" marR="68555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/>
          <p:nvPr/>
        </p:nvGraphicFramePr>
        <p:xfrm>
          <a:off x="1727511" y="5876706"/>
          <a:ext cx="8736982" cy="595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8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631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Руководитель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курсовой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работы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55" marR="68555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kumimoji="0" lang="ru-RU" sz="18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Юрченков</a:t>
                      </a:r>
                      <a:r>
                        <a:rPr kumimoji="0" lang="ru-RU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Иван Александрович</a:t>
                      </a:r>
                      <a:endParaRPr lang="en-US" altLang="en-US" sz="1800" b="0" dirty="0">
                        <a:latin typeface="Times New Roman" panose="02020603050405020304" pitchFamily="18" charset="0"/>
                        <a:ea typeface="Times New Roman" panose="02020603050405020304" charset="0"/>
                        <a:cs typeface="Times New Roman" panose="02020603050405020304" pitchFamily="18" charset="0"/>
                      </a:endParaRPr>
                    </a:p>
                  </a:txBody>
                  <a:tcPr marL="68555" marR="68555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5" name="Рисунок 35" descr="Изображение выглядит как текст&#10;&#10;Автоматически созданное описание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6425" y="189391"/>
            <a:ext cx="919156" cy="1039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2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11584" y="333373"/>
            <a:ext cx="10968833" cy="1143000"/>
          </a:xfrm>
        </p:spPr>
        <p:txBody>
          <a:bodyPr>
            <a:noAutofit/>
          </a:bodyPr>
          <a:lstStyle/>
          <a:p>
            <a:pPr algn="ctr"/>
            <a:r>
              <a:rPr lang="ru-RU" sz="63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40000"/>
              </a:lnSpc>
              <a:spcBef>
                <a:spcPts val="800"/>
              </a:spcBef>
              <a:buNone/>
            </a:pPr>
            <a:r>
              <a:rPr lang="ru-RU" sz="4399" b="1" dirty="0">
                <a:latin typeface="Times New Roman" panose="02020603050405020304" pitchFamily="18" charset="0"/>
                <a:ea typeface="Source Sans Pro Black" panose="020B0604020202020204" charset="0"/>
                <a:cs typeface="Times New Roman" panose="02020603050405020304" pitchFamily="18" charset="0"/>
              </a:rPr>
              <a:t>Цель</a:t>
            </a:r>
            <a:r>
              <a:rPr lang="ru-RU" sz="3899" b="1" dirty="0">
                <a:latin typeface="Times New Roman" panose="02020603050405020304" pitchFamily="18" charset="0"/>
                <a:ea typeface="Source Sans Pro light" panose="020B0604020202020204" charset="0"/>
                <a:cs typeface="Times New Roman" panose="02020603050405020304" pitchFamily="18" charset="0"/>
              </a:rPr>
              <a:t>:</a:t>
            </a:r>
            <a:r>
              <a:rPr lang="ru-RU" sz="3899" dirty="0">
                <a:latin typeface="Times New Roman" panose="02020603050405020304" pitchFamily="18" charset="0"/>
                <a:ea typeface="Source Sans Pro light" panose="020B0604020202020204" charset="0"/>
                <a:cs typeface="Times New Roman" panose="02020603050405020304" pitchFamily="18" charset="0"/>
              </a:rPr>
              <a:t>  </a:t>
            </a:r>
            <a:r>
              <a:rPr lang="ru-RU" sz="359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сценарии анализа и обработать данные для прогнозирования оттока клиентов банка с использованием логистической регрессии..</a:t>
            </a:r>
            <a:endParaRPr lang="en-US" sz="3599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800"/>
              </a:spcBef>
              <a:buNone/>
            </a:pPr>
            <a:r>
              <a:rPr lang="ru-RU" sz="4399" b="1" dirty="0">
                <a:latin typeface="Times New Roman" panose="02020603050405020304" pitchFamily="18" charset="0"/>
                <a:ea typeface="Source Sans Pro Black" panose="020B0604020202020204" charset="0"/>
                <a:cs typeface="Times New Roman" panose="02020603050405020304" pitchFamily="18" charset="0"/>
              </a:rPr>
              <a:t>Задачи:</a:t>
            </a:r>
          </a:p>
          <a:p>
            <a:pPr marL="0" indent="447585">
              <a:tabLst>
                <a:tab pos="720581" algn="l"/>
              </a:tabLst>
            </a:pPr>
            <a:r>
              <a:rPr lang="ru-RU" sz="35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данные о клиентах банка и выявить факторы, влияющие на отток</a:t>
            </a:r>
          </a:p>
          <a:p>
            <a:pPr marL="0" indent="447585">
              <a:tabLst>
                <a:tab pos="720581" algn="l"/>
              </a:tabLst>
            </a:pPr>
            <a:r>
              <a:rPr lang="ru-RU" sz="35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предобработку данных и создать новые признаки</a:t>
            </a:r>
          </a:p>
          <a:p>
            <a:pPr marL="0" indent="447585">
              <a:tabLst>
                <a:tab pos="720581" algn="l"/>
              </a:tabLst>
            </a:pPr>
            <a:r>
              <a:rPr lang="ru-RU" sz="35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и оценить модель логистической регрессии</a:t>
            </a:r>
          </a:p>
          <a:p>
            <a:pPr marL="0" indent="447585">
              <a:tabLst>
                <a:tab pos="720581" algn="l"/>
              </a:tabLst>
            </a:pPr>
            <a:r>
              <a:rPr lang="ru-RU" sz="35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важность признаков и сделать выводы</a:t>
            </a:r>
          </a:p>
          <a:p>
            <a:pPr marL="0" indent="447585">
              <a:tabLst>
                <a:tab pos="720581" algn="l"/>
              </a:tabLst>
            </a:pPr>
            <a:r>
              <a:rPr lang="ru-RU" sz="35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систему скоринга для сегментации клиентов по риску оттока</a:t>
            </a:r>
          </a:p>
          <a:p>
            <a:pPr marL="0" indent="447585">
              <a:tabLst>
                <a:tab pos="720581" algn="l"/>
              </a:tabLst>
            </a:pPr>
            <a:r>
              <a:rPr lang="ru-RU" sz="35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Предложить практические рекомендации для банка</a:t>
            </a:r>
          </a:p>
        </p:txBody>
      </p:sp>
      <p:pic>
        <p:nvPicPr>
          <p:cNvPr id="5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22" y="1"/>
            <a:ext cx="1390974" cy="139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36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CE649-F09A-73F0-9CFF-A566F1E5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Логистическая регрессия</a:t>
            </a:r>
            <a:endParaRPr lang="ru-RU" sz="6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576F79-BC4F-BE0F-A14A-E39874268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EDC0679-8506-AF67-3A6A-283FA4DC4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971" y="1457539"/>
            <a:ext cx="5440029" cy="360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FB6415-5BA1-030E-858C-E22176578E59}"/>
                  </a:ext>
                </a:extLst>
              </p:cNvPr>
              <p:cNvSpPr txBox="1"/>
              <p:nvPr/>
            </p:nvSpPr>
            <p:spPr>
              <a:xfrm>
                <a:off x="441730" y="1794632"/>
                <a:ext cx="6811593" cy="4413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sz="11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Mangal" panose="02040503050203030202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Mangal" panose="02040503050203030202" pitchFamily="18" charset="0"/>
                  </a:rPr>
                  <a:t> </a:t>
                </a:r>
                <a:endParaRPr lang="ru-RU" sz="11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Mangal" panose="02040503050203030202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Mangal" panose="02040503050203030202" pitchFamily="18" charset="0"/>
                  </a:rPr>
                  <a:t>где 	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ru-RU" sz="11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Mangal" panose="02040503050203030202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Mangal" panose="02040503050203030202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Mangal" panose="02040503050203030202" pitchFamily="18" charset="0"/>
                  </a:rPr>
                  <a:t> — вектор-столбец параметров (весов) логистической регрессии,</a:t>
                </a:r>
                <a:endParaRPr lang="ru-RU" sz="11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Mangal" panose="02040503050203030202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Mangal" panose="02040503050203030202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Mangal" panose="02040503050203030202" pitchFamily="18" charset="0"/>
                  </a:rPr>
                  <a:t> — вектор-столбец независимых переменных.</a:t>
                </a:r>
              </a:p>
              <a:p>
                <a:pPr indent="450215" algn="just">
                  <a:lnSpc>
                    <a:spcPct val="150000"/>
                  </a:lnSpc>
                  <a:buNone/>
                </a:pPr>
                <a:endParaRPr lang="ru-RU" sz="11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Mangal" panose="02040503050203030202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Mangal" panose="02040503050203030202" pitchFamily="18" charset="0"/>
                  </a:rPr>
                  <a:t>Логистическая функция преобразует линейную комбинацию в вероятность принадлежности к целевому классу, принимающую значения в диапазоне от 0 до 1.</a:t>
                </a:r>
                <a:endParaRPr lang="ru-RU" sz="11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Mangal" panose="02040503050203030202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FB6415-5BA1-030E-858C-E22176578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0" y="1794632"/>
                <a:ext cx="6811593" cy="4413324"/>
              </a:xfrm>
              <a:prstGeom prst="rect">
                <a:avLst/>
              </a:prstGeom>
              <a:blipFill>
                <a:blip r:embed="rId4"/>
                <a:stretch>
                  <a:fillRect l="-716" r="-716" b="-1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66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11584" y="124240"/>
            <a:ext cx="10968833" cy="1143000"/>
          </a:xfrm>
        </p:spPr>
        <p:txBody>
          <a:bodyPr>
            <a:noAutofit/>
          </a:bodyPr>
          <a:lstStyle/>
          <a:p>
            <a:pPr algn="ctr"/>
            <a:r>
              <a:rPr lang="ru-RU" sz="63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потерь (</a:t>
            </a:r>
            <a:r>
              <a:rPr lang="en-US" sz="63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loss)</a:t>
            </a:r>
            <a:endParaRPr lang="ru-RU" sz="63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22" y="1"/>
            <a:ext cx="1390974" cy="139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634879" y="1485234"/>
                <a:ext cx="5173157" cy="27101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125" algn="just"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Формула для правдоподобия:</a:t>
                </a:r>
              </a:p>
              <a:p>
                <a:pPr indent="45012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limLoc m:val="undOvr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bSup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𝑚𝑎𝑥</m:t>
                      </m: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indent="450125" algn="just"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где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— вероятность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 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принадлежности к целевому классу </a:t>
                </a:r>
                <a:r>
                  <a:rPr lang="en-US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-ого объекта,</a:t>
                </a:r>
              </a:p>
              <a:p>
                <a:pPr indent="450125" algn="just"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— целевое значение </a:t>
                </a:r>
                <a:r>
                  <a:rPr lang="en-US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-ого объекта.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79" y="1485234"/>
                <a:ext cx="5173157" cy="2710115"/>
              </a:xfrm>
              <a:prstGeom prst="rect">
                <a:avLst/>
              </a:prstGeom>
              <a:blipFill>
                <a:blip r:embed="rId4"/>
                <a:stretch>
                  <a:fillRect l="-942" r="-942" b="-29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808036" y="2530806"/>
                <a:ext cx="6091415" cy="83747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endChr m:val="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0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endChr m:val="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2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0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2000"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036" y="2530806"/>
                <a:ext cx="6091415" cy="837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6038584" y="3368278"/>
                <a:ext cx="6091415" cy="16154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— вероятность принадлежности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к целевому классу </a:t>
                </a:r>
                <a:r>
                  <a:rPr lang="en-US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-ого объекта,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— целевое значение </a:t>
                </a:r>
                <a:r>
                  <a:rPr lang="en-US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-ого объекта,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n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— количество объектов.	</a:t>
                </a:r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584" y="3368278"/>
                <a:ext cx="6091415" cy="1615453"/>
              </a:xfrm>
              <a:prstGeom prst="rect">
                <a:avLst/>
              </a:prstGeom>
              <a:blipFill>
                <a:blip r:embed="rId6"/>
                <a:stretch>
                  <a:fillRect l="-901" r="-801" b="-49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5805886" y="1319189"/>
            <a:ext cx="1491730" cy="4579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125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Log loss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5887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11584" y="124240"/>
            <a:ext cx="10968833" cy="1143000"/>
          </a:xfrm>
        </p:spPr>
        <p:txBody>
          <a:bodyPr>
            <a:noAutofit/>
          </a:bodyPr>
          <a:lstStyle/>
          <a:p>
            <a:pPr algn="ctr"/>
            <a:r>
              <a:rPr lang="ru-RU" sz="63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</a:t>
            </a:r>
          </a:p>
        </p:txBody>
      </p:sp>
      <p:pic>
        <p:nvPicPr>
          <p:cNvPr id="5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22" y="1"/>
            <a:ext cx="1390974" cy="139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1">
                <a:extLst>
                  <a:ext uri="{FF2B5EF4-FFF2-40B4-BE49-F238E27FC236}">
                    <a16:creationId xmlns:a16="http://schemas.microsoft.com/office/drawing/2014/main" id="{770ACC14-756D-EA79-3173-26CC897E3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658" y="949497"/>
                <a:ext cx="4199416" cy="3045401"/>
              </a:xfrm>
            </p:spPr>
            <p:txBody>
              <a:bodyPr>
                <a:normAutofit/>
              </a:bodyPr>
              <a:lstStyle/>
              <a:p>
                <a:pPr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𝐴𝑐𝑐𝑢𝑟𝑎𝑐𝑦</m:t>
                      </m:r>
                      <m:r>
                        <a:rPr lang="ru-RU" sz="16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𝑇𝑃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𝑇𝑃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𝑇𝑁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𝐹𝑃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150000"/>
                  </a:lnSpc>
                  <a:buNone/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𝑃𝑟𝑒𝑐𝑖𝑠𝑖𝑜𝑛</m:t>
                    </m:r>
                    <m:r>
                      <a:rPr lang="ru-R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𝑇𝑃</m:t>
                        </m:r>
                      </m:num>
                      <m:den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𝑇𝑃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𝑅𝑒𝑐𝑎𝑙𝑙</m:t>
                    </m:r>
                    <m:r>
                      <a:rPr lang="ru-R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𝑇𝑃</m:t>
                        </m:r>
                      </m:num>
                      <m:den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𝑇𝑃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1=2∗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𝑝𝑟𝑒𝑐𝑖𝑠𝑖𝑜𝑛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𝑝𝑟𝑒𝑐𝑖𝑠𝑖𝑜𝑛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𝑟𝑒𝑐𝑎𝑙𝑙</m:t>
                        </m:r>
                      </m:den>
                    </m:f>
                  </m:oMath>
                </a14:m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ctr">
                  <a:lnSpc>
                    <a:spcPct val="150000"/>
                  </a:lnSpc>
                  <a:buNone/>
                </a:pPr>
                <a:endParaRPr lang="ru-RU" sz="1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:endParaRPr lang="ru-RU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Source Sans Pro Black" panose="020B0604020202020204" charset="0"/>
                  <a:ea typeface="Source Sans Pro Black" panose="020B0604020202020204" charset="0"/>
                </a:endParaRPr>
              </a:p>
            </p:txBody>
          </p:sp>
        </mc:Choice>
        <mc:Fallback>
          <p:sp>
            <p:nvSpPr>
              <p:cNvPr id="6" name="Объект 1">
                <a:extLst>
                  <a:ext uri="{FF2B5EF4-FFF2-40B4-BE49-F238E27FC236}">
                    <a16:creationId xmlns:a16="http://schemas.microsoft.com/office/drawing/2014/main" id="{770ACC14-756D-EA79-3173-26CC897E3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658" y="949497"/>
                <a:ext cx="4199416" cy="304540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C2DD97-1A54-2733-5A1D-19514CFACD45}"/>
                  </a:ext>
                </a:extLst>
              </p:cNvPr>
              <p:cNvSpPr txBox="1"/>
              <p:nvPr/>
            </p:nvSpPr>
            <p:spPr>
              <a:xfrm>
                <a:off x="444678" y="3677154"/>
                <a:ext cx="5183377" cy="3056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125" algn="just">
                  <a:lnSpc>
                    <a:spcPct val="150000"/>
                  </a:lnSpc>
                </a:pPr>
                <a:r>
                  <a:rPr lang="ru-RU" sz="1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Кривая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𝑅𝑂𝐶</m:t>
                    </m:r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— это график, который иллюстрирует производительность классификационной модели при всех возможных порогах классификации. Ось X данного графика представляет собой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𝐹𝑃𝑅</m:t>
                    </m:r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т.е. ложноположительную частоту, а ось Y —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𝑇𝑅𝑃</m:t>
                    </m:r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450125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𝑇𝑃𝑅</m:t>
                    </m:r>
                    <m:r>
                      <a:rPr lang="ru-RU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𝑇𝑃</m:t>
                        </m:r>
                      </m:num>
                      <m:den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𝑇𝑃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125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𝐹𝑃𝑅</m:t>
                    </m:r>
                    <m:r>
                      <a:rPr lang="ru-RU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𝐹𝑃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𝑇𝑁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 </a:t>
                </a:r>
                <a:endPara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sz="14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Чтобы агрегировать эту кривую в скаляр вычисляется площадь под этой кривой.</a:t>
                </a:r>
                <a:endParaRPr lang="ru-RU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C2DD97-1A54-2733-5A1D-19514CFAC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8" y="3677154"/>
                <a:ext cx="5183377" cy="3056606"/>
              </a:xfrm>
              <a:prstGeom prst="rect">
                <a:avLst/>
              </a:prstGeom>
              <a:blipFill>
                <a:blip r:embed="rId5"/>
                <a:stretch>
                  <a:fillRect l="-353" r="-353" b="-9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CF53A0-BB16-19D5-0DD5-58DBFB8C3C0F}"/>
                  </a:ext>
                </a:extLst>
              </p:cNvPr>
              <p:cNvSpPr txBox="1"/>
              <p:nvPr/>
            </p:nvSpPr>
            <p:spPr>
              <a:xfrm>
                <a:off x="6563947" y="4330283"/>
                <a:ext cx="4751428" cy="2264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𝑇𝑃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— количество действительно положительных объектов;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𝑇𝑁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— количество действительно отрицательных объектов;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𝐹𝑃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— количество ложноположительных объектов;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𝐹𝑁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— количество ложноотрицательных объектов.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CF53A0-BB16-19D5-0DD5-58DBFB8C3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947" y="4330283"/>
                <a:ext cx="4751428" cy="2264081"/>
              </a:xfrm>
              <a:prstGeom prst="rect">
                <a:avLst/>
              </a:prstGeom>
              <a:blipFill>
                <a:blip r:embed="rId6"/>
                <a:stretch>
                  <a:fillRect l="-770" r="-642" b="-24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55ECDDB9-14B8-AE17-077D-AFF195A9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15718"/>
            <a:ext cx="5378416" cy="281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556896"/>
              </p:ext>
            </p:extLst>
          </p:nvPr>
        </p:nvGraphicFramePr>
        <p:xfrm>
          <a:off x="1272581" y="1485234"/>
          <a:ext cx="9646840" cy="42062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586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0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данных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Поле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поля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целочисленный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RowNumber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CustomerId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Surname</a:t>
                      </a:r>
                      <a:endParaRPr lang="ru-RU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Идентификация</a:t>
                      </a:r>
                      <a:endParaRPr lang="ru-RU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целочисленный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CreditScore</a:t>
                      </a:r>
                      <a:endParaRPr lang="ru-RU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Кредитный рейтинг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строковый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Geography </a:t>
                      </a:r>
                      <a:endParaRPr lang="ru-RU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Страна клиента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строковый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Gender</a:t>
                      </a:r>
                      <a:endParaRPr lang="ru-RU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целочисленный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Age</a:t>
                      </a:r>
                      <a:endParaRPr lang="ru-RU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Возраст</a:t>
                      </a:r>
                      <a:endParaRPr kumimoji="0" lang="ru-RU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целочисленный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Tenure 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Сколько лет клиент с банком сотрудничает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вещественный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Balance 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Баланс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целочисленный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IsActiveMember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Активность (0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/1)</a:t>
                      </a:r>
                      <a:endParaRPr kumimoji="0" lang="ru-RU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целочисленный</a:t>
                      </a: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Exited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76" marR="121876" marT="60960" marB="60960"/>
                </a:tc>
                <a:tc>
                  <a:txBody>
                    <a:bodyPr/>
                    <a:lstStyle/>
                    <a:p>
                      <a:pPr marL="0" lvl="1" algn="ctr" rtl="0" eaLnBrk="1" latinLnBrk="0" hangingPunct="1"/>
                      <a:r>
                        <a:rPr kumimoji="0"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Целевая переменная (0 — остался, 1 — ушёл).</a:t>
                      </a:r>
                    </a:p>
                  </a:txBody>
                  <a:tcPr marL="121876" marR="121876" marT="60960" marB="6096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22" y="1"/>
            <a:ext cx="1390974" cy="139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68641" y="248479"/>
            <a:ext cx="11070395" cy="1143000"/>
          </a:xfrm>
        </p:spPr>
        <p:txBody>
          <a:bodyPr>
            <a:normAutofit/>
          </a:bodyPr>
          <a:lstStyle/>
          <a:p>
            <a:pPr algn="ctr"/>
            <a:r>
              <a:rPr lang="ru-RU" sz="65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3923298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3604" y="0"/>
            <a:ext cx="11070395" cy="1143000"/>
          </a:xfrm>
        </p:spPr>
        <p:txBody>
          <a:bodyPr>
            <a:noAutofit/>
          </a:bodyPr>
          <a:lstStyle/>
          <a:p>
            <a:pPr algn="ctr"/>
            <a:r>
              <a:rPr lang="ru-RU" sz="4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0F730-55A9-A037-FD0C-EE0AA4EAC206}"/>
              </a:ext>
            </a:extLst>
          </p:cNvPr>
          <p:cNvSpPr txBox="1"/>
          <p:nvPr/>
        </p:nvSpPr>
        <p:spPr>
          <a:xfrm>
            <a:off x="4304658" y="5914909"/>
            <a:ext cx="4668285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Предобработанные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2782A-66C6-DE1A-5E50-3F3AA84B87A9}"/>
              </a:ext>
            </a:extLst>
          </p:cNvPr>
          <p:cNvSpPr txBox="1"/>
          <p:nvPr/>
        </p:nvSpPr>
        <p:spPr>
          <a:xfrm>
            <a:off x="5306960" y="2904679"/>
            <a:ext cx="2663679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67B1B4-7733-AF40-0B90-37808971D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60" y="945739"/>
            <a:ext cx="11537680" cy="18442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E26D71-92C3-D3D7-1F57-225AF0894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016" y="3963590"/>
            <a:ext cx="8397968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07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0803" y="10770"/>
            <a:ext cx="11070395" cy="1143000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признаков</a:t>
            </a:r>
            <a:endParaRPr lang="ru-RU" sz="4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2378D4E-740D-563E-7EBB-9C2DD6BFC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02" y="1153770"/>
            <a:ext cx="4600470" cy="479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ACA14FE-D531-8F14-AAFB-0AD57C4A9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596" y="1234225"/>
            <a:ext cx="5820404" cy="463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77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3604" y="0"/>
            <a:ext cx="11070395" cy="1143000"/>
          </a:xfrm>
        </p:spPr>
        <p:txBody>
          <a:bodyPr>
            <a:noAutofit/>
          </a:bodyPr>
          <a:lstStyle/>
          <a:p>
            <a:pPr algn="ctr"/>
            <a:r>
              <a:rPr lang="ru-RU" sz="4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классификации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617845-190E-9FB8-D99D-A47D12ED3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64" y="2197996"/>
            <a:ext cx="7873936" cy="465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CC6B1C-E89C-6859-1387-53F1C1B2A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160" y="1054996"/>
            <a:ext cx="4649555" cy="190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5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3604" y="0"/>
            <a:ext cx="11070395" cy="1143000"/>
          </a:xfrm>
        </p:spPr>
        <p:txBody>
          <a:bodyPr>
            <a:noAutofit/>
          </a:bodyPr>
          <a:lstStyle/>
          <a:p>
            <a:pPr algn="ctr"/>
            <a:r>
              <a:rPr lang="ru-RU" sz="4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284B371-D6F8-1F9C-113D-1A7D7946D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8937"/>
            <a:ext cx="5653427" cy="420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D4B80024-886D-E82C-F323-93D64130C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575" y="938938"/>
            <a:ext cx="5635424" cy="419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22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552E-8541-0C53-375A-F46155B3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DE4A4F-DF7E-C625-42DC-DEE64534A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401" y="-98575"/>
            <a:ext cx="11070395" cy="1143000"/>
          </a:xfrm>
        </p:spPr>
        <p:txBody>
          <a:bodyPr>
            <a:noAutofit/>
          </a:bodyPr>
          <a:lstStyle/>
          <a:p>
            <a:pPr algn="ctr"/>
            <a:r>
              <a:rPr lang="ru-RU" sz="4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18329B1-B6A6-E564-AE53-C5465523B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90" y="1044425"/>
            <a:ext cx="5681307" cy="447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7DA060C6-3385-1D06-F3C8-946A62E91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904" y="1044425"/>
            <a:ext cx="6002891" cy="447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04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9AC8-8AA5-FB84-10C1-7E83E0E7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F2626-5CE9-A472-A94A-74ECE34F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04" y="0"/>
            <a:ext cx="11070395" cy="1143000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скоринга</a:t>
            </a:r>
            <a:endParaRPr lang="ru-RU" sz="4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43E15F-88BC-B362-9905-62772797F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9" y="619125"/>
            <a:ext cx="3083154" cy="2809875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E609778F-EEAA-C839-D5EF-18DEC5577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50" y="1014970"/>
            <a:ext cx="6592349" cy="525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1C9AF1-AB59-F986-0867-6BC28D952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06" y="3607250"/>
            <a:ext cx="3381520" cy="290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2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84" y="248479"/>
            <a:ext cx="10968833" cy="1143000"/>
          </a:xfrm>
        </p:spPr>
        <p:txBody>
          <a:bodyPr>
            <a:normAutofit/>
          </a:bodyPr>
          <a:lstStyle/>
          <a:p>
            <a:pPr algn="ctr"/>
            <a:r>
              <a:rPr lang="ru-RU" sz="5799" dirty="0"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5476" y="1202265"/>
            <a:ext cx="10968833" cy="565573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данной курсовой работы —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и протестировать сценарий анализа и обработки данных для прогнозирования оттока клиентов банка с использованием логистической регрессии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достигнута. 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Основные результаты показывают:</a:t>
            </a:r>
          </a:p>
          <a:p>
            <a:pPr marL="0" indent="447675" algn="just">
              <a:lnSpc>
                <a:spcPct val="150000"/>
              </a:lnSpc>
              <a:spcAft>
                <a:spcPts val="100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данных показал, что наибольший отток наблюдается в Германии, а также среди клиентов старшего возраста с высоким балансом.</a:t>
            </a:r>
          </a:p>
          <a:p>
            <a:pPr marL="0" indent="447675" algn="just">
              <a:lnSpc>
                <a:spcPct val="150000"/>
              </a:lnSpc>
              <a:spcAft>
                <a:spcPts val="100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Построена и оценена модель логистической регрессии с L2-регуляризацией, показала хорошие результаты (F1 = 0.56, ROC-AUC = 0.72, PR-AUC: 0.53).</a:t>
            </a:r>
          </a:p>
          <a:p>
            <a:pPr marL="0" indent="447675" algn="just">
              <a:lnSpc>
                <a:spcPct val="150000"/>
              </a:lnSpc>
              <a:spcAft>
                <a:spcPts val="100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Разработана система скоринга, позволяющая сегментировать клиентов по уровню риска.</a:t>
            </a:r>
          </a:p>
          <a:p>
            <a:pPr marL="0" indent="447675" algn="just">
              <a:lnSpc>
                <a:spcPct val="150000"/>
              </a:lnSpc>
              <a:spcAft>
                <a:spcPts val="100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Важные признаки: возраст, баланс, активность клиента, число продуктов.</a:t>
            </a:r>
          </a:p>
          <a:p>
            <a:pPr marL="0" indent="447675" algn="just">
              <a:lnSpc>
                <a:spcPct val="150000"/>
              </a:lnSpc>
              <a:spcAft>
                <a:spcPts val="100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значимость: модель позволяет идентифицировать клиентов с высоким риском оттока и принимать превентивные меры.</a:t>
            </a:r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22" y="1"/>
            <a:ext cx="1390974" cy="139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612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1064</Words>
  <Application>Microsoft Office PowerPoint</Application>
  <PresentationFormat>Широкоэкранный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Source Sans Pro Black</vt:lpstr>
      <vt:lpstr>Times New Roman</vt:lpstr>
      <vt:lpstr>Тема Office</vt:lpstr>
      <vt:lpstr>Презентация PowerPoint</vt:lpstr>
      <vt:lpstr>Введение</vt:lpstr>
      <vt:lpstr>Логистическая регрессия</vt:lpstr>
      <vt:lpstr>Функция потерь (Log loss)</vt:lpstr>
      <vt:lpstr>Метрики качества</vt:lpstr>
      <vt:lpstr>Описание признаков</vt:lpstr>
      <vt:lpstr>Данные</vt:lpstr>
      <vt:lpstr>Распределение признаков</vt:lpstr>
      <vt:lpstr>Модель классификации</vt:lpstr>
      <vt:lpstr>Визуализация</vt:lpstr>
      <vt:lpstr>Визуализация</vt:lpstr>
      <vt:lpstr>Система скоринга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Кирилл Ким</dc:creator>
  <cp:lastModifiedBy>Кирилл Ким</cp:lastModifiedBy>
  <cp:revision>10</cp:revision>
  <dcterms:created xsi:type="dcterms:W3CDTF">2025-12-21T12:43:27Z</dcterms:created>
  <dcterms:modified xsi:type="dcterms:W3CDTF">2025-12-23T17:21:09Z</dcterms:modified>
</cp:coreProperties>
</file>