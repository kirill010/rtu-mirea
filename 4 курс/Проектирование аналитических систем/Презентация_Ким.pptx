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7" r:id="rId5"/>
    <p:sldId id="265" r:id="rId6"/>
    <p:sldId id="259" r:id="rId7"/>
    <p:sldId id="275" r:id="rId8"/>
    <p:sldId id="263" r:id="rId9"/>
    <p:sldId id="278" r:id="rId10"/>
    <p:sldId id="279" r:id="rId11"/>
    <p:sldId id="280" r:id="rId12"/>
    <p:sldId id="262" r:id="rId13"/>
    <p:sldId id="274" r:id="rId14"/>
    <p:sldId id="272" r:id="rId15"/>
    <p:sldId id="273" r:id="rId16"/>
    <p:sldId id="271" r:id="rId17"/>
    <p:sldId id="267" r:id="rId18"/>
    <p:sldId id="269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2"/>
  </p:normalViewPr>
  <p:slideViewPr>
    <p:cSldViewPr snapToGrid="0">
      <p:cViewPr varScale="1">
        <p:scale>
          <a:sx n="111" d="100"/>
          <a:sy n="111" d="100"/>
        </p:scale>
        <p:origin x="25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5E600-16D6-F4F0-71E2-D4C63B052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9A381D-5CD5-4A5F-C948-F59E0102B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60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3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827BB3-9DE8-1E62-9D7B-7520C703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5BB30-8003-BE69-BF7A-E3856EBB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96256-CD97-092F-8758-7F08FFF3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0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1E85D-39C8-A3B7-C0D5-76AD847E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D8CACB-B419-6AF0-DEC5-2124A1BB6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DE5405-5262-9D87-C226-D69E56E02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C2BC-639D-3FE2-0D1F-CBFCCAA3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D2072-3EBE-9A5A-B0C4-F93BF931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51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2EBC7-66F4-E001-0AE8-6F16B43B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B97B24-C734-1B17-25C9-71BD10138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11713D-356A-FEFE-2C8F-8BAB4EA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E833B-9C9E-5B5F-9E8D-6F168548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37663B-0097-2C6E-5782-08F76A07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7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16BFCB-06FE-8B15-F4F1-5148B2B6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B22321-F1F0-9EA3-434D-5B2C0168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FF1F92-D6F3-7807-4FD0-1E064D0F2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42711C-D618-C024-0E15-86351996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F7FAE4-15B6-E063-60C6-A10543A5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54004E-DC66-FA20-598E-5A55AB7D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17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11586-C694-F5DF-16E6-DF4C5BE2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B1F89-46DC-16AA-B853-11448151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32A422-1CC2-F041-CFFF-8407B600A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DE311F-205C-4B1D-533B-C5CFC4F32F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5288B0D-453A-93FD-7463-272AAA856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B387F3-04DE-A5C6-4287-37C7B98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50AF93-7DD1-6E13-D2AD-4D26791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A5B7BF-C7E1-6765-9D26-D4E4D18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83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D83F9-A236-E40F-D7F6-1F4ABB57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ADFB08-9DC0-52E7-D215-B5B75796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2C4FF8-3D3A-9DFE-5C63-8E33D87B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DAF146-9CBD-85B9-519A-B47C97E5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295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B22DD8-884D-8422-1578-5C53F778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12C9043-F3FC-E7E5-4F9E-61A30EFA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561E09-0F5E-BFEA-E2DE-E2D0FB39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37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B40EA-BC64-A0FA-F5FD-DC12167F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8AE43-B0A6-FF17-2B58-1A128C6C2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FD3E95-96D7-2270-0C98-C6138ADD6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E388F9-F0A9-6F37-4D4D-568C4177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481ED6-8D65-72B0-8EFB-98D8117D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DCB5B4-4EE9-6829-5521-5AD0C742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81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14A98-9F45-1994-F75D-0B28794D1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FFFFE4-3CD9-82C0-57C2-600876988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BA3B-9D66-2B6E-51D6-82DC42FD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2878B9-D1D2-DFEB-5F03-C8D29BC31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EFDA18-3498-F492-A918-C638D2155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B0D437-9244-4062-C2F6-A7791973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46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F681D-1DF8-CBF3-A21E-B337936A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4AF940-7152-482E-6556-3489B3CEE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9E5804-CF53-50A9-B9E4-E52F1BBF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C925E0-C490-22AC-279B-331AB6B8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E3A776-81BE-A8C3-4754-815125625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03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73DB00-C15C-F9EC-CC21-E43EA0DB9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A6B20B-FBCD-184F-4C47-F10155197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217B45-E17C-8B5D-5F8C-8DCC3BA6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BACCDC-E5F7-8F1C-9C5A-4CE27B56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4B437-4D2A-3460-00C9-53E18C29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77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6298407" y="446484"/>
            <a:ext cx="5000625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 lvl="0"/>
            <a:r>
              <a:rPr lang="ru-RU" noProof="0">
                <a:sym typeface="Helvetica Light"/>
              </a:rPr>
              <a:t>Вставка рисунка</a:t>
            </a:r>
            <a:endParaRPr noProof="0">
              <a:sym typeface="Helvetica Light"/>
            </a:endParaRPr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892969" y="446484"/>
            <a:ext cx="5000625" cy="2803922"/>
          </a:xfrm>
          <a:prstGeom prst="rect">
            <a:avLst/>
          </a:prstGeom>
        </p:spPr>
        <p:txBody>
          <a:bodyPr anchor="b"/>
          <a:lstStyle>
            <a:lvl1pPr>
              <a:defRPr sz="4219"/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892969" y="3348633"/>
            <a:ext cx="5000625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63709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950FE-881C-8ED6-D789-6A09473D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7ED2E5-D116-8315-887B-FD76EFBE2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CF2C2D-1DE9-73B1-2ADA-E378D25A0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E7B2-EB6C-204D-B5B2-6B8A9012DAAE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85D405-BC33-A30F-0BFE-6EEB92D17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DB24C-C2AE-490A-C155-9C746000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88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5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2025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Кирилл Сергеевич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961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Презентация проекта по дисциплине «Проектирование аналитических систем»</a:t>
            </a:r>
          </a:p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аналитической системы штормового предупреждения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18FCD-C684-CF4F-AF46-68A03BC8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DD104-37BF-E720-905B-A33DC5075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8900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Необходимость раннего прогнозирования штормовых явлений для предотвращения ущерба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 Разработка аналитической системы для прогнозирования штормовых условий с заблаговременностью 2-6 часов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применение: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Метеорологические службы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Авиационные и морские перевозки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Аварийные службы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FD32FF-BBFB-5F1F-332A-51F378C3D2B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E457D-6E90-6A6E-EAF6-F52F579F3B15}"/>
              </a:ext>
            </a:extLst>
          </p:cNvPr>
          <p:cNvSpPr txBox="1"/>
          <p:nvPr/>
        </p:nvSpPr>
        <p:spPr>
          <a:xfrm>
            <a:off x="11887199" y="648866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672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FF92-4229-7936-308B-85E144D0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8F7586-6EC0-F1E3-8983-3FDDD95B4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7A996-CB93-6AC3-2B19-8E6D5FCEF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Коммерческие системы:</a:t>
            </a:r>
          </a:p>
          <a:p>
            <a:pPr marL="0" indent="0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AccuWeather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Открытые платформы:</a:t>
            </a:r>
          </a:p>
          <a:p>
            <a:pPr marL="0" indent="0"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OpenMeteo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3849CEA-AF7E-D689-6B5E-D52DA386E73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B1135A-B2DD-B861-DEC1-284331156153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4F46FF-5EDB-ACE2-1885-58EC8C691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64" y="2917689"/>
            <a:ext cx="6430676" cy="2399861"/>
          </a:xfrm>
          <a:prstGeom prst="rect">
            <a:avLst/>
          </a:prstGeom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AE62B022-9BA8-FFD1-C511-C723CB3EA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518115"/>
            <a:ext cx="2339882" cy="233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43C3F1FF-8054-293C-F626-178F751B9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292" y="0"/>
            <a:ext cx="3042708" cy="182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27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16BC-03B4-40F7-8B21-6514B3284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E1E6FC4-9C76-A6D4-C021-00EFBB64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 Open-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параметры: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ветра (10м, 80м, 120м, 180м)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Порывы ветра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Температура, осадки, влажность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Облачность, давление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переменная: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is_storm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Критерии: скорость ветра ≥15 м/с, порывы ≥25 м/с, осадки ≥7 мм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данных: Временные ряды с часовой частотой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BD65AD5-223A-CE3D-6937-EE288AF3D7B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51ADA-8D7F-A1DA-7065-9C3FDC09509A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PlaceHolder 1">
            <a:extLst>
              <a:ext uri="{FF2B5EF4-FFF2-40B4-BE49-F238E27FC236}">
                <a16:creationId xmlns:a16="http://schemas.microsoft.com/office/drawing/2014/main" id="{97F713F5-1FF2-8FE5-13BD-5FD1A7A5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373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 dirty="0">
                <a:solidFill>
                  <a:schemeClr val="dk1"/>
                </a:solidFill>
                <a:uFillTx/>
                <a:latin typeface="Times New Roman"/>
              </a:rPr>
              <a:t>Анализ и характеристика входных данных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5B65CF0-3A75-C5FC-1C57-2120B0E43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84" y="1058863"/>
            <a:ext cx="7339097" cy="155950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02F9037-8BE2-B791-A12F-63C2B0D5B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688" y="2845377"/>
            <a:ext cx="4827312" cy="213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4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38267-C448-7C24-1925-E0A567245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15AA9-F243-4776-7B62-FEFF97B1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83174-7622-A79B-D1C6-AAB3F569D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8613"/>
            <a:ext cx="10515600" cy="4355015"/>
          </a:xfrm>
        </p:spPr>
        <p:txBody>
          <a:bodyPr>
            <a:normAutofit/>
          </a:bodyPr>
          <a:lstStyle/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1: Проектирование модульной архитектуры системы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2: Реализация модуля обработки данных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3: Реализация модуля анализа данных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Создание модуля визуализации</a:t>
            </a:r>
          </a:p>
          <a:p>
            <a:pPr marL="268288" indent="-268288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Реализация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интерфейса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DA4427-C7F0-9AF9-0762-C77AAACA8EF5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37F43-C759-776D-14ED-2A7E454E8BDA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24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D72B-1EC2-D50F-6F64-6B0FC461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19A96-A135-0758-166D-37069C5B1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2DBA07A-9CCF-0BA5-EDEA-457DC43E8F9A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B39AB-222A-149E-90D6-C467C4F9DD48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D9D8155-169C-CE60-2710-5B2735A7C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7" y="1319899"/>
            <a:ext cx="6486525" cy="3867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985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9E5FA-1BCD-304E-188A-B6A1A35C7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9081C-9E49-F777-C658-2518F45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инструментальных средств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A662FC-BDA2-B667-7E29-40AF60E76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1A93289-0308-C124-A6D9-1E217616F75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3B9C88-E242-B9D0-E4FA-0981CE2FAC83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6" name="Picture 2" descr="Python (programming language) - Wikipedia">
            <a:extLst>
              <a:ext uri="{FF2B5EF4-FFF2-40B4-BE49-F238E27FC236}">
                <a16:creationId xmlns:a16="http://schemas.microsoft.com/office/drawing/2014/main" id="{7CA46FD5-0154-B085-775D-154D61FB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043" y="1251493"/>
            <a:ext cx="1442546" cy="144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GitHub - numpy/numpy: The fundamental package for scientific computing with  Python.">
            <a:extLst>
              <a:ext uri="{FF2B5EF4-FFF2-40B4-BE49-F238E27FC236}">
                <a16:creationId xmlns:a16="http://schemas.microsoft.com/office/drawing/2014/main" id="{B5609306-7744-099B-880C-B52FFCA27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086" y="1529763"/>
            <a:ext cx="2600216" cy="116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andas (software) - Wikipedia">
            <a:extLst>
              <a:ext uri="{FF2B5EF4-FFF2-40B4-BE49-F238E27FC236}">
                <a16:creationId xmlns:a16="http://schemas.microsoft.com/office/drawing/2014/main" id="{9664529A-794F-0D68-EAA3-7EA263301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975" y="2921051"/>
            <a:ext cx="4288221" cy="173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18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A65AC-FEF2-4837-8561-A4DB1A11F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58775" indent="-358775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обработки данных (загрузка, очистка, генерация признаков)</a:t>
            </a: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целостности и качества данных</a:t>
            </a: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Нормализация, создание признаков, заполнение пропусков медианой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Модуль анализа (ML-модели, валидация)</a:t>
            </a: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временных признаков</a:t>
            </a: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GradientBoosting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</a:t>
            </a:r>
          </a:p>
          <a:p>
            <a:pPr marL="806450" indent="-358775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Прогнозирование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Модуль визуализации (графики, отчеты)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GUI-модуль (управление, отображение)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40281-FF2B-8EFB-7685-19BD3C320AC2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303F6-C6C9-0BA5-DF2A-B523B882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B8E97-4C88-FB21-28A1-E128ED43A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C52DAA-82C1-E853-D26F-B1265212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DDFE638-C206-A6A3-036A-0A45178D875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98D9A-DB5F-3FFA-C3BD-1DDB838B71B9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91E47A-693A-E794-2104-513E280A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379"/>
            <a:ext cx="5791200" cy="319743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72941C-12BC-15D9-71E7-50490DEF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240" y="1483051"/>
            <a:ext cx="6096000" cy="28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C813-916B-D12A-B8D5-931C0F92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04CA3C-8133-530D-A863-6D15BE30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FFDE97-703C-593D-2CDF-71C981ABA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321F3C9-6FF9-AE1B-05B6-3E5EF6DE20BE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233B9F-672A-E9CA-12E1-CE6D0A920C42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33F3E4-42C8-FB7D-A8EF-5F3C5399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066"/>
            <a:ext cx="6128116" cy="28040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AC3F82F-FF53-7A7B-C425-64CB6F232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497" y="1165412"/>
            <a:ext cx="6387783" cy="293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81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9A78-0282-5DAD-5D76-9CD34B6B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F20A0-B6C7-36D6-20DD-E57FEBDF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28FCDC-3045-B89A-77E5-F8B6B6CE6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640170-C2B3-432B-9396-9867D2DA73A9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3404E4-DA72-017B-19F6-D08259D85E18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6E33FA-47C4-FD74-A55B-29B12C96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45324"/>
            <a:ext cx="6096001" cy="29306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DD4E74-298D-02C5-5103-DA5564F2A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5324"/>
            <a:ext cx="6060977" cy="279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98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2F785-F37D-8A82-181C-45B2DCF6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56F7F06-80DB-39C4-9761-2F929E12AB1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4D66E-2E1F-200E-DA7B-866653CA28A7}"/>
              </a:ext>
            </a:extLst>
          </p:cNvPr>
          <p:cNvSpPr txBox="1"/>
          <p:nvPr/>
        </p:nvSpPr>
        <p:spPr>
          <a:xfrm>
            <a:off x="11887199" y="64886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A518BD-2D85-433F-461D-7DD9BC771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518" y="1286379"/>
            <a:ext cx="6902782" cy="360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ABB6-31D6-5A70-B004-3B75BF9D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815E4-C096-0859-2779-3CD27EBE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AE4103-B544-5BCA-9E30-6320E6260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2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0.90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0.91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0.91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0.91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0.97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288C6E-C0B3-8415-4CD2-3FD84A688D4D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AD6FA0-655F-01E8-EB7F-E88AF052DA18}"/>
              </a:ext>
            </a:extLst>
          </p:cNvPr>
          <p:cNvSpPr txBox="1"/>
          <p:nvPr/>
        </p:nvSpPr>
        <p:spPr>
          <a:xfrm>
            <a:off x="11785669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AE572D-92D0-C0B1-88F7-3EE62ABE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824" y="2432791"/>
            <a:ext cx="6836155" cy="42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32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A6B9-E41C-35C0-7FA8-CAA31956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E2C146-3B4E-0D93-87A0-83F31E74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F373C6-E410-AE7E-8847-E38D98A5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4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0.83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0.84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0.87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0.85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0.91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98125AF-05ED-9DBC-F62C-E9DBD444E55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6D3E1-1B0D-5948-BD68-633EE81B94D5}"/>
              </a:ext>
            </a:extLst>
          </p:cNvPr>
          <p:cNvSpPr txBox="1"/>
          <p:nvPr/>
        </p:nvSpPr>
        <p:spPr>
          <a:xfrm>
            <a:off x="11785094" y="6488668"/>
            <a:ext cx="40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B6C9D8-6108-38E5-65DD-ED17ADED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212" y="2511788"/>
            <a:ext cx="7006502" cy="434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53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74382-264D-12BE-D8F2-1564DAD0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B10B0-0F12-6D5C-8D3F-F1678179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6886D-0A23-B03F-56EA-30231115F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качества (горизонт 6 часа):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0.79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0.79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0.85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0.82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AUC-ROC: 0.87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3E3FB5E-580C-8B60-A1F6-BE6CEC494A84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08A22-0EC4-B4FB-9FF6-82D20C2D077C}"/>
              </a:ext>
            </a:extLst>
          </p:cNvPr>
          <p:cNvSpPr txBox="1"/>
          <p:nvPr/>
        </p:nvSpPr>
        <p:spPr>
          <a:xfrm>
            <a:off x="11776502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A0F10A3-C804-99C8-A8B7-8CC9C4855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76" y="2511788"/>
            <a:ext cx="7006504" cy="434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1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A0EA-23EF-AB4D-4927-95C50BA6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70548-5585-D484-0115-02EBC2DE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E70955-2435-3379-C421-FFF0DAFB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обработки года данных: ~3 минуты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обучения модели: ~5 минуты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прогнозирования: &lt; 10 секунд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обеспечивает надежное прогнозирование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метрики соответствуют промышленным стандартам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удовлетворяет требованиям реального времени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CCE7BC4-2AEE-9295-BFBE-B79D7ABE5E2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BFDFF-82AD-7D1A-9AC8-8E076D0AF05A}"/>
              </a:ext>
            </a:extLst>
          </p:cNvPr>
          <p:cNvSpPr txBox="1"/>
          <p:nvPr/>
        </p:nvSpPr>
        <p:spPr>
          <a:xfrm>
            <a:off x="11776502" y="64886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4674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F4412-3B9C-91CA-3572-487140F91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412"/>
            <a:ext cx="10515600" cy="482255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полнофункциональная аналитическая система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модульная архитектура с GUI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Достигнуты высокие метрики качества прогнозирования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качества данных: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данных с локальных метеостанций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Включение спутниковых снимков облачности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ML-моделей: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переобучение моделей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интерфейса: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картографической визуализации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системы оповещений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1F7F9-BD35-5FD3-820E-83AF3D141D7C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7D880-DDE7-0C14-B6DE-2E4F8B9AF3DA}"/>
              </a:ext>
            </a:extLst>
          </p:cNvPr>
          <p:cNvSpPr txBox="1"/>
          <p:nvPr/>
        </p:nvSpPr>
        <p:spPr>
          <a:xfrm>
            <a:off x="11775689" y="6488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theme/theme1.xml><?xml version="1.0" encoding="utf-8"?>
<a:theme xmlns:a="http://schemas.openxmlformats.org/drawingml/2006/main" name="ПМ_с_Лого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М_с_Лого" id="{F7516732-D8D0-9043-8243-A8BD8BF1D468}" vid="{04A2C018-727A-A440-935C-C8323FA330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ПМ_с_Лого</Template>
  <TotalTime>356</TotalTime>
  <Words>501</Words>
  <Application>Microsoft Office PowerPoint</Application>
  <PresentationFormat>Широкоэкранный</PresentationFormat>
  <Paragraphs>133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Helvetica Light</vt:lpstr>
      <vt:lpstr>Arial</vt:lpstr>
      <vt:lpstr>Calibri</vt:lpstr>
      <vt:lpstr>Calibri Light</vt:lpstr>
      <vt:lpstr>Century Gothic</vt:lpstr>
      <vt:lpstr>Times New Roman</vt:lpstr>
      <vt:lpstr>ПМ_с_Лого</vt:lpstr>
      <vt:lpstr>Презентация PowerPoint</vt:lpstr>
      <vt:lpstr>Характеристика предметной области</vt:lpstr>
      <vt:lpstr>Обзор существующих решений</vt:lpstr>
      <vt:lpstr>Анализ и характеристика входных данных</vt:lpstr>
      <vt:lpstr>Описание этапов</vt:lpstr>
      <vt:lpstr>Архитектура системы</vt:lpstr>
      <vt:lpstr>Обоснование выбора инструментальных средств</vt:lpstr>
      <vt:lpstr>Описание реализации</vt:lpstr>
      <vt:lpstr>Демонстрация работы системы</vt:lpstr>
      <vt:lpstr>Демонстрация работы системы</vt:lpstr>
      <vt:lpstr>Демонстрация работы системы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Заключение</vt:lpstr>
      <vt:lpstr>Благодарю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19</cp:revision>
  <dcterms:created xsi:type="dcterms:W3CDTF">2025-04-21T14:08:12Z</dcterms:created>
  <dcterms:modified xsi:type="dcterms:W3CDTF">2025-11-27T18:59:18Z</dcterms:modified>
</cp:coreProperties>
</file>