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3" r:id="rId9"/>
    <p:sldId id="262" r:id="rId10"/>
    <p:sldId id="274" r:id="rId11"/>
    <p:sldId id="272" r:id="rId12"/>
    <p:sldId id="273" r:id="rId13"/>
    <p:sldId id="271" r:id="rId14"/>
    <p:sldId id="267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2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5E600-16D6-F4F0-71E2-D4C63B052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9A381D-5CD5-4A5F-C948-F59E0102B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7" indent="0" algn="ctr">
              <a:buNone/>
              <a:defRPr sz="2000"/>
            </a:lvl2pPr>
            <a:lvl3pPr marL="914353" indent="0" algn="ctr">
              <a:buNone/>
              <a:defRPr sz="1800"/>
            </a:lvl3pPr>
            <a:lvl4pPr marL="1371530" indent="0" algn="ctr">
              <a:buNone/>
              <a:defRPr sz="1600"/>
            </a:lvl4pPr>
            <a:lvl5pPr marL="1828706" indent="0" algn="ctr">
              <a:buNone/>
              <a:defRPr sz="1600"/>
            </a:lvl5pPr>
            <a:lvl6pPr marL="2285883" indent="0" algn="ctr">
              <a:buNone/>
              <a:defRPr sz="1600"/>
            </a:lvl6pPr>
            <a:lvl7pPr marL="2743060" indent="0" algn="ctr">
              <a:buNone/>
              <a:defRPr sz="1600"/>
            </a:lvl7pPr>
            <a:lvl8pPr marL="3200236" indent="0" algn="ctr">
              <a:buNone/>
              <a:defRPr sz="1600"/>
            </a:lvl8pPr>
            <a:lvl9pPr marL="3657413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827BB3-9DE8-1E62-9D7B-7520C703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5BB30-8003-BE69-BF7A-E3856EBB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96256-CD97-092F-8758-7F08FFF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0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1E85D-39C8-A3B7-C0D5-76AD847E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8CACB-B419-6AF0-DEC5-2124A1BB6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E5405-5262-9D87-C226-D69E56E0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EC2BC-639D-3FE2-0D1F-CBFCCAA3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D2072-3EBE-9A5A-B0C4-F93BF931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51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2EBC7-66F4-E001-0AE8-6F16B43B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B97B24-C734-1B17-25C9-71BD1013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11713D-356A-FEFE-2C8F-8BAB4EA6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E833B-9C9E-5B5F-9E8D-6F168548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37663B-0097-2C6E-5782-08F76A07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7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6BFCB-06FE-8B15-F4F1-5148B2B6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22321-F1F0-9EA3-434D-5B2C016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FF1F92-D6F3-7807-4FD0-1E064D0F2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42711C-D618-C024-0E15-86351996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F7FAE4-15B6-E063-60C6-A10543A5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54004E-DC66-FA20-598E-5A55AB7D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17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11586-C694-F5DF-16E6-DF4C5BE2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2B1F89-46DC-16AA-B853-11448151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32A422-1CC2-F041-CFFF-8407B600A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DE311F-205C-4B1D-533B-C5CFC4F32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288B0D-453A-93FD-7463-272AAA856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B387F3-04DE-A5C6-4287-37C7B98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50AF93-7DD1-6E13-D2AD-4D26791F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A5B7BF-C7E1-6765-9D26-D4E4D18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83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D83F9-A236-E40F-D7F6-1F4ABB57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ADFB08-9DC0-52E7-D215-B5B75796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2C4FF8-3D3A-9DFE-5C63-8E33D87B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DAF146-9CBD-85B9-519A-B47C97E5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29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B22DD8-884D-8422-1578-5C53F778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2C9043-F3FC-E7E5-4F9E-61A30EFA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561E09-0F5E-BFEA-E2DE-E2D0FB39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37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B40EA-BC64-A0FA-F5FD-DC12167F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8AE43-B0A6-FF17-2B58-1A128C6C2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FD3E95-96D7-2270-0C98-C6138ADD6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E388F9-F0A9-6F37-4D4D-568C4177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481ED6-8D65-72B0-8EFB-98D8117D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DCB5B4-4EE9-6829-5521-5AD0C742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1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4A98-9F45-1994-F75D-0B28794D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FFFFE4-3CD9-82C0-57C2-600876988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BA3B-9D66-2B6E-51D6-82DC42FD4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2878B9-D1D2-DFEB-5F03-C8D29BC3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EFDA18-3498-F492-A918-C638D215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B0D437-9244-4062-C2F6-A7791973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46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F681D-1DF8-CBF3-A21E-B337936A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4AF940-7152-482E-6556-3489B3CEE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9E5804-CF53-50A9-B9E4-E52F1BBF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925E0-C490-22AC-279B-331AB6B8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E3A776-81BE-A8C3-4754-81512562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03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73DB00-C15C-F9EC-CC21-E43EA0DB9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A6B20B-FBCD-184F-4C47-F10155197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17B45-E17C-8B5D-5F8C-8DCC3BA6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BACCDC-E5F7-8F1C-9C5A-4CE27B56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4B437-4D2A-3460-00C9-53E18C29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77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6298407" y="446484"/>
            <a:ext cx="5000625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 lvl="0"/>
            <a:r>
              <a:rPr lang="ru-RU" noProof="0">
                <a:sym typeface="Helvetica Light"/>
              </a:rPr>
              <a:t>Вставка рисунка</a:t>
            </a:r>
            <a:endParaRPr noProof="0">
              <a:sym typeface="Helvetica Light"/>
            </a:endParaRPr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892969" y="446484"/>
            <a:ext cx="5000625" cy="2803922"/>
          </a:xfrm>
          <a:prstGeom prst="rect">
            <a:avLst/>
          </a:prstGeom>
        </p:spPr>
        <p:txBody>
          <a:bodyPr anchor="b"/>
          <a:lstStyle>
            <a:lvl1pPr>
              <a:defRPr sz="4219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892969" y="3348633"/>
            <a:ext cx="5000625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6370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950FE-881C-8ED6-D789-6A09473D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7ED2E5-D116-8315-887B-FD76EFBE2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CF2C2D-1DE9-73B1-2ADA-E378D25A0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E7B2-EB6C-204D-B5B2-6B8A9012DAA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85D405-BC33-A30F-0BFE-6EEB92D17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DB24C-C2AE-490A-C155-9C746000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88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35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2025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 Сергеевич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96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Презентация проекта по дисциплине «Проектирование аналитических систем»</a:t>
            </a:r>
          </a:p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аналитической системы штормового предупреждения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18FCD-C684-CF4F-AF46-68A03BC8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DD104-37BF-E720-905B-A33DC507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489005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Необходимость раннего прогнозирования штормовых явлений для предотвращения ущерба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 Разработка аналитической системы для прогнозирования штормовых условий с заблаговременностью 2-6 часов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Сбор и обработка метеорологических данных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Разработка ML-модели классификации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Создание модульной архитектуры системы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Реализация GUI для взаимодействия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Оценка эффективности системы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применения: метеорология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FD32FF-BBFB-5F1F-332A-51F378C3D2B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E457D-6E90-6A6E-EAF6-F52F579F3B15}"/>
              </a:ext>
            </a:extLst>
          </p:cNvPr>
          <p:cNvSpPr txBox="1"/>
          <p:nvPr/>
        </p:nvSpPr>
        <p:spPr>
          <a:xfrm>
            <a:off x="11887199" y="6488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67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FF92-4229-7936-308B-85E144D0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F7586-6EC0-F1E3-8983-3FDDD95B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7A996-CB93-6AC3-2B19-8E6D5FCEF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Коммерческие системы: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AccuWeather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Открытые платформы: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OpenMeteo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WeatherAPI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Подход: данные + ML + визуализация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849CEA-AF7E-D689-6B5E-D52DA386E73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1135A-B2DD-B861-DEC1-284331156153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4F46FF-5EDB-ACE2-1885-58EC8C691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438" y="1963129"/>
            <a:ext cx="6430676" cy="2399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F74664-E4B6-87A1-C4D9-10E48E2D861F}"/>
              </a:ext>
            </a:extLst>
          </p:cNvPr>
          <p:cNvSpPr txBox="1"/>
          <p:nvPr/>
        </p:nvSpPr>
        <p:spPr>
          <a:xfrm>
            <a:off x="7695437" y="4362990"/>
            <a:ext cx="2156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7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D72B-1EC2-D50F-6F64-6B0FC461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19A96-A135-0758-166D-37069C5B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исследовательской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743889-063E-445E-1A51-5C0BD370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49"/>
            <a:ext cx="10515600" cy="4389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верификация методов машинного обучения для прогнозирования штормовых явлений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влияния временных характеристик на точность прогнозирования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эффективности алгоритмов ML для классификации метеоявлений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визуализации результатов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прототипа системы с GUI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точности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DBA07A-9CCF-0BA5-EDEA-457DC43E8F9A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B39AB-222A-149E-90D6-C467C4F9DD48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1985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BF4A-02AF-77FB-3ECD-11838F1B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8C560-3075-325B-8F8B-C88CD9FD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характеристика входных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714900-70B7-FFC2-2187-7893F14DD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493"/>
            <a:ext cx="10515600" cy="52371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данных: Open-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Период: 2020-2025 годы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Регион: г. Новороссийск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параметры: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ветра (10м, 80м, 120м, 180м)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Порывы ветра (wind_gusts_10m)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Температура, влажность, давление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Осадки, облачность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Временные метки (часовая частота)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переменная: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is_storm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шторма: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ветра ≥ 15 м/с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Порывы ветра ≥ 20 м/с 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Осадки ≥ 5 мм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C99B8D-106F-D845-BB67-4387A7947F4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9CF53-BC14-3E3F-9F45-B25F526715BE}"/>
              </a:ext>
            </a:extLst>
          </p:cNvPr>
          <p:cNvSpPr txBox="1"/>
          <p:nvPr/>
        </p:nvSpPr>
        <p:spPr>
          <a:xfrm>
            <a:off x="11887199" y="64886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97F188-861B-C0D1-DF4A-D39F4DF63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653" y="4261574"/>
            <a:ext cx="3600378" cy="200021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9A7908A-D0C3-6BFA-6B69-BB93DAE5F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145" y="1131782"/>
            <a:ext cx="7314576" cy="21820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BD4684-E3A8-504A-9FB2-9BE4921FE261}"/>
              </a:ext>
            </a:extLst>
          </p:cNvPr>
          <p:cNvSpPr txBox="1"/>
          <p:nvPr/>
        </p:nvSpPr>
        <p:spPr>
          <a:xfrm>
            <a:off x="7386951" y="3313841"/>
            <a:ext cx="1818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2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0AF2E-B741-E494-5011-9CCB4BB0B5A3}"/>
              </a:ext>
            </a:extLst>
          </p:cNvPr>
          <p:cNvSpPr txBox="1"/>
          <p:nvPr/>
        </p:nvSpPr>
        <p:spPr>
          <a:xfrm>
            <a:off x="5386655" y="6261784"/>
            <a:ext cx="3656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3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с целевой переменной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44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8267-C448-7C24-1925-E0A56724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15AA9-F243-4776-7B62-FEFF97B1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83174-7622-A79B-D1C6-AAB3F569D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283"/>
            <a:ext cx="10515600" cy="529238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1: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целей и задач системы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Формулирование требований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и описание данных</a:t>
            </a:r>
          </a:p>
          <a:p>
            <a:pPr algn="just"/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2: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системы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технологического стека</a:t>
            </a:r>
          </a:p>
          <a:p>
            <a:pPr algn="just"/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3: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модульной структуры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ML-моделей</a:t>
            </a:r>
          </a:p>
          <a:p>
            <a:pPr algn="just"/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4: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GUI на </a:t>
            </a:r>
            <a:r>
              <a:rPr lang="ru-RU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всех модулей</a:t>
            </a:r>
          </a:p>
          <a:p>
            <a:pPr algn="just"/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5: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оценка эффективности</a:t>
            </a:r>
          </a:p>
          <a:p>
            <a:pPr algn="just"/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выводов и предложений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DA4427-C7F0-9AF9-0762-C77AAACA8EF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37F43-C759-776D-14ED-2A7E454E8BDA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554762-9CDB-A68E-1AAE-8584CBDB7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008" y="505992"/>
            <a:ext cx="5257800" cy="3489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2EFD69-47B0-1F87-1D6E-C99C5380232B}"/>
              </a:ext>
            </a:extLst>
          </p:cNvPr>
          <p:cNvSpPr txBox="1"/>
          <p:nvPr/>
        </p:nvSpPr>
        <p:spPr>
          <a:xfrm>
            <a:off x="7001386" y="3995682"/>
            <a:ext cx="3997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архитектуры системы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44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18F-58C6-C9CA-8096-93F48BA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35AA-0F16-A552-5B60-E05B619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инструментальных средств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6650A-2AFE-C0E3-CEE7-02D559808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 + NumPy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обучение: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GradientBoosting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 графики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интерактивные дашборды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F3CCF9-0FB3-EEDC-3795-018CAC2EC8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45016-6764-9760-D157-67D38AC4A249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034773-1DC7-2D92-0969-403D8EC2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031" y="1051265"/>
            <a:ext cx="4688163" cy="1542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D88778-1546-9C03-7E2B-899849AFB850}"/>
              </a:ext>
            </a:extLst>
          </p:cNvPr>
          <p:cNvSpPr txBox="1"/>
          <p:nvPr/>
        </p:nvSpPr>
        <p:spPr>
          <a:xfrm>
            <a:off x="8305284" y="2633553"/>
            <a:ext cx="2155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5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6FCFC3-407D-CF1C-0867-7244F7FA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326" y="2941330"/>
            <a:ext cx="5458460" cy="28498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5DAFA5-F89B-2ACA-BB49-C930CB089E38}"/>
              </a:ext>
            </a:extLst>
          </p:cNvPr>
          <p:cNvSpPr txBox="1"/>
          <p:nvPr/>
        </p:nvSpPr>
        <p:spPr>
          <a:xfrm>
            <a:off x="5974116" y="5791210"/>
            <a:ext cx="4491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6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временного ряда скорости ветра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2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A65AC-FEF2-4837-8561-A4DB1A11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Модульная архитектура:</a:t>
            </a:r>
          </a:p>
          <a:p>
            <a:pPr marL="357188" indent="-357188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обработки данных (загрузка, очистка,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признаков)</a:t>
            </a:r>
          </a:p>
          <a:p>
            <a:pPr marL="357188" indent="-357188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анализа (ML-модели, валидация)</a:t>
            </a:r>
          </a:p>
          <a:p>
            <a:pPr marL="357188" indent="-357188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визуализации (графики, отчеты)</a:t>
            </a:r>
          </a:p>
          <a:p>
            <a:pPr marL="357188" indent="-357188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GUI-модуль (управление, отображение)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загрузка данных из API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временных признаков (лаги, скользящие статистики)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ансамблевых моделей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Интерактивная визуализация результатов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отчетов в различные форматы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40281-FF2B-8EFB-7685-19BD3C320AC2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2F785-F37D-8A82-181C-45B2DCF60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6F7F06-80DB-39C4-9761-2F929E12AB1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4D66E-2E1F-200E-DA7B-866653CA28A7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18F2C-A755-D1B5-C5CD-1050C5B6710B}"/>
              </a:ext>
            </a:extLst>
          </p:cNvPr>
          <p:cNvSpPr txBox="1"/>
          <p:nvPr/>
        </p:nvSpPr>
        <p:spPr>
          <a:xfrm>
            <a:off x="8594964" y="4147540"/>
            <a:ext cx="2553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8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модели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A518BD-2D85-433F-461D-7DD9BC771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282" y="1288021"/>
            <a:ext cx="5333958" cy="278639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DCDC18-F9F4-CFEF-4D95-61F955655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1" y="1299091"/>
            <a:ext cx="4987300" cy="2815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9C0EE1-247E-69FA-9FB4-256E7A937C69}"/>
              </a:ext>
            </a:extLst>
          </p:cNvPr>
          <p:cNvSpPr txBox="1"/>
          <p:nvPr/>
        </p:nvSpPr>
        <p:spPr>
          <a:xfrm>
            <a:off x="1256923" y="4147540"/>
            <a:ext cx="4584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kern="100" dirty="0">
                <a:effectLst/>
                <a:latin typeface="Times New Roman" panose="02020603050405020304" pitchFamily="18" charset="0"/>
                <a:ea typeface="Droid Sans Fallback"/>
              </a:rPr>
              <a:t>Рисуно</a:t>
            </a:r>
            <a:r>
              <a:rPr lang="ru-RU" sz="1400" b="1" kern="100" dirty="0">
                <a:latin typeface="Times New Roman" panose="02020603050405020304" pitchFamily="18" charset="0"/>
                <a:ea typeface="Droid Sans Fallback"/>
              </a:rPr>
              <a:t>к 7 – </a:t>
            </a:r>
            <a:r>
              <a:rPr lang="ru-RU" sz="1400" b="1" kern="100" dirty="0">
                <a:effectLst/>
                <a:latin typeface="Times New Roman" panose="02020603050405020304" pitchFamily="18" charset="0"/>
                <a:ea typeface="Droid Sans Fallback"/>
              </a:rPr>
              <a:t>Прогнозы 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Droid Sans Fallback"/>
              </a:rPr>
              <a:t>vs </a:t>
            </a:r>
            <a:r>
              <a:rPr lang="ru-RU" sz="1400" b="1" kern="100" dirty="0">
                <a:effectLst/>
                <a:latin typeface="Times New Roman" panose="02020603050405020304" pitchFamily="18" charset="0"/>
                <a:ea typeface="Droid Sans Fallback"/>
              </a:rPr>
              <a:t>Фактические данные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ABB6-31D6-5A70-B004-3B75BF9D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815E4-C096-0859-2779-3CD27EBE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AE4103-B544-5BCA-9E30-6320E6260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(горизонт 2 часа):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0.90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0.91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0.91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0.91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 0.97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288C6E-C0B3-8415-4CD2-3FD84A688D4D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D6FA0-655F-01E8-EB7F-E88AF052DA18}"/>
              </a:ext>
            </a:extLst>
          </p:cNvPr>
          <p:cNvSpPr txBox="1"/>
          <p:nvPr/>
        </p:nvSpPr>
        <p:spPr>
          <a:xfrm>
            <a:off x="11785669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CE5FE9-98D5-7CB9-A9D5-BBEDB4D9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72" y="2623308"/>
            <a:ext cx="5882937" cy="3141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75DF43-7492-C2BD-45F2-F37E9C5DA0E9}"/>
              </a:ext>
            </a:extLst>
          </p:cNvPr>
          <p:cNvSpPr txBox="1"/>
          <p:nvPr/>
        </p:nvSpPr>
        <p:spPr>
          <a:xfrm>
            <a:off x="6133647" y="5953627"/>
            <a:ext cx="2553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9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модели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33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A6B9-E41C-35C0-7FA8-CAA31956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2C146-3B4E-0D93-87A0-83F31E74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F373C6-E410-AE7E-8847-E38D98A5E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(горизонт 4 часа):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0.83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0.84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0.87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0.85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 0.91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98125AF-05ED-9DBC-F62C-E9DBD444E55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6D3E1-1B0D-5948-BD68-633EE81B94D5}"/>
              </a:ext>
            </a:extLst>
          </p:cNvPr>
          <p:cNvSpPr txBox="1"/>
          <p:nvPr/>
        </p:nvSpPr>
        <p:spPr>
          <a:xfrm>
            <a:off x="11785094" y="6488668"/>
            <a:ext cx="4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41B96B-2082-0899-AC4F-E8FA21122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72" y="2623308"/>
            <a:ext cx="5882937" cy="3141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0F5299-2F2D-6457-C44F-70BA552763D9}"/>
              </a:ext>
            </a:extLst>
          </p:cNvPr>
          <p:cNvSpPr txBox="1"/>
          <p:nvPr/>
        </p:nvSpPr>
        <p:spPr>
          <a:xfrm>
            <a:off x="6088764" y="5953627"/>
            <a:ext cx="2643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модели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53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4382-264D-12BE-D8F2-1564DAD0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B10B0-0F12-6D5C-8D3F-F1678179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6886D-0A23-B03F-56EA-30231115F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(горизонт 6 часа):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0.80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0.79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0.85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0.82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 0.87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3E3FB5E-580C-8B60-A1F6-BE6CEC494A84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08A22-0EC4-B4FB-9FF6-82D20C2D077C}"/>
              </a:ext>
            </a:extLst>
          </p:cNvPr>
          <p:cNvSpPr txBox="1"/>
          <p:nvPr/>
        </p:nvSpPr>
        <p:spPr>
          <a:xfrm>
            <a:off x="11776502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8DF16C-F2C1-60B1-3E4F-8472DE2B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72" y="2623308"/>
            <a:ext cx="5882937" cy="3141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6F0C58-38B5-628E-0E63-7FA0CA96B93A}"/>
              </a:ext>
            </a:extLst>
          </p:cNvPr>
          <p:cNvSpPr txBox="1"/>
          <p:nvPr/>
        </p:nvSpPr>
        <p:spPr>
          <a:xfrm>
            <a:off x="6093700" y="5953627"/>
            <a:ext cx="2633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модели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61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A0EA-23EF-AB4D-4927-95C50BA6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70548-5585-D484-0115-02EBC2DE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70955-2435-3379-C421-FFF0DAFB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обработки года данных: ~3 минуты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обучения модели: ~5 минуты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прогнозирования: &lt; 10 секунд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обеспечивает надежное прогнозирование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метрики соответствуют промышленным стандартам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удовлетворяет требованиям реального времени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CCE7BC4-2AEE-9295-BFBE-B79D7ABE5E2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BFDFF-82AD-7D1A-9AC8-8E076D0AF05A}"/>
              </a:ext>
            </a:extLst>
          </p:cNvPr>
          <p:cNvSpPr txBox="1"/>
          <p:nvPr/>
        </p:nvSpPr>
        <p:spPr>
          <a:xfrm>
            <a:off x="11776502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94674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F4412-3B9C-91CA-3572-487140F91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457835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полнофункциональная аналитическая система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модульная архитектура с GUI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Достигнуты высокие метрики качества прогнозирования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качества данных: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данных с локальных метеостанций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Включение спутниковых снимков облачности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ML-моделей: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ансамблирования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моделей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автоматического переобучения на новых данных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интерфейса: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картографической визуализации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системы оповещений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Telegram)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мобильной версии интерфейса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1F7F9-BD35-5FD3-820E-83AF3D141D7C}"/>
              </a:ext>
            </a:extLst>
          </p:cNvPr>
          <p:cNvSpPr txBox="1"/>
          <p:nvPr/>
        </p:nvSpPr>
        <p:spPr>
          <a:xfrm>
            <a:off x="11775689" y="6488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7D880-DDE7-0C14-B6DE-2E4F8B9AF3DA}"/>
              </a:ext>
            </a:extLst>
          </p:cNvPr>
          <p:cNvSpPr txBox="1"/>
          <p:nvPr/>
        </p:nvSpPr>
        <p:spPr>
          <a:xfrm>
            <a:off x="11775689" y="6488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theme/theme1.xml><?xml version="1.0" encoding="utf-8"?>
<a:theme xmlns:a="http://schemas.openxmlformats.org/drawingml/2006/main" name="ПМ_с_Лого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М_с_Лого" id="{F7516732-D8D0-9043-8243-A8BD8BF1D468}" vid="{04A2C018-727A-A440-935C-C8323FA330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ПМ_с_Лого</Template>
  <TotalTime>109</TotalTime>
  <Words>694</Words>
  <Application>Microsoft Office PowerPoint</Application>
  <PresentationFormat>Широкоэкранный</PresentationFormat>
  <Paragraphs>185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Helvetica Light</vt:lpstr>
      <vt:lpstr>Arial</vt:lpstr>
      <vt:lpstr>Calibri</vt:lpstr>
      <vt:lpstr>Calibri Light</vt:lpstr>
      <vt:lpstr>Century Gothic</vt:lpstr>
      <vt:lpstr>Times New Roman</vt:lpstr>
      <vt:lpstr>ПМ_с_Лого</vt:lpstr>
      <vt:lpstr>Презентация PowerPoint</vt:lpstr>
      <vt:lpstr>Характеристика предметной области</vt:lpstr>
      <vt:lpstr>Обзор существующих решений</vt:lpstr>
      <vt:lpstr>Формулировка исследовательской задачи</vt:lpstr>
      <vt:lpstr>Анализ и характеристика входных данных</vt:lpstr>
      <vt:lpstr>Описание этапов</vt:lpstr>
      <vt:lpstr>Обоснование выбора инструментальных средств</vt:lpstr>
      <vt:lpstr>Описание реализации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Заключение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Кирилл Ким</cp:lastModifiedBy>
  <cp:revision>13</cp:revision>
  <dcterms:created xsi:type="dcterms:W3CDTF">2025-04-21T14:08:12Z</dcterms:created>
  <dcterms:modified xsi:type="dcterms:W3CDTF">2025-11-21T06:24:18Z</dcterms:modified>
</cp:coreProperties>
</file>