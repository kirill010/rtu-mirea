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809" r:id="rId1"/>
  </p:sldMasterIdLst>
  <p:notesMasterIdLst>
    <p:notesMasterId r:id="rId10"/>
  </p:notesMasterIdLst>
  <p:sldIdLst>
    <p:sldId id="256" r:id="rId2"/>
    <p:sldId id="257" r:id="rId3"/>
    <p:sldId id="285" r:id="rId4"/>
    <p:sldId id="282" r:id="rId5"/>
    <p:sldId id="279" r:id="rId6"/>
    <p:sldId id="280" r:id="rId7"/>
    <p:sldId id="281" r:id="rId8"/>
    <p:sldId id="27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98" autoAdjust="0"/>
    <p:restoredTop sz="67089" autoAdjust="0"/>
  </p:normalViewPr>
  <p:slideViewPr>
    <p:cSldViewPr snapToGrid="0">
      <p:cViewPr varScale="1">
        <p:scale>
          <a:sx n="78" d="100"/>
          <a:sy n="78" d="100"/>
        </p:scale>
        <p:origin x="447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FEB51-73B9-4D9D-B797-B20DAC7F89E7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00DF3-CE54-4C99-BF79-AD287F8B7D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752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живем в эпоху, где конкурентные преимущества компаний все чаще определяются скоростью и качеством принимаемых решений, основанных на данных.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 огромные массивы информации, накопленные в различных системах, бесполезны без инструментов для их осмысления и визуализации.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Именно здесь ключевую роль играют системы бизнес-аналитики (BI), и бесспорным лидером в этой области является Power BI от Microsoft — мощная и доступная платформа, которая превращает сырые данные в наглядные и действенные инсайты.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800DF3-CE54-4C99-BF79-AD287F8B7D5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599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 BI — это единая облачная платформа для самообслуживания в области бизнес-аналитики. 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Она представляет собой не один продукт, а целую экосистему сервисов и приложений, предназначенных для совместной работы с данными. 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 BI позволяет организациям подключаться к сотням различных источников данных, начиная от простых Excel-файлов и заканчивая базами данных, облачными хранилищами и веб-сервисами, преобразовывать эти данные, строить сложные аналитические модели и создавать интерактивные отчеты и дашборды профессионального уровня.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Основными компонентами этой экосистемы являются: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 BI Desktop — бесплатное настольное приложение, основной инструмент для разработчиков отчетов.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 BI Service — онлайн-сервис (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SaaS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для публикации, совместного использования отчетов и построения дашбордов.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 BI Mobile — мобильные приложения для просмотра отчетов на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Windows.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 BI Report Server — корпоративное решение для размещения отчетов в собственной инфраструктуре компании.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800DF3-CE54-4C99-BF79-AD287F8B7D5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015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Технологической основой Power BI являются несколько ключевых движков, которые делают его таким мощным.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это инструмент для извлечения, преобразования и загрузки (ETL) данных. Он предоставляет интуитивно понятный интерфейс для подключения к данным, их фильтрации, очистки, объединения и приведения к нужному виду без написания кода.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 данных: после загрузки данные формируют реляционную модель внутри отчета. На этом этапе создаются связи между таблицами, аналогично тому, как это делается в базах данных. От качества построения модели напрямую зависит производительность и гибкость будущего отчета.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DAX (Data Analysis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Expressions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это специализированный язык формул, используемый для создания расчетных столбцов, мер и таблиц. DAX, внешне похожий на формулы Excel, обладает гораздо большей мощью и позволяет реализовывать сложнейшую бизнес-логику, агрегацию и анализ во времени.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Визуализации: Библиотека визуальных элементов — это то, что видит конечный пользователь. Power BI предлагает огромный набор встроенных графиков, диаграмм, карт и инструментов для форматирования, а также поддерживает множество пользовательских визуализаций из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AppSource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800DF3-CE54-4C99-BF79-AD287F8B7D5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70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 с Power BI представляет собой итеративный процесс: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Подключение к данным: Аналитик использует Power BI Desktop для подключения к необходимым источникам (например, базам данных SQL, облачным хранилищам Azure или Google Analytics).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Преобразование данных: с помощью редактора Power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данные очищаются от дубликатов и ошибок, меняются типы данных, объединяются таблицы.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Моделирование: строится звездообразная или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снежинковая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схема данных, определяются отношения между таблицами. На языке DAX пишутся ключевые метрики (меры), такие как «Продажи накопленным итогом», «Отклонение от плана» и т.д.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Визуализация: на холсте отчета размещаются визуальные элементы (графики, таблицы, карты), которые привязываются к данным из модели.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Публикация и распространение: Готовый отчет публикуется в Power BI Service. Здесь создаются единые дашборды, настраиваются права доступа для коллег и планируется автоматическое обновление данных. Пользователи просматривают отчеты через браузер или мобильное приложение.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800DF3-CE54-4C99-BF79-AD287F8B7D5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549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Преимущества: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Скорость и интерактивность: Отчеты Power BI обрабатывают миллионы строк данных за секунды и предоставляют богатые возможности для «глубокого» анализа (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drill-down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cross-filtering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Простота использования: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Low-code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no-code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подход позволяет бизнес-пользователям с минимальной технической подготовкой самостоятельно создавать простые отчеты.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Глубокая интеграция с экосистемой Microsoft: Power BI идеально работает с Excel, SharePoint,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Azure Data Services и другими продуктами Microsoft, что делает его стандартом для компаний, использующих этот стек технологий.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Мощное сообщество и рынок дополнений: Огромное сообщество пользователей, обширная база знаний и рынок кастомных визуализаций ускоряют решение практически любой задачи.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Недостатки: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Стоимость корпоративного внедрения: хотя Power BI Desktop бесплатен, для полноценной командной работы и распространения отчетов требуются платные лицензии Pro или Premium, что может быть затратно для крупных организаций.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Сложность освоения DAX: для реализации нетривиальной бизнес-логики требуется глубокое знание языка DAX, который имеет свою сложность и специфику.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Ограничения производительности: при работе с экстремально большими объемами данных (миллиарды строк) могут возникать задержки, требующие перехода на более дорогие тарифы Premium или оптимизации модели данных.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800DF3-CE54-4C99-BF79-AD287F8B7D5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468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Рассмотрим пример использования Power BI в финансовом секторе. Крупный банк внедрил Power BI для отдела управления рисками.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Ежедневно система загружает данные о транзакциях, кредитных историях клиентов, рыночных индексах и новостных лентах. С помощью Power BI строится единый дашборд «Мониторинг финансовых рисков», который включает: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Карту мошеннических операций в реальном времени с привязкой к геолокации.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Динамику изменения кредитного портфеля с детализацией по типам заемщиков.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Автоматически рассчитываемые индикаторы риска (на основе алгоритмов ML, интегрированных через Azure).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результате аналитики банка получили возможность не вручную собирать отчеты из десятков Excel-файлов, а в режиме реального времени видеть полную картину. Это позволило сократить время на обнаружение аномальных операций с нескольких часов до минут и проактивно управлять кредитными рисками.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800DF3-CE54-4C99-BF79-AD287F8B7D5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607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 BI стал не просто инструментом, а краеугольным камнем современной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data-driven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культуры.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 способность объединять мощь профессиональной аналитики с доступностью для бизнес-пользователей делает его незаменимым в арсенале любой компании, стремящейся к принятию обоснованных решений.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Внедрение Power BI — это не просто автоматизация отчетности, это стратегический шаг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towards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построения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agile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-организации, где данные являются универсальным языком коммуникации и основой для инноваций.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800DF3-CE54-4C99-BF79-AD287F8B7D5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9631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00DF3-CE54-4C99-BF79-AD287F8B7D5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96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800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8892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886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865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635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8493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1101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468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53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791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0229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167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066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087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7970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6974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133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C34DF8A-5AA9-4333-B4F9-4B9AEA2D4451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34ECF-2EAE-4311-BEF7-7F814FCE8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4889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07BE776-EBEB-4392-AC4B-0D55FBF946F6}"/>
              </a:ext>
            </a:extLst>
          </p:cNvPr>
          <p:cNvSpPr/>
          <p:nvPr/>
        </p:nvSpPr>
        <p:spPr>
          <a:xfrm>
            <a:off x="4424525" y="1556421"/>
            <a:ext cx="3153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03200"/>
            <a:r>
              <a:rPr lang="en-US" dirty="0">
                <a:latin typeface="Times New Roman" panose="02020603050405020304" charset="0"/>
              </a:rPr>
              <a:t>МИНОБРНАУКИ РОССИИ</a:t>
            </a:r>
            <a:endParaRPr lang="ru-RU" altLang="en-US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0DB19E3-8940-4ABF-9626-380E406FC0DE}"/>
              </a:ext>
            </a:extLst>
          </p:cNvPr>
          <p:cNvSpPr/>
          <p:nvPr/>
        </p:nvSpPr>
        <p:spPr>
          <a:xfrm>
            <a:off x="915186" y="1916685"/>
            <a:ext cx="101719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03200" algn="ctr"/>
            <a:r>
              <a:rPr lang="en-US" dirty="0">
                <a:latin typeface="Times New Roman" panose="02020603050405020304" charset="0"/>
              </a:rPr>
              <a:t>Федеральное государственное бюджетное образовательное учреждение</a:t>
            </a:r>
          </a:p>
          <a:p>
            <a:pPr indent="203200" algn="ctr"/>
            <a:r>
              <a:rPr lang="en-US" dirty="0">
                <a:latin typeface="Times New Roman" panose="02020603050405020304" charset="0"/>
              </a:rPr>
              <a:t>высшего образования</a:t>
            </a:r>
            <a:endParaRPr lang="en-US" b="1" dirty="0">
              <a:latin typeface="Times New Roman" panose="02020603050405020304" charset="0"/>
            </a:endParaRPr>
          </a:p>
          <a:p>
            <a:pPr indent="203200" algn="ctr"/>
            <a:r>
              <a:rPr lang="en-US" b="1" dirty="0">
                <a:latin typeface="Times New Roman" panose="02020603050405020304" charset="0"/>
              </a:rPr>
              <a:t>«МИРЭА – Российский технологический университет»</a:t>
            </a:r>
          </a:p>
          <a:p>
            <a:pPr indent="203200" algn="ctr"/>
            <a:r>
              <a:rPr lang="en-US" b="1" dirty="0">
                <a:latin typeface="Times New Roman" panose="02020603050405020304" charset="0"/>
              </a:rPr>
              <a:t>РТУ МИРЭА</a:t>
            </a:r>
            <a:endParaRPr lang="ru-RU" altLang="en-US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CD7B446-B74B-4359-9E6B-BCD9BFC7A268}"/>
              </a:ext>
            </a:extLst>
          </p:cNvPr>
          <p:cNvSpPr/>
          <p:nvPr/>
        </p:nvSpPr>
        <p:spPr>
          <a:xfrm>
            <a:off x="1177219" y="3431680"/>
            <a:ext cx="990988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03200" algn="ctr"/>
            <a:r>
              <a:rPr lang="ru-RU" b="1" dirty="0">
                <a:latin typeface="Times New Roman" panose="02020603050405020304" charset="0"/>
              </a:rPr>
              <a:t>Доклад</a:t>
            </a:r>
            <a:endParaRPr lang="en-US" dirty="0">
              <a:latin typeface="Times New Roman" panose="02020603050405020304" charset="0"/>
            </a:endParaRPr>
          </a:p>
          <a:p>
            <a:pPr indent="203200" algn="ctr"/>
            <a:r>
              <a:rPr lang="ru-RU" dirty="0">
                <a:latin typeface="Times New Roman" panose="02020603050405020304" charset="0"/>
              </a:rPr>
              <a:t>по дисциплине </a:t>
            </a:r>
          </a:p>
          <a:p>
            <a:pPr indent="203200"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 и инструментарий анализа больших данных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03200" algn="ctr"/>
            <a:endParaRPr lang="ru-RU" b="1" dirty="0">
              <a:latin typeface="Times New Roman" panose="02020603050405020304" charset="0"/>
            </a:endParaRPr>
          </a:p>
          <a:p>
            <a:pPr indent="203200" algn="ctr"/>
            <a:r>
              <a:rPr lang="en-US" b="1" dirty="0">
                <a:latin typeface="Times New Roman" panose="02020603050405020304" charset="0"/>
              </a:rPr>
              <a:t>Тема </a:t>
            </a:r>
            <a:r>
              <a:rPr lang="ru-RU" b="1" dirty="0">
                <a:latin typeface="Times New Roman" panose="02020603050405020304" charset="0"/>
              </a:rPr>
              <a:t>доклада</a:t>
            </a:r>
            <a:r>
              <a:rPr lang="en-US" b="1" dirty="0">
                <a:latin typeface="Times New Roman" panose="02020603050405020304" charset="0"/>
              </a:rPr>
              <a:t>:</a:t>
            </a:r>
          </a:p>
          <a:p>
            <a:pPr indent="203200"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endParaRPr lang="ru-RU" dirty="0"/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A229DD95-ADBA-4C04-B1A7-8CEE6DAF0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249552"/>
              </p:ext>
            </p:extLst>
          </p:nvPr>
        </p:nvGraphicFramePr>
        <p:xfrm>
          <a:off x="1302355" y="5615200"/>
          <a:ext cx="9784744" cy="78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2372">
                  <a:extLst>
                    <a:ext uri="{9D8B030D-6E8A-4147-A177-3AD203B41FA5}">
                      <a16:colId xmlns:a16="http://schemas.microsoft.com/office/drawing/2014/main" val="706671325"/>
                    </a:ext>
                  </a:extLst>
                </a:gridCol>
                <a:gridCol w="4892372">
                  <a:extLst>
                    <a:ext uri="{9D8B030D-6E8A-4147-A177-3AD203B41FA5}">
                      <a16:colId xmlns:a16="http://schemas.microsoft.com/office/drawing/2014/main" val="4188003253"/>
                    </a:ext>
                  </a:extLst>
                </a:gridCol>
              </a:tblGrid>
              <a:tr h="7856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ru-RU" alt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Выполнил с</a:t>
                      </a:r>
                      <a:r>
                        <a:rPr lang="en-US" sz="1800" b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тудент</a:t>
                      </a:r>
                      <a:r>
                        <a:rPr 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800" b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группы</a:t>
                      </a:r>
                      <a:r>
                        <a:rPr 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И</a:t>
                      </a:r>
                      <a:r>
                        <a:rPr lang="ru-RU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М</a:t>
                      </a:r>
                      <a:r>
                        <a:rPr 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БО-0</a:t>
                      </a:r>
                      <a:r>
                        <a:rPr lang="ru-RU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</a:t>
                      </a:r>
                      <a:r>
                        <a:rPr lang="ru-RU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22</a:t>
                      </a:r>
                      <a:endParaRPr lang="en-US" altLang="en-US" sz="1800" b="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altLang="en-US" sz="1800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Ким К.С.</a:t>
                      </a:r>
                      <a:endParaRPr lang="en-US" altLang="en-US" sz="1800" b="0" dirty="0">
                        <a:latin typeface="Times New Roman" panose="02020603050405020304" pitchFamily="18" charset="0"/>
                        <a:ea typeface="Times New Roman" panose="020206030504050203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760458"/>
                  </a:ext>
                </a:extLst>
              </a:tr>
            </a:tbl>
          </a:graphicData>
        </a:graphic>
      </p:graphicFrame>
      <p:pic>
        <p:nvPicPr>
          <p:cNvPr id="17" name="Рисунок 3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45F4366C-CE8E-41C2-859E-CC97F7A16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41458" y="395739"/>
            <a:ext cx="919369" cy="1039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9" name="Полотно 36"/>
          <p:cNvGrpSpPr>
            <a:grpSpLocks/>
          </p:cNvGrpSpPr>
          <p:nvPr/>
        </p:nvGrpSpPr>
        <p:grpSpPr bwMode="auto">
          <a:xfrm>
            <a:off x="0" y="0"/>
            <a:ext cx="5829300" cy="342900"/>
            <a:chOff x="0" y="0"/>
            <a:chExt cx="58293" cy="3429"/>
          </a:xfrm>
        </p:grpSpPr>
      </p:grpSp>
      <p:grpSp>
        <p:nvGrpSpPr>
          <p:cNvPr id="2053" name="Group 5"/>
          <p:cNvGrpSpPr>
            <a:grpSpLocks/>
          </p:cNvGrpSpPr>
          <p:nvPr/>
        </p:nvGrpSpPr>
        <p:grpSpPr bwMode="auto">
          <a:xfrm>
            <a:off x="0" y="0"/>
            <a:ext cx="5829300" cy="342900"/>
            <a:chOff x="0" y="0"/>
            <a:chExt cx="58293" cy="3429"/>
          </a:xfrm>
        </p:grpSpPr>
      </p:grpSp>
      <p:grpSp>
        <p:nvGrpSpPr>
          <p:cNvPr id="2057" name="Group 9"/>
          <p:cNvGrpSpPr>
            <a:grpSpLocks/>
          </p:cNvGrpSpPr>
          <p:nvPr/>
        </p:nvGrpSpPr>
        <p:grpSpPr bwMode="auto">
          <a:xfrm>
            <a:off x="0" y="0"/>
            <a:ext cx="5829300" cy="342900"/>
            <a:chOff x="0" y="0"/>
            <a:chExt cx="58293" cy="3429"/>
          </a:xfrm>
        </p:grpSpPr>
      </p:grpSp>
    </p:spTree>
    <p:extLst>
      <p:ext uri="{BB962C8B-B14F-4D97-AF65-F5344CB8AC3E}">
        <p14:creationId xmlns:p14="http://schemas.microsoft.com/office/powerpoint/2010/main" val="2690326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B677C257-F01A-3BB2-9E1A-0BE11056F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105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931142" y="394977"/>
            <a:ext cx="10390675" cy="1450757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компоненты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Picture background">
            <a:extLst>
              <a:ext uri="{FF2B5EF4-FFF2-40B4-BE49-F238E27FC236}">
                <a16:creationId xmlns:a16="http://schemas.microsoft.com/office/drawing/2014/main" id="{C370735E-3CE7-5A0C-ED36-0FB061F0F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9217"/>
            <a:ext cx="4886632" cy="4278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F39FB738-60D2-E6C7-5909-54B09E20C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8815" y="1344915"/>
            <a:ext cx="5693185" cy="2485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A9B51F06-37AC-8C21-354D-FA76D8303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412" y="3830672"/>
            <a:ext cx="5383930" cy="302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917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B2BAA9-0BB4-4425-A7F7-324B75F1E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7" y="371538"/>
            <a:ext cx="9404723" cy="884469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работает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34AA87A-7A36-88B8-222B-D5AAF1B87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256DB805-76E0-8EC4-8286-8CA6CB7C5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87" y="1570857"/>
            <a:ext cx="7972425" cy="458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215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1393638" y="324899"/>
            <a:ext cx="9404723" cy="963127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недостатки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2C1E48B5-760C-388A-3406-647F98A64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542" y="1592826"/>
            <a:ext cx="6862916" cy="386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643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B2BAA9-0BB4-4425-A7F7-324B75F1E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520" y="286603"/>
            <a:ext cx="10299950" cy="1450757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использования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274BF39C-EE55-03C9-958D-754BFBEB2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520" y="1085886"/>
            <a:ext cx="9988756" cy="5570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8636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B2BAA9-0BB4-4425-A7F7-324B75F1EAE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02112" y="3060700"/>
            <a:ext cx="3787775" cy="736600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445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0340" y="3013501"/>
            <a:ext cx="63374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416468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Ион</Template>
  <TotalTime>4477</TotalTime>
  <Words>1024</Words>
  <Application>Microsoft Office PowerPoint</Application>
  <PresentationFormat>Широкоэкранный</PresentationFormat>
  <Paragraphs>69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Century Gothic</vt:lpstr>
      <vt:lpstr>Times New Roman</vt:lpstr>
      <vt:lpstr>Wingdings 3</vt:lpstr>
      <vt:lpstr>Ион</vt:lpstr>
      <vt:lpstr>Презентация PowerPoint</vt:lpstr>
      <vt:lpstr>Презентация PowerPoint</vt:lpstr>
      <vt:lpstr>Основные компоненты Power BI</vt:lpstr>
      <vt:lpstr>Как работает Power BI</vt:lpstr>
      <vt:lpstr>Преимущества и недостатки</vt:lpstr>
      <vt:lpstr>Пример использования Power BI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Wacky</dc:creator>
  <cp:lastModifiedBy>Кирилл Ким</cp:lastModifiedBy>
  <cp:revision>110</cp:revision>
  <dcterms:created xsi:type="dcterms:W3CDTF">2021-11-10T10:02:36Z</dcterms:created>
  <dcterms:modified xsi:type="dcterms:W3CDTF">2025-12-01T19:10:18Z</dcterms:modified>
</cp:coreProperties>
</file>